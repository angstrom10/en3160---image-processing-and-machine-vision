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06"/>
  </p:notesMasterIdLst>
  <p:handoutMasterIdLst>
    <p:handoutMasterId r:id="rId107"/>
  </p:handoutMasterIdLst>
  <p:sldIdLst>
    <p:sldId id="858" r:id="rId2"/>
    <p:sldId id="785" r:id="rId3"/>
    <p:sldId id="778" r:id="rId4"/>
    <p:sldId id="749" r:id="rId5"/>
    <p:sldId id="680" r:id="rId6"/>
    <p:sldId id="756" r:id="rId7"/>
    <p:sldId id="760" r:id="rId8"/>
    <p:sldId id="761" r:id="rId9"/>
    <p:sldId id="786" r:id="rId10"/>
    <p:sldId id="682" r:id="rId11"/>
    <p:sldId id="783" r:id="rId12"/>
    <p:sldId id="686" r:id="rId13"/>
    <p:sldId id="687" r:id="rId14"/>
    <p:sldId id="730" r:id="rId15"/>
    <p:sldId id="773" r:id="rId16"/>
    <p:sldId id="782" r:id="rId17"/>
    <p:sldId id="781" r:id="rId18"/>
    <p:sldId id="690" r:id="rId19"/>
    <p:sldId id="777" r:id="rId20"/>
    <p:sldId id="771" r:id="rId21"/>
    <p:sldId id="762" r:id="rId22"/>
    <p:sldId id="763" r:id="rId23"/>
    <p:sldId id="764" r:id="rId24"/>
    <p:sldId id="765" r:id="rId25"/>
    <p:sldId id="766" r:id="rId26"/>
    <p:sldId id="767" r:id="rId27"/>
    <p:sldId id="768" r:id="rId28"/>
    <p:sldId id="769" r:id="rId29"/>
    <p:sldId id="780" r:id="rId30"/>
    <p:sldId id="748" r:id="rId31"/>
    <p:sldId id="784" r:id="rId32"/>
    <p:sldId id="787" r:id="rId33"/>
    <p:sldId id="788" r:id="rId34"/>
    <p:sldId id="789" r:id="rId35"/>
    <p:sldId id="790" r:id="rId36"/>
    <p:sldId id="791" r:id="rId37"/>
    <p:sldId id="792" r:id="rId38"/>
    <p:sldId id="793" r:id="rId39"/>
    <p:sldId id="794" r:id="rId40"/>
    <p:sldId id="795" r:id="rId41"/>
    <p:sldId id="796" r:id="rId42"/>
    <p:sldId id="797" r:id="rId43"/>
    <p:sldId id="798" r:id="rId44"/>
    <p:sldId id="799" r:id="rId45"/>
    <p:sldId id="800" r:id="rId46"/>
    <p:sldId id="801" r:id="rId47"/>
    <p:sldId id="802" r:id="rId48"/>
    <p:sldId id="803" r:id="rId49"/>
    <p:sldId id="804" r:id="rId50"/>
    <p:sldId id="805" r:id="rId51"/>
    <p:sldId id="806" r:id="rId52"/>
    <p:sldId id="807" r:id="rId53"/>
    <p:sldId id="808" r:id="rId54"/>
    <p:sldId id="809" r:id="rId55"/>
    <p:sldId id="810" r:id="rId56"/>
    <p:sldId id="811" r:id="rId57"/>
    <p:sldId id="812" r:id="rId58"/>
    <p:sldId id="813" r:id="rId59"/>
    <p:sldId id="814" r:id="rId60"/>
    <p:sldId id="815" r:id="rId61"/>
    <p:sldId id="816" r:id="rId62"/>
    <p:sldId id="817" r:id="rId63"/>
    <p:sldId id="818" r:id="rId64"/>
    <p:sldId id="819" r:id="rId65"/>
    <p:sldId id="820" r:id="rId66"/>
    <p:sldId id="821" r:id="rId67"/>
    <p:sldId id="822" r:id="rId68"/>
    <p:sldId id="823" r:id="rId69"/>
    <p:sldId id="824" r:id="rId70"/>
    <p:sldId id="825" r:id="rId71"/>
    <p:sldId id="826" r:id="rId72"/>
    <p:sldId id="827" r:id="rId73"/>
    <p:sldId id="828" r:id="rId74"/>
    <p:sldId id="829" r:id="rId75"/>
    <p:sldId id="830" r:id="rId76"/>
    <p:sldId id="831" r:id="rId77"/>
    <p:sldId id="832" r:id="rId78"/>
    <p:sldId id="833" r:id="rId79"/>
    <p:sldId id="834" r:id="rId80"/>
    <p:sldId id="835" r:id="rId81"/>
    <p:sldId id="836" r:id="rId82"/>
    <p:sldId id="837" r:id="rId83"/>
    <p:sldId id="838" r:id="rId84"/>
    <p:sldId id="839" r:id="rId85"/>
    <p:sldId id="860" r:id="rId86"/>
    <p:sldId id="840" r:id="rId87"/>
    <p:sldId id="841" r:id="rId88"/>
    <p:sldId id="842" r:id="rId89"/>
    <p:sldId id="843" r:id="rId90"/>
    <p:sldId id="844" r:id="rId91"/>
    <p:sldId id="845" r:id="rId92"/>
    <p:sldId id="859" r:id="rId93"/>
    <p:sldId id="846" r:id="rId94"/>
    <p:sldId id="847" r:id="rId95"/>
    <p:sldId id="848" r:id="rId96"/>
    <p:sldId id="849" r:id="rId97"/>
    <p:sldId id="850" r:id="rId98"/>
    <p:sldId id="851" r:id="rId99"/>
    <p:sldId id="852" r:id="rId100"/>
    <p:sldId id="853" r:id="rId101"/>
    <p:sldId id="854" r:id="rId102"/>
    <p:sldId id="855" r:id="rId103"/>
    <p:sldId id="856" r:id="rId104"/>
    <p:sldId id="857" r:id="rId105"/>
  </p:sldIdLst>
  <p:sldSz cx="12192000" cy="6858000"/>
  <p:notesSz cx="9866313" cy="673576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969696"/>
    <a:srgbClr val="4D4D4D"/>
    <a:srgbClr val="B2B2B2"/>
    <a:srgbClr val="808080"/>
    <a:srgbClr val="C0C0C0"/>
    <a:srgbClr val="777777"/>
    <a:srgbClr val="EAEAEA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CEF75F-9D03-4F9E-B314-FEED5C141397}" v="33" dt="2025-08-02T04:22:39.3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377" autoAdjust="0"/>
    <p:restoredTop sz="90850" autoAdjust="0"/>
  </p:normalViewPr>
  <p:slideViewPr>
    <p:cSldViewPr>
      <p:cViewPr varScale="1">
        <p:scale>
          <a:sx n="84" d="100"/>
          <a:sy n="84" d="100"/>
        </p:scale>
        <p:origin x="86" y="13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microsoft.com/office/2015/10/relationships/revisionInfo" Target="revisionInfo.xml"/><Relationship Id="rId16" Type="http://schemas.openxmlformats.org/officeDocument/2006/relationships/slide" Target="slides/slide15.xml"/><Relationship Id="rId107" Type="http://schemas.openxmlformats.org/officeDocument/2006/relationships/handoutMaster" Target="handoutMasters/handoutMaster1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presProps" Target="pres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viewProps" Target="viewProp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4275830" cy="3363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80" tIns="46240" rIns="92480" bIns="46240" numCol="1" anchor="t" anchorCtr="0" compatLnSpc="1">
            <a:prstTxWarp prst="textNoShape">
              <a:avLst/>
            </a:prstTxWarp>
          </a:bodyPr>
          <a:lstStyle>
            <a:lvl1pPr defTabSz="925023" eaLnBrk="1" hangingPunct="1">
              <a:defRPr sz="11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88343" y="0"/>
            <a:ext cx="4275830" cy="3363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80" tIns="46240" rIns="92480" bIns="46240" numCol="1" anchor="t" anchorCtr="0" compatLnSpc="1">
            <a:prstTxWarp prst="textNoShape">
              <a:avLst/>
            </a:prstTxWarp>
          </a:bodyPr>
          <a:lstStyle>
            <a:lvl1pPr algn="r" defTabSz="925023" eaLnBrk="1" hangingPunct="1">
              <a:defRPr sz="11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70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6398307"/>
            <a:ext cx="4275830" cy="3363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80" tIns="46240" rIns="92480" bIns="46240" numCol="1" anchor="b" anchorCtr="0" compatLnSpc="1">
            <a:prstTxWarp prst="textNoShape">
              <a:avLst/>
            </a:prstTxWarp>
          </a:bodyPr>
          <a:lstStyle>
            <a:lvl1pPr defTabSz="925023" eaLnBrk="1" hangingPunct="1">
              <a:defRPr sz="11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70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88343" y="6398307"/>
            <a:ext cx="4275830" cy="3363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80" tIns="46240" rIns="92480" bIns="46240" numCol="1" anchor="b" anchorCtr="0" compatLnSpc="1">
            <a:prstTxWarp prst="textNoShape">
              <a:avLst/>
            </a:prstTxWarp>
          </a:bodyPr>
          <a:lstStyle>
            <a:lvl1pPr algn="r" defTabSz="925023" eaLnBrk="1" hangingPunct="1">
              <a:defRPr sz="1100"/>
            </a:lvl1pPr>
          </a:lstStyle>
          <a:p>
            <a:pPr>
              <a:defRPr/>
            </a:pPr>
            <a:fld id="{E3BA852F-F7CF-461F-ADF4-AD268D85EA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2062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4275830" cy="3363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80" tIns="46240" rIns="92480" bIns="46240" numCol="1" anchor="t" anchorCtr="0" compatLnSpc="1">
            <a:prstTxWarp prst="textNoShape">
              <a:avLst/>
            </a:prstTxWarp>
          </a:bodyPr>
          <a:lstStyle>
            <a:lvl1pPr defTabSz="925023" eaLnBrk="1" hangingPunct="1">
              <a:defRPr sz="11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588343" y="0"/>
            <a:ext cx="4275830" cy="3363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80" tIns="46240" rIns="92480" bIns="46240" numCol="1" anchor="t" anchorCtr="0" compatLnSpc="1">
            <a:prstTxWarp prst="textNoShape">
              <a:avLst/>
            </a:prstTxWarp>
          </a:bodyPr>
          <a:lstStyle>
            <a:lvl1pPr algn="r" defTabSz="925023" eaLnBrk="1" hangingPunct="1">
              <a:defRPr sz="11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7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689225" y="506413"/>
            <a:ext cx="4487863" cy="25241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87062" y="3199711"/>
            <a:ext cx="7892195" cy="3030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80" tIns="46240" rIns="92480" bIns="4624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6398307"/>
            <a:ext cx="4275830" cy="3363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80" tIns="46240" rIns="92480" bIns="46240" numCol="1" anchor="b" anchorCtr="0" compatLnSpc="1">
            <a:prstTxWarp prst="textNoShape">
              <a:avLst/>
            </a:prstTxWarp>
          </a:bodyPr>
          <a:lstStyle>
            <a:lvl1pPr defTabSz="925023" eaLnBrk="1" hangingPunct="1">
              <a:defRPr sz="11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588343" y="6398307"/>
            <a:ext cx="4275830" cy="3363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80" tIns="46240" rIns="92480" bIns="46240" numCol="1" anchor="b" anchorCtr="0" compatLnSpc="1">
            <a:prstTxWarp prst="textNoShape">
              <a:avLst/>
            </a:prstTxWarp>
          </a:bodyPr>
          <a:lstStyle>
            <a:lvl1pPr algn="r" defTabSz="925023" eaLnBrk="1" hangingPunct="1">
              <a:defRPr sz="1100"/>
            </a:lvl1pPr>
          </a:lstStyle>
          <a:p>
            <a:pPr>
              <a:defRPr/>
            </a:pPr>
            <a:fld id="{C088CC75-E96A-4038-84CC-E95DF30784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36762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D6E30D1-DE0E-4B96-BE8A-0A6751CFC75F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89225" y="506413"/>
            <a:ext cx="4487863" cy="2524125"/>
          </a:xfrm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1963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D57B0D4-FEFF-43FD-B28C-BB709077ADA2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78113" y="503238"/>
            <a:ext cx="4471987" cy="2514600"/>
          </a:xfrm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80394" y="3185233"/>
            <a:ext cx="7262702" cy="3072747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3460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0083167-4383-4310-BF5B-2CD12449002A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89225" y="506413"/>
            <a:ext cx="4487863" cy="2524125"/>
          </a:xfrm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935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0813" y="506413"/>
            <a:ext cx="4487862" cy="2524125"/>
          </a:xfrm>
          <a:ln/>
        </p:spPr>
      </p:sp>
      <p:sp>
        <p:nvSpPr>
          <p:cNvPr id="250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15509" y="3199488"/>
            <a:ext cx="7235297" cy="3031094"/>
          </a:xfrm>
          <a:noFill/>
          <a:ln/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0748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689225" y="506413"/>
            <a:ext cx="4487863" cy="2524125"/>
          </a:xfrm>
          <a:ln/>
        </p:spPr>
      </p:sp>
      <p:sp>
        <p:nvSpPr>
          <p:cNvPr id="25190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>
              <a:latin typeface="Arial" pitchFamily="34" charset="0"/>
            </a:endParaRPr>
          </a:p>
        </p:txBody>
      </p:sp>
      <p:sp>
        <p:nvSpPr>
          <p:cNvPr id="2519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2902D948-6617-4183-A553-B871B9C49FBD}" type="slidenum">
              <a:rPr lang="en-US" b="1">
                <a:solidFill>
                  <a:srgbClr val="000000"/>
                </a:solidFill>
                <a:latin typeface="Arial" pitchFamily="34" charset="0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b="1" dirty="0">
              <a:solidFill>
                <a:srgbClr val="000000"/>
              </a:solidFill>
              <a:latin typeface="Arial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47728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EDB6B19-4D4F-4E17-93AB-B29761E57953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78113" y="503238"/>
            <a:ext cx="4471987" cy="2514600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80394" y="3185233"/>
            <a:ext cx="7262702" cy="3072747"/>
          </a:xfrm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52265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E10FE9A-465F-4FD5-BC83-EC94320180D3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78113" y="503238"/>
            <a:ext cx="4471987" cy="2514600"/>
          </a:xfrm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80394" y="3185233"/>
            <a:ext cx="7262702" cy="3072747"/>
          </a:xfrm>
          <a:noFill/>
          <a:ln/>
        </p:spPr>
        <p:txBody>
          <a:bodyPr/>
          <a:lstStyle/>
          <a:p>
            <a:pPr eaLnBrk="1" hangingPunct="1"/>
            <a:r>
              <a:rPr lang="en-US"/>
              <a:t>How to fix?</a:t>
            </a:r>
          </a:p>
        </p:txBody>
      </p:sp>
    </p:spTree>
    <p:extLst>
      <p:ext uri="{BB962C8B-B14F-4D97-AF65-F5344CB8AC3E}">
        <p14:creationId xmlns:p14="http://schemas.microsoft.com/office/powerpoint/2010/main" val="3473495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D31D75F-0E3E-4E5E-8582-32BD10D2596D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78113" y="503238"/>
            <a:ext cx="4471987" cy="2514600"/>
          </a:xfrm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80394" y="3185233"/>
            <a:ext cx="7262702" cy="3072747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988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D1FCB27-56C4-4ABB-B164-5BD5120C853C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78113" y="503238"/>
            <a:ext cx="4471987" cy="2514600"/>
          </a:xfrm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80394" y="3185233"/>
            <a:ext cx="7262702" cy="3072747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9119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4403AC2-54A7-4814-9CE1-C18EF9909305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89225" y="506413"/>
            <a:ext cx="4487863" cy="2524125"/>
          </a:xfrm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0993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4403AC2-54A7-4814-9CE1-C18EF9909305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89225" y="506413"/>
            <a:ext cx="4487863" cy="2524125"/>
          </a:xfrm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9667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E4682C4-6844-4262-9115-EB8A78CAC821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89225" y="506413"/>
            <a:ext cx="4487863" cy="2524125"/>
          </a:xfrm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14654" y="3199711"/>
            <a:ext cx="7237009" cy="3030425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5327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5F85441-32F0-4118-AF2D-BB6775E55C91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89225" y="506413"/>
            <a:ext cx="4487863" cy="2524125"/>
          </a:xfrm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14654" y="3199711"/>
            <a:ext cx="7237009" cy="3030425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4955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89225" y="506413"/>
            <a:ext cx="4487863" cy="2524125"/>
          </a:xfrm>
          <a:ln/>
        </p:spPr>
      </p:sp>
      <p:sp>
        <p:nvSpPr>
          <p:cNvPr id="262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6880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0813" y="506413"/>
            <a:ext cx="4487862" cy="2524125"/>
          </a:xfrm>
          <a:ln/>
        </p:spPr>
      </p:sp>
      <p:sp>
        <p:nvSpPr>
          <p:cNvPr id="272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73310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0813" y="506413"/>
            <a:ext cx="4487862" cy="2524125"/>
          </a:xfrm>
          <a:ln/>
        </p:spPr>
      </p:sp>
      <p:sp>
        <p:nvSpPr>
          <p:cNvPr id="2734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30320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0813" y="506413"/>
            <a:ext cx="4487862" cy="2524125"/>
          </a:xfrm>
          <a:ln/>
        </p:spPr>
      </p:sp>
      <p:sp>
        <p:nvSpPr>
          <p:cNvPr id="274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08308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0813" y="506413"/>
            <a:ext cx="4487862" cy="2524125"/>
          </a:xfrm>
          <a:ln/>
        </p:spPr>
      </p:sp>
      <p:sp>
        <p:nvSpPr>
          <p:cNvPr id="2754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18886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0813" y="506413"/>
            <a:ext cx="4487862" cy="2524125"/>
          </a:xfrm>
          <a:ln/>
        </p:spPr>
      </p:sp>
      <p:sp>
        <p:nvSpPr>
          <p:cNvPr id="276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3742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0813" y="506413"/>
            <a:ext cx="4487862" cy="2524125"/>
          </a:xfrm>
          <a:ln/>
        </p:spPr>
      </p:sp>
      <p:sp>
        <p:nvSpPr>
          <p:cNvPr id="2775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91274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0813" y="506413"/>
            <a:ext cx="4487862" cy="2524125"/>
          </a:xfrm>
          <a:ln/>
        </p:spPr>
      </p:sp>
      <p:sp>
        <p:nvSpPr>
          <p:cNvPr id="278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92399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79700" y="503238"/>
            <a:ext cx="4470400" cy="2514600"/>
          </a:xfrm>
          <a:ln/>
        </p:spPr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81253" y="3185456"/>
            <a:ext cx="7262702" cy="3072022"/>
          </a:xfrm>
          <a:noFill/>
          <a:ln/>
        </p:spPr>
        <p:txBody>
          <a:bodyPr/>
          <a:lstStyle/>
          <a:p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22316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689225" y="506413"/>
            <a:ext cx="4487863" cy="2524125"/>
          </a:xfrm>
          <a:ln/>
        </p:spPr>
      </p:sp>
      <p:sp>
        <p:nvSpPr>
          <p:cNvPr id="28057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2805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</a:pPr>
            <a:fld id="{D4E97F2F-689D-420C-A40E-6ED93DA6768D}" type="slidenum">
              <a:rPr lang="en-US" sz="1200" b="1">
                <a:solidFill>
                  <a:srgbClr val="000000"/>
                </a:solidFill>
                <a:latin typeface="Arial" pitchFamily="34" charset="0"/>
                <a:cs typeface="+mn-cs"/>
              </a:rPr>
              <a:pPr algn="r" rtl="0" fontAlgn="base">
                <a:spcBef>
                  <a:spcPct val="0"/>
                </a:spcBef>
                <a:spcAft>
                  <a:spcPct val="0"/>
                </a:spcAft>
              </a:pPr>
              <a:t>28</a:t>
            </a:fld>
            <a:endParaRPr lang="en-US" sz="1200" b="1" dirty="0">
              <a:solidFill>
                <a:srgbClr val="000000"/>
              </a:solidFill>
              <a:latin typeface="Arial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49398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90813" y="506413"/>
            <a:ext cx="4487862" cy="2524125"/>
          </a:xfrm>
          <a:ln/>
        </p:spPr>
      </p:sp>
      <p:sp>
        <p:nvSpPr>
          <p:cNvPr id="272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41006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BB64856-65EB-4BD6-A900-FCF31BBFA734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89225" y="506413"/>
            <a:ext cx="4487863" cy="2524125"/>
          </a:xfrm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20862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69339DC-571A-4E39-BC34-691E4C3C8192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35607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5FF6D1F-9DD8-4BEE-A203-51C583EB7C9A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12328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3195369-6C52-4E07-9B80-0D0289295BFF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42352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1443332-4897-4EAB-8F26-60E57053DC6A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29125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A9BCCCC-9D11-44FE-B2C4-0D49E7EC55E1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72995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ACB8E37-7C59-4C51-B72A-493F76F18F76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17550"/>
            <a:ext cx="6370638" cy="3584575"/>
          </a:xfrm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9325" y="4540250"/>
            <a:ext cx="5384800" cy="4379913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99693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B36C558-F578-4149-B0B7-306B66A9D996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17550"/>
            <a:ext cx="6370638" cy="3584575"/>
          </a:xfrm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9325" y="4540250"/>
            <a:ext cx="5384800" cy="4379913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61498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5586128-BC39-4AEC-9659-E316DEAD75E6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17550"/>
            <a:ext cx="6370638" cy="3584575"/>
          </a:xfrm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9325" y="4540250"/>
            <a:ext cx="5384800" cy="4379913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22845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5586128-BC39-4AEC-9659-E316DEAD75E6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17550"/>
            <a:ext cx="6370638" cy="3584575"/>
          </a:xfrm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9325" y="4540250"/>
            <a:ext cx="5384800" cy="4379913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42153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45488A-3EFF-400C-8427-8AE04859B31F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17550"/>
            <a:ext cx="6370638" cy="3584575"/>
          </a:xfrm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9325" y="4540250"/>
            <a:ext cx="5384800" cy="4379913"/>
          </a:xfrm>
          <a:noFill/>
          <a:ln/>
        </p:spPr>
        <p:txBody>
          <a:bodyPr/>
          <a:lstStyle/>
          <a:p>
            <a:pPr eaLnBrk="1" hangingPunct="1"/>
            <a:r>
              <a:rPr lang="en-US" dirty="0"/>
              <a:t>Specifically,</a:t>
            </a:r>
            <a:r>
              <a:rPr lang="en-US" baseline="0" dirty="0"/>
              <a:t> E has to have a unique minimum at (0,0)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098202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204C3C9-53F0-44EF-9EDB-F5327F70BA79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17550"/>
            <a:ext cx="6370638" cy="3584575"/>
          </a:xfrm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9325" y="4540250"/>
            <a:ext cx="5384800" cy="4379913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21771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057C5F1-2E86-46B2-A962-7D0A810239A0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50659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FE67BFD-9DF7-4354-94AC-954D8D186777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99073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9892FDA-CBFA-427A-9C00-083111ABB728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98828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9E32992-AC2A-49A4-932C-4343DA93EAEC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1130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3D41675-5D24-41B5-8066-CAFF7158EC9B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70008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9EC9A90-482E-4287-96BA-EF8FBDD08A91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11096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25F4009-2D6F-4FC9-9146-E1D9B37D025E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17550"/>
            <a:ext cx="6370638" cy="3584575"/>
          </a:xfrm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9325" y="4540250"/>
            <a:ext cx="5384800" cy="4379913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53534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850DD9B-995A-43D8-B577-D19504D9C5DD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50342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50CF13-224B-4301-8707-758A74F2FEA2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9287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50CF13-224B-4301-8707-758A74F2FEA2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72393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6CE49AD-CBA7-451E-A0FB-046C3F8B36DB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17550"/>
            <a:ext cx="6370638" cy="3584575"/>
          </a:xfrm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9325" y="4540250"/>
            <a:ext cx="5384800" cy="4379913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30956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0017827-A65F-4974-9517-192DBA03D0A6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17550"/>
            <a:ext cx="6370638" cy="3584575"/>
          </a:xfrm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9325" y="4540250"/>
            <a:ext cx="5384800" cy="4379913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93331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50CF13-224B-4301-8707-758A74F2FEA2}" type="slidenum">
              <a:rPr lang="en-US" smtClean="0"/>
              <a:pPr/>
              <a:t>59</a:t>
            </a:fld>
            <a:endParaRPr lang="en-US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07124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00D9164-AFA8-437F-8197-2DEE4225045D}" type="slidenum">
              <a:rPr lang="en-US" smtClean="0"/>
              <a:pPr/>
              <a:t>60</a:t>
            </a:fld>
            <a:endParaRPr lang="en-US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17550"/>
            <a:ext cx="6370638" cy="3584575"/>
          </a:xfrm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9325" y="4540250"/>
            <a:ext cx="5384800" cy="4379913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40986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54634C2-BDE7-430E-97AE-5D372B93FC0D}" type="slidenum">
              <a:rPr lang="en-US" smtClean="0"/>
              <a:pPr/>
              <a:t>61</a:t>
            </a:fld>
            <a:endParaRPr lang="en-US"/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17550"/>
            <a:ext cx="6370638" cy="3584575"/>
          </a:xfrm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9325" y="4540250"/>
            <a:ext cx="5384800" cy="4379913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48548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6E7AE44-973C-4BA8-A5F4-3C8558A66CDA}" type="slidenum">
              <a:rPr lang="en-US" smtClean="0"/>
              <a:pPr/>
              <a:t>62</a:t>
            </a:fld>
            <a:endParaRPr lang="en-US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17550"/>
            <a:ext cx="6370638" cy="3584575"/>
          </a:xfrm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9325" y="4540250"/>
            <a:ext cx="5384800" cy="4379913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65702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89ABAE7-56ED-4255-9120-9709941717B2}" type="slidenum">
              <a:rPr lang="en-US" smtClean="0"/>
              <a:pPr/>
              <a:t>63</a:t>
            </a:fld>
            <a:endParaRPr lang="en-US"/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98766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6342FD7-B686-4494-9F56-192B0E9BC4AA}" type="slidenum">
              <a:rPr lang="en-US" smtClean="0"/>
              <a:pPr/>
              <a:t>65</a:t>
            </a:fld>
            <a:endParaRPr lang="en-US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17550"/>
            <a:ext cx="6370638" cy="3584575"/>
          </a:xfrm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9325" y="4540250"/>
            <a:ext cx="5384800" cy="4379913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09715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3FD131D-0458-46D3-8891-8ED3D1A2D208}" type="slidenum">
              <a:rPr lang="en-US" smtClean="0"/>
              <a:pPr/>
              <a:t>66</a:t>
            </a:fld>
            <a:endParaRPr lang="en-US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17550"/>
            <a:ext cx="6370638" cy="3584575"/>
          </a:xfrm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9325" y="4540250"/>
            <a:ext cx="5384800" cy="4379913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53676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3FD131D-0458-46D3-8891-8ED3D1A2D208}" type="slidenum">
              <a:rPr lang="en-US" smtClean="0"/>
              <a:pPr/>
              <a:t>67</a:t>
            </a:fld>
            <a:endParaRPr lang="en-US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17550"/>
            <a:ext cx="6370638" cy="3584575"/>
          </a:xfrm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9325" y="4540250"/>
            <a:ext cx="5384800" cy="4379913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19842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D8C8883-7D78-49B7-A580-81B4C8DF3692}" type="slidenum">
              <a:rPr lang="en-US" smtClean="0"/>
              <a:pPr/>
              <a:t>68</a:t>
            </a:fld>
            <a:endParaRPr lang="en-US"/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17550"/>
            <a:ext cx="6370638" cy="3584575"/>
          </a:xfrm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9325" y="4540250"/>
            <a:ext cx="5384800" cy="4379913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71237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69339DC-571A-4E39-BC34-691E4C3C8192}" type="slidenum">
              <a:rPr lang="en-US" smtClean="0"/>
              <a:pPr/>
              <a:t>70</a:t>
            </a:fld>
            <a:endParaRPr lang="en-US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32829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33B666A-61BC-4F7B-982A-78CDA277F1B8}" type="slidenum">
              <a:rPr lang="en-US" smtClean="0"/>
              <a:pPr/>
              <a:t>71</a:t>
            </a:fld>
            <a:endParaRPr lang="en-US"/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669324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69339DC-571A-4E39-BC34-691E4C3C8192}" type="slidenum">
              <a:rPr lang="en-US" smtClean="0"/>
              <a:pPr/>
              <a:t>72</a:t>
            </a:fld>
            <a:endParaRPr lang="en-US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69967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AADCD1D-5907-4682-8D0C-FF1DFDD74C09}" type="slidenum">
              <a:rPr lang="en-US" smtClean="0"/>
              <a:pPr/>
              <a:t>74</a:t>
            </a:fld>
            <a:endParaRPr lang="en-US"/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291509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A8C4111-4B8E-4DCE-881B-D7BFD704811B}" type="slidenum">
              <a:rPr lang="en-US" smtClean="0"/>
              <a:pPr/>
              <a:t>75</a:t>
            </a:fld>
            <a:endParaRPr lang="en-US"/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17550"/>
            <a:ext cx="6372225" cy="3584575"/>
          </a:xfrm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9325" y="4540250"/>
            <a:ext cx="5384800" cy="4379913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454522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6A649E4-C219-4EA4-9EF1-215A8F70E613}" type="slidenum">
              <a:rPr lang="en-US" smtClean="0"/>
              <a:pPr/>
              <a:t>76</a:t>
            </a:fld>
            <a:endParaRPr lang="en-US"/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/>
              <a:t>An edge filtered</a:t>
            </a:r>
            <a:r>
              <a:rPr lang="en-US" baseline="0" dirty="0"/>
              <a:t> with the </a:t>
            </a:r>
            <a:r>
              <a:rPr lang="en-US" baseline="0" dirty="0" err="1"/>
              <a:t>Laplacian</a:t>
            </a:r>
            <a:r>
              <a:rPr lang="en-US" baseline="0" dirty="0"/>
              <a:t> of Gaussian is the difference between the blurry edge and the original edge.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627494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8B4057C-A32D-4556-A78A-4DAE11863F9F}" type="slidenum">
              <a:rPr lang="en-US" smtClean="0"/>
              <a:pPr/>
              <a:t>77</a:t>
            </a:fld>
            <a:endParaRPr lang="en-US"/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507156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F02FFAE-831E-44F1-A90D-20F3FF7C2A8F}" type="slidenum">
              <a:rPr lang="en-US" smtClean="0"/>
              <a:pPr/>
              <a:t>78</a:t>
            </a:fld>
            <a:endParaRPr lang="en-US"/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082002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C56E141-BC8E-4290-93F6-7B1910B7B960}" type="slidenum">
              <a:rPr lang="en-US" smtClean="0"/>
              <a:pPr/>
              <a:t>79</a:t>
            </a:fld>
            <a:endParaRPr lang="en-US"/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/>
              <a:t>The area under the first derivative of Gaussian from –infinity to 0 is equal to the value of the Gaussian at zero</a:t>
            </a:r>
          </a:p>
        </p:txBody>
      </p:sp>
    </p:spTree>
    <p:extLst>
      <p:ext uri="{BB962C8B-B14F-4D97-AF65-F5344CB8AC3E}">
        <p14:creationId xmlns:p14="http://schemas.microsoft.com/office/powerpoint/2010/main" val="1224025319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A4B87F8-11DB-4868-B07E-5C5816ED0960}" type="slidenum">
              <a:rPr lang="en-US" smtClean="0"/>
              <a:pPr/>
              <a:t>80</a:t>
            </a:fld>
            <a:endParaRPr lang="en-US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401588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2392448-6403-4071-AAE7-491CBC734238}" type="slidenum">
              <a:rPr lang="en-US" smtClean="0"/>
              <a:pPr/>
              <a:t>81</a:t>
            </a:fld>
            <a:endParaRPr lang="en-US"/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842400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4030BA3-2780-4F9D-B4D8-74773CC4D441}" type="slidenum">
              <a:rPr lang="en-US" smtClean="0"/>
              <a:pPr/>
              <a:t>82</a:t>
            </a:fld>
            <a:endParaRPr lang="en-US"/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777206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2E58C0A-1049-44B4-82C4-AAB29F6ADC3D}" type="slidenum">
              <a:rPr lang="en-US" smtClean="0"/>
              <a:pPr/>
              <a:t>83</a:t>
            </a:fld>
            <a:endParaRPr lang="en-US"/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178547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C44DC87-114E-40EC-8912-056E0E39B0B4}" type="slidenum">
              <a:rPr lang="en-US" smtClean="0"/>
              <a:pPr/>
              <a:t>84</a:t>
            </a:fld>
            <a:endParaRPr lang="en-US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117704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1F328C5-83BC-4263-B80F-985ED4B7E6F1}" type="slidenum">
              <a:rPr lang="en-US" smtClean="0"/>
              <a:pPr/>
              <a:t>86</a:t>
            </a:fld>
            <a:endParaRPr lang="en-US"/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805244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BEEFC11-4B9B-48CA-AEBE-0F1C0C232B19}" type="slidenum">
              <a:rPr lang="en-US" smtClean="0"/>
              <a:pPr/>
              <a:t>87</a:t>
            </a:fld>
            <a:endParaRPr lang="en-US"/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794442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0997B65-D076-441D-8C47-794EDC6212C7}" type="slidenum">
              <a:rPr lang="en-US" smtClean="0"/>
              <a:pPr/>
              <a:t>88</a:t>
            </a:fld>
            <a:endParaRPr lang="en-US"/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399789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A71DB8B-7C23-48FA-98B8-2D7BFC9853C7}" type="slidenum">
              <a:rPr lang="en-US" smtClean="0"/>
              <a:pPr/>
              <a:t>89</a:t>
            </a:fld>
            <a:endParaRPr lang="en-US"/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554715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BEEFC11-4B9B-48CA-AEBE-0F1C0C232B19}" type="slidenum">
              <a:rPr lang="en-US" smtClean="0"/>
              <a:pPr/>
              <a:t>90</a:t>
            </a:fld>
            <a:endParaRPr lang="en-US"/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163657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441168E-9206-488A-BE7E-006F3F2737DE}" type="slidenum">
              <a:rPr lang="en-US" smtClean="0"/>
              <a:pPr/>
              <a:t>91</a:t>
            </a:fld>
            <a:endParaRPr lang="en-US"/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040597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88CC75-E96A-4038-84CC-E95DF30784A8}" type="slidenum">
              <a:rPr lang="en-US" smtClean="0"/>
              <a:pPr>
                <a:defRPr/>
              </a:pPr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650072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BC06CDC-41DA-40F4-BCF7-293E9FB63083}" type="slidenum">
              <a:rPr lang="en-US" smtClean="0"/>
              <a:pPr/>
              <a:t>93</a:t>
            </a:fld>
            <a:endParaRPr lang="en-US"/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628375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6ED005D-BF42-4A1E-A299-C10B49C71AD6}" type="slidenum">
              <a:rPr lang="en-US" smtClean="0"/>
              <a:pPr/>
              <a:t>94</a:t>
            </a:fld>
            <a:endParaRPr lang="en-US"/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231017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09E1CB1-140F-4079-92BB-E2422AD87009}" type="slidenum">
              <a:rPr lang="en-US" smtClean="0"/>
              <a:pPr/>
              <a:t>95</a:t>
            </a:fld>
            <a:endParaRPr lang="en-US"/>
          </a:p>
        </p:txBody>
      </p:sp>
      <p:sp>
        <p:nvSpPr>
          <p:cNvPr id="133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133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161112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3E3FFC8-7606-45D1-ABE0-987028CC43A9}" type="slidenum">
              <a:rPr lang="en-US" smtClean="0"/>
              <a:pPr/>
              <a:t>96</a:t>
            </a:fld>
            <a:endParaRPr lang="en-US"/>
          </a:p>
        </p:txBody>
      </p:sp>
      <p:sp>
        <p:nvSpPr>
          <p:cNvPr id="135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135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964700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41B51C6-53ED-4094-ACA9-CEED9C39151D}" type="slidenum">
              <a:rPr lang="en-US" smtClean="0"/>
              <a:pPr/>
              <a:t>98</a:t>
            </a:fld>
            <a:endParaRPr lang="en-US"/>
          </a:p>
        </p:txBody>
      </p:sp>
      <p:sp>
        <p:nvSpPr>
          <p:cNvPr id="137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137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83322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48A2ED4-D129-4C04-9751-D3039B52B2B3}" type="slidenum">
              <a:rPr lang="en-US" smtClean="0"/>
              <a:pPr/>
              <a:t>101</a:t>
            </a:fld>
            <a:endParaRPr lang="en-US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92937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F588C60-43A5-4D25-B574-487187B258E8}" type="slidenum">
              <a:rPr lang="en-US" smtClean="0"/>
              <a:pPr/>
              <a:t>102</a:t>
            </a:fld>
            <a:endParaRPr lang="en-US"/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976274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93595E3-4768-469B-85A6-837FB2635AD4}" type="slidenum">
              <a:rPr lang="en-US" smtClean="0"/>
              <a:pPr/>
              <a:t>103</a:t>
            </a:fld>
            <a:endParaRPr lang="en-US"/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365616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4D2C9FA-FC19-4E88-8FFB-CB05EFD15053}" type="slidenum">
              <a:rPr lang="en-US" smtClean="0"/>
              <a:pPr/>
              <a:t>104</a:t>
            </a:fld>
            <a:endParaRPr lang="en-US"/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1308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8ED516-33F9-4DD9-AFFA-667B71F1A0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0FF23F-C6D1-4433-9D9F-083897F818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374387-295F-439B-A3D0-0866E5125C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914400"/>
            <a:ext cx="50800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914400"/>
            <a:ext cx="50800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3AE853-6969-4601-B59E-3B05C94036E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BE765E-37BD-4944-8A52-DC9B8034C8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F1AF85-3975-4929-AB73-015B793399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B6091F-1D79-4D8F-AA52-BBC1BB2C25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155402-2DDA-4778-9587-9A59E0E544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6696B7-9575-44DB-B743-B1C1DF8FC7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736092-DC51-4361-B538-712D77CC8E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6800" y="76200"/>
            <a:ext cx="259080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76200"/>
            <a:ext cx="756920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157BD4-B2C1-4DBC-A144-7E882829AB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76200"/>
            <a:ext cx="10363200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914400"/>
            <a:ext cx="508000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914400"/>
            <a:ext cx="508000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B8D1D6-2162-400A-89FD-865EAD3E04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166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3825" y="76200"/>
            <a:ext cx="11963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3825" y="923925"/>
            <a:ext cx="119634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42875" y="6248400"/>
            <a:ext cx="293220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853329" y="6248400"/>
            <a:ext cx="445695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45494" y="6248400"/>
            <a:ext cx="293220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fld id="{222A5A35-F03F-4389-BCAF-00317C26B9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Merriweather" panose="00000500000000000000" pitchFamily="2" charset="0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8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likecool.com/Winter_in_Krak_w_photographed_by_Marcin_Ryczek--Pic--Gear.htm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9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8.wmf"/><Relationship Id="rId10" Type="http://schemas.openxmlformats.org/officeDocument/2006/relationships/image" Target="../media/image11.png"/><Relationship Id="rId4" Type="http://schemas.openxmlformats.org/officeDocument/2006/relationships/oleObject" Target="../embeddings/oleObject3.bin"/><Relationship Id="rId9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21.pn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20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19.png"/><Relationship Id="rId5" Type="http://schemas.openxmlformats.org/officeDocument/2006/relationships/tags" Target="../tags/tag5.xml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4" Type="http://schemas.openxmlformats.org/officeDocument/2006/relationships/tags" Target="../tags/tag4.xml"/><Relationship Id="rId9" Type="http://schemas.openxmlformats.org/officeDocument/2006/relationships/notesSlide" Target="../notesSlides/notesSlide6.xml"/><Relationship Id="rId1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bybjhso.xeds.eu/clone/poisson.pdf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6.pn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25.png"/><Relationship Id="rId5" Type="http://schemas.openxmlformats.org/officeDocument/2006/relationships/oleObject" Target="../embeddings/oleObject5.bin"/><Relationship Id="rId10" Type="http://schemas.openxmlformats.org/officeDocument/2006/relationships/image" Target="../media/image28.png"/><Relationship Id="rId4" Type="http://schemas.openxmlformats.org/officeDocument/2006/relationships/notesSlide" Target="../notesSlides/notesSlide7.xml"/><Relationship Id="rId9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oleObject" Target="../embeddings/oleObject7.bin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10" Type="http://schemas.openxmlformats.org/officeDocument/2006/relationships/image" Target="../media/image34.wmf"/><Relationship Id="rId4" Type="http://schemas.openxmlformats.org/officeDocument/2006/relationships/image" Target="../media/image29.wmf"/><Relationship Id="rId9" Type="http://schemas.openxmlformats.org/officeDocument/2006/relationships/oleObject" Target="../embeddings/oleObject8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38.wmf"/><Relationship Id="rId4" Type="http://schemas.openxmlformats.org/officeDocument/2006/relationships/image" Target="../media/image35.wmf"/><Relationship Id="rId9" Type="http://schemas.openxmlformats.org/officeDocument/2006/relationships/oleObject" Target="../embeddings/oleObject12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msi.fr/Individu/vezien/PAPIERS_ACS/canny1986.pdf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wmf"/><Relationship Id="rId5" Type="http://schemas.openxmlformats.org/officeDocument/2006/relationships/image" Target="../media/image58.wmf"/><Relationship Id="rId4" Type="http://schemas.openxmlformats.org/officeDocument/2006/relationships/image" Target="../media/image57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msi.fr/Individu/vezien/PAPIERS_ACS/canny1986.pdf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hyperlink" Target="http://www.eecs.berkeley.edu/Research/Projects/CS/vision/grouping/segbench/" TargetMode="External"/><Relationship Id="rId7" Type="http://schemas.openxmlformats.org/officeDocument/2006/relationships/image" Target="../media/image63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jpeg"/><Relationship Id="rId5" Type="http://schemas.openxmlformats.org/officeDocument/2006/relationships/image" Target="../media/image61.png"/><Relationship Id="rId4" Type="http://schemas.openxmlformats.org/officeDocument/2006/relationships/image" Target="../media/image60.jpeg"/><Relationship Id="rId9" Type="http://schemas.openxmlformats.org/officeDocument/2006/relationships/image" Target="../media/image65.jpeg"/></Relationships>
</file>

<file path=ppt/slides/_rels/slide3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89.png"/><Relationship Id="rId21" Type="http://schemas.openxmlformats.org/officeDocument/2006/relationships/image" Target="../media/image84.png"/><Relationship Id="rId34" Type="http://schemas.openxmlformats.org/officeDocument/2006/relationships/image" Target="../media/image97.png"/><Relationship Id="rId42" Type="http://schemas.openxmlformats.org/officeDocument/2006/relationships/image" Target="../media/image105.png"/><Relationship Id="rId47" Type="http://schemas.openxmlformats.org/officeDocument/2006/relationships/image" Target="../media/image110.png"/><Relationship Id="rId50" Type="http://schemas.openxmlformats.org/officeDocument/2006/relationships/image" Target="../media/image113.png"/><Relationship Id="rId55" Type="http://schemas.openxmlformats.org/officeDocument/2006/relationships/image" Target="../media/image118.png"/><Relationship Id="rId63" Type="http://schemas.openxmlformats.org/officeDocument/2006/relationships/image" Target="../media/image126.png"/><Relationship Id="rId7" Type="http://schemas.openxmlformats.org/officeDocument/2006/relationships/image" Target="../media/image70.png"/><Relationship Id="rId2" Type="http://schemas.openxmlformats.org/officeDocument/2006/relationships/hyperlink" Target="http://vision.ucsd.edu/~pdollar/files/papers/DollarICCV13edges.pdf" TargetMode="External"/><Relationship Id="rId16" Type="http://schemas.openxmlformats.org/officeDocument/2006/relationships/image" Target="../media/image79.png"/><Relationship Id="rId29" Type="http://schemas.openxmlformats.org/officeDocument/2006/relationships/image" Target="../media/image92.png"/><Relationship Id="rId11" Type="http://schemas.openxmlformats.org/officeDocument/2006/relationships/image" Target="../media/image74.png"/><Relationship Id="rId24" Type="http://schemas.openxmlformats.org/officeDocument/2006/relationships/image" Target="../media/image87.png"/><Relationship Id="rId32" Type="http://schemas.openxmlformats.org/officeDocument/2006/relationships/image" Target="../media/image95.png"/><Relationship Id="rId37" Type="http://schemas.openxmlformats.org/officeDocument/2006/relationships/image" Target="../media/image100.png"/><Relationship Id="rId40" Type="http://schemas.openxmlformats.org/officeDocument/2006/relationships/image" Target="../media/image103.png"/><Relationship Id="rId45" Type="http://schemas.openxmlformats.org/officeDocument/2006/relationships/image" Target="../media/image108.png"/><Relationship Id="rId53" Type="http://schemas.openxmlformats.org/officeDocument/2006/relationships/image" Target="../media/image116.png"/><Relationship Id="rId58" Type="http://schemas.openxmlformats.org/officeDocument/2006/relationships/image" Target="../media/image121.png"/><Relationship Id="rId5" Type="http://schemas.openxmlformats.org/officeDocument/2006/relationships/image" Target="../media/image68.png"/><Relationship Id="rId61" Type="http://schemas.openxmlformats.org/officeDocument/2006/relationships/image" Target="../media/image124.png"/><Relationship Id="rId19" Type="http://schemas.openxmlformats.org/officeDocument/2006/relationships/image" Target="../media/image82.png"/><Relationship Id="rId14" Type="http://schemas.openxmlformats.org/officeDocument/2006/relationships/image" Target="../media/image77.png"/><Relationship Id="rId22" Type="http://schemas.openxmlformats.org/officeDocument/2006/relationships/image" Target="../media/image85.png"/><Relationship Id="rId27" Type="http://schemas.openxmlformats.org/officeDocument/2006/relationships/image" Target="../media/image90.png"/><Relationship Id="rId30" Type="http://schemas.openxmlformats.org/officeDocument/2006/relationships/image" Target="../media/image93.png"/><Relationship Id="rId35" Type="http://schemas.openxmlformats.org/officeDocument/2006/relationships/image" Target="../media/image98.png"/><Relationship Id="rId43" Type="http://schemas.openxmlformats.org/officeDocument/2006/relationships/image" Target="../media/image106.png"/><Relationship Id="rId48" Type="http://schemas.openxmlformats.org/officeDocument/2006/relationships/image" Target="../media/image111.png"/><Relationship Id="rId56" Type="http://schemas.openxmlformats.org/officeDocument/2006/relationships/image" Target="../media/image119.png"/><Relationship Id="rId64" Type="http://schemas.openxmlformats.org/officeDocument/2006/relationships/image" Target="../media/image127.png"/><Relationship Id="rId8" Type="http://schemas.openxmlformats.org/officeDocument/2006/relationships/image" Target="../media/image71.png"/><Relationship Id="rId51" Type="http://schemas.openxmlformats.org/officeDocument/2006/relationships/image" Target="../media/image114.png"/><Relationship Id="rId3" Type="http://schemas.openxmlformats.org/officeDocument/2006/relationships/image" Target="../media/image66.png"/><Relationship Id="rId12" Type="http://schemas.openxmlformats.org/officeDocument/2006/relationships/image" Target="../media/image75.png"/><Relationship Id="rId17" Type="http://schemas.openxmlformats.org/officeDocument/2006/relationships/image" Target="../media/image80.png"/><Relationship Id="rId25" Type="http://schemas.openxmlformats.org/officeDocument/2006/relationships/image" Target="../media/image88.png"/><Relationship Id="rId33" Type="http://schemas.openxmlformats.org/officeDocument/2006/relationships/image" Target="../media/image96.png"/><Relationship Id="rId38" Type="http://schemas.openxmlformats.org/officeDocument/2006/relationships/image" Target="../media/image101.png"/><Relationship Id="rId46" Type="http://schemas.openxmlformats.org/officeDocument/2006/relationships/image" Target="../media/image109.png"/><Relationship Id="rId59" Type="http://schemas.openxmlformats.org/officeDocument/2006/relationships/image" Target="../media/image122.png"/><Relationship Id="rId20" Type="http://schemas.openxmlformats.org/officeDocument/2006/relationships/image" Target="../media/image83.png"/><Relationship Id="rId41" Type="http://schemas.openxmlformats.org/officeDocument/2006/relationships/image" Target="../media/image104.png"/><Relationship Id="rId54" Type="http://schemas.openxmlformats.org/officeDocument/2006/relationships/image" Target="../media/image117.png"/><Relationship Id="rId62" Type="http://schemas.openxmlformats.org/officeDocument/2006/relationships/image" Target="../media/image1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15" Type="http://schemas.openxmlformats.org/officeDocument/2006/relationships/image" Target="../media/image78.png"/><Relationship Id="rId23" Type="http://schemas.openxmlformats.org/officeDocument/2006/relationships/image" Target="../media/image86.png"/><Relationship Id="rId28" Type="http://schemas.openxmlformats.org/officeDocument/2006/relationships/image" Target="../media/image91.png"/><Relationship Id="rId36" Type="http://schemas.openxmlformats.org/officeDocument/2006/relationships/image" Target="../media/image99.png"/><Relationship Id="rId49" Type="http://schemas.openxmlformats.org/officeDocument/2006/relationships/image" Target="../media/image112.png"/><Relationship Id="rId57" Type="http://schemas.openxmlformats.org/officeDocument/2006/relationships/image" Target="../media/image120.png"/><Relationship Id="rId10" Type="http://schemas.openxmlformats.org/officeDocument/2006/relationships/image" Target="../media/image73.png"/><Relationship Id="rId31" Type="http://schemas.openxmlformats.org/officeDocument/2006/relationships/image" Target="../media/image94.png"/><Relationship Id="rId44" Type="http://schemas.openxmlformats.org/officeDocument/2006/relationships/image" Target="../media/image107.png"/><Relationship Id="rId52" Type="http://schemas.openxmlformats.org/officeDocument/2006/relationships/image" Target="../media/image115.png"/><Relationship Id="rId60" Type="http://schemas.openxmlformats.org/officeDocument/2006/relationships/image" Target="../media/image123.png"/><Relationship Id="rId65" Type="http://schemas.openxmlformats.org/officeDocument/2006/relationships/image" Target="../media/image128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Relationship Id="rId13" Type="http://schemas.openxmlformats.org/officeDocument/2006/relationships/image" Target="../media/image76.png"/><Relationship Id="rId18" Type="http://schemas.openxmlformats.org/officeDocument/2006/relationships/image" Target="../media/image81.png"/><Relationship Id="rId39" Type="http://schemas.openxmlformats.org/officeDocument/2006/relationships/image" Target="../media/image102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1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3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3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7.png"/><Relationship Id="rId4" Type="http://schemas.openxmlformats.org/officeDocument/2006/relationships/image" Target="../media/image13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5.png"/><Relationship Id="rId4" Type="http://schemas.openxmlformats.org/officeDocument/2006/relationships/image" Target="../media/image14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5.png"/><Relationship Id="rId4" Type="http://schemas.openxmlformats.org/officeDocument/2006/relationships/image" Target="../media/image14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9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2.png"/><Relationship Id="rId5" Type="http://schemas.openxmlformats.org/officeDocument/2006/relationships/image" Target="../media/image144.png"/><Relationship Id="rId4" Type="http://schemas.openxmlformats.org/officeDocument/2006/relationships/image" Target="../media/image15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0.png"/><Relationship Id="rId4" Type="http://schemas.openxmlformats.org/officeDocument/2006/relationships/image" Target="../media/image147.w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7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151.w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5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6.jpeg"/><Relationship Id="rId4" Type="http://schemas.openxmlformats.org/officeDocument/2006/relationships/image" Target="../media/image155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mva.org/bmvc/1988/avc-88-023.pdf" TargetMode="Externa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mva.org/bmvc/1988/avc-88-023.pdf" TargetMode="Externa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mva.org/bmvc/1988/avc-88-023.pdf" TargetMode="Externa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jpe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8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0.png"/><Relationship Id="rId4" Type="http://schemas.openxmlformats.org/officeDocument/2006/relationships/image" Target="../media/image169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jpe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wmf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jpe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6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3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jpe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5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166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36.pn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wmf"/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26.bin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7.w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176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jpe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jpe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2.wmf"/><Relationship Id="rId4" Type="http://schemas.openxmlformats.org/officeDocument/2006/relationships/oleObject" Target="../embeddings/oleObject27.bin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jpe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0.jpe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jpe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4.w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166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jpe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6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6.w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185.wmf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jpe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nada.kth.se/cvap/abstracts/cvap198.html" TargetMode="Externa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8.jpe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4.jpeg"/><Relationship Id="rId3" Type="http://schemas.openxmlformats.org/officeDocument/2006/relationships/image" Target="../media/image189.jpeg"/><Relationship Id="rId7" Type="http://schemas.openxmlformats.org/officeDocument/2006/relationships/image" Target="../media/image193.jpeg"/><Relationship Id="rId12" Type="http://schemas.openxmlformats.org/officeDocument/2006/relationships/image" Target="../media/image198.jpe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2.jpeg"/><Relationship Id="rId11" Type="http://schemas.openxmlformats.org/officeDocument/2006/relationships/image" Target="../media/image197.jpeg"/><Relationship Id="rId5" Type="http://schemas.openxmlformats.org/officeDocument/2006/relationships/image" Target="../media/image191.jpeg"/><Relationship Id="rId10" Type="http://schemas.openxmlformats.org/officeDocument/2006/relationships/image" Target="../media/image196.jpeg"/><Relationship Id="rId4" Type="http://schemas.openxmlformats.org/officeDocument/2006/relationships/image" Target="../media/image190.jpeg"/><Relationship Id="rId9" Type="http://schemas.openxmlformats.org/officeDocument/2006/relationships/image" Target="../media/image195.jpe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jpe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6.png"/><Relationship Id="rId3" Type="http://schemas.openxmlformats.org/officeDocument/2006/relationships/image" Target="../media/image201.png"/><Relationship Id="rId7" Type="http://schemas.openxmlformats.org/officeDocument/2006/relationships/image" Target="../media/image205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4.png"/><Relationship Id="rId5" Type="http://schemas.openxmlformats.org/officeDocument/2006/relationships/image" Target="../media/image203.png"/><Relationship Id="rId4" Type="http://schemas.openxmlformats.org/officeDocument/2006/relationships/image" Target="../media/image202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7" Type="http://schemas.openxmlformats.org/officeDocument/2006/relationships/image" Target="../media/image209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8.w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207.wmf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cs.ubc.ca/~lowe/papers/ijcv04.pdf" TargetMode="External"/><Relationship Id="rId4" Type="http://schemas.openxmlformats.org/officeDocument/2006/relationships/image" Target="../media/image210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wmf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2.jpeg"/><Relationship Id="rId4" Type="http://schemas.openxmlformats.org/officeDocument/2006/relationships/image" Target="../media/image211.jpe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3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.ubc.ca/~lowe/papers/ijcv04.pdf" TargetMode="External"/><Relationship Id="rId2" Type="http://schemas.openxmlformats.org/officeDocument/2006/relationships/image" Target="../media/image2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5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6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.ubc.ca/~lowe/papers/ijcv04.pdf" TargetMode="External"/><Relationship Id="rId2" Type="http://schemas.openxmlformats.org/officeDocument/2006/relationships/image" Target="../media/image217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9.png"/><Relationship Id="rId2" Type="http://schemas.openxmlformats.org/officeDocument/2006/relationships/image" Target="../media/image218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jpe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1.jpe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7.w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222.wmf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jpe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3.jpe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54346-CC97-45EB-91F8-3E6AE1F3D1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4800" dirty="0"/>
              <a:t>L04 Edges, Corners, and Blobs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CD0349-7C3F-4A5A-893F-3B2F369D8D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0D918D-FBE9-1180-2440-308330D28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8ED516-33F9-4DD9-AFFA-667B71F1A011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105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4800" dirty="0"/>
              <a:t>Edge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Slides from Svetlana </a:t>
            </a:r>
            <a:r>
              <a:rPr lang="en-US" dirty="0" err="1"/>
              <a:t>Lazebnik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835241-BD94-D7AF-B6F3-3DFCF2A4A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8ED516-33F9-4DD9-AFFA-667B71F1A011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465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Edge Detection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133600" y="6031469"/>
            <a:ext cx="8001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hlinkClick r:id="rId2"/>
              </a:rPr>
              <a:t>Winter in </a:t>
            </a:r>
            <a:r>
              <a:rPr lang="en-US" sz="1400" dirty="0" err="1">
                <a:hlinkClick r:id="rId2"/>
              </a:rPr>
              <a:t>Kraków</a:t>
            </a:r>
            <a:r>
              <a:rPr lang="en-US" sz="1400" dirty="0">
                <a:hlinkClick r:id="rId2"/>
              </a:rPr>
              <a:t> photographed by </a:t>
            </a:r>
            <a:r>
              <a:rPr lang="en-US" sz="1400" dirty="0" err="1">
                <a:hlinkClick r:id="rId2"/>
              </a:rPr>
              <a:t>Marcin</a:t>
            </a:r>
            <a:r>
              <a:rPr lang="en-US" sz="1400" dirty="0">
                <a:hlinkClick r:id="rId2"/>
              </a:rPr>
              <a:t> </a:t>
            </a:r>
            <a:r>
              <a:rPr lang="en-US" sz="1400" dirty="0" err="1">
                <a:hlinkClick r:id="rId2"/>
              </a:rPr>
              <a:t>Ryczek</a:t>
            </a:r>
            <a:endParaRPr lang="en-US" sz="1400" dirty="0"/>
          </a:p>
        </p:txBody>
      </p:sp>
      <p:pic>
        <p:nvPicPr>
          <p:cNvPr id="39940" name="Picture 4" descr="Winter in Krak w photographed by Marcin Rycze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4641" y="1143000"/>
            <a:ext cx="8498918" cy="47244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6710C7-4A75-D1A0-9700-D402600A4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005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4"/>
          <p:cNvGraphicFramePr>
            <a:graphicFrameLocks noGrp="1" noChangeAspect="1"/>
          </p:cNvGraphicFramePr>
          <p:nvPr>
            <p:ph idx="4294967295"/>
          </p:nvPr>
        </p:nvGraphicFramePr>
        <p:xfrm>
          <a:off x="7010401" y="1905000"/>
          <a:ext cx="3332163" cy="358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2161905" imgH="2324424" progId="PBrush">
                  <p:embed/>
                </p:oleObj>
              </mc:Choice>
              <mc:Fallback>
                <p:oleObj name="Bitmap Image" r:id="rId3" imgW="2161905" imgH="2324424" progId="PBrush">
                  <p:embed/>
                  <p:pic>
                    <p:nvPicPr>
                      <p:cNvPr id="102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1" y="1905000"/>
                        <a:ext cx="3332163" cy="358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Edge Detection</a:t>
            </a:r>
          </a:p>
        </p:txBody>
      </p:sp>
      <p:sp>
        <p:nvSpPr>
          <p:cNvPr id="1028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123825" y="1143000"/>
            <a:ext cx="7191375" cy="5257800"/>
          </a:xfrm>
        </p:spPr>
        <p:txBody>
          <a:bodyPr/>
          <a:lstStyle/>
          <a:p>
            <a:pPr>
              <a:buFontTx/>
              <a:buChar char="•"/>
            </a:pPr>
            <a:r>
              <a:rPr lang="en-US" b="1" dirty="0"/>
              <a:t>Goal:  </a:t>
            </a:r>
            <a:r>
              <a:rPr lang="en-US" dirty="0"/>
              <a:t>Identify sudden changes (discontinuities) in an image</a:t>
            </a:r>
          </a:p>
          <a:p>
            <a:pPr lvl="1"/>
            <a:r>
              <a:rPr lang="en-US" dirty="0"/>
              <a:t>Intuitively, most semantic and shape information from the image can be encoded in the edges</a:t>
            </a:r>
          </a:p>
          <a:p>
            <a:pPr lvl="1"/>
            <a:r>
              <a:rPr lang="en-US" dirty="0"/>
              <a:t>More compact than pixels</a:t>
            </a:r>
            <a:br>
              <a:rPr lang="en-US" dirty="0"/>
            </a:br>
            <a:endParaRPr lang="en-US" dirty="0"/>
          </a:p>
          <a:p>
            <a:pPr>
              <a:buFontTx/>
              <a:buChar char="•"/>
            </a:pPr>
            <a:r>
              <a:rPr lang="en-US" b="1" dirty="0"/>
              <a:t>Ideal:</a:t>
            </a:r>
            <a:r>
              <a:rPr lang="en-US" dirty="0"/>
              <a:t> artist’s line drawing (but artist is also using object-level knowledge)</a:t>
            </a:r>
            <a:endParaRPr lang="en-US" sz="2400" dirty="0"/>
          </a:p>
        </p:txBody>
      </p:sp>
      <p:sp>
        <p:nvSpPr>
          <p:cNvPr id="1029" name="Text Box 8"/>
          <p:cNvSpPr txBox="1">
            <a:spLocks noChangeArrowheads="1"/>
          </p:cNvSpPr>
          <p:nvPr/>
        </p:nvSpPr>
        <p:spPr bwMode="auto">
          <a:xfrm>
            <a:off x="8839200" y="6477000"/>
            <a:ext cx="1765300" cy="2746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200"/>
              <a:t>Source: D. Lowe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F3DACB-D788-EC90-4A7A-02516675E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Origin of Edges</a:t>
            </a:r>
          </a:p>
        </p:txBody>
      </p:sp>
      <p:sp>
        <p:nvSpPr>
          <p:cNvPr id="20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022350"/>
            <a:ext cx="7772400" cy="1371600"/>
          </a:xfrm>
        </p:spPr>
        <p:txBody>
          <a:bodyPr/>
          <a:lstStyle/>
          <a:p>
            <a:r>
              <a:rPr lang="en-US" dirty="0"/>
              <a:t>Edges are caused by a variety of factors:</a:t>
            </a:r>
          </a:p>
        </p:txBody>
      </p:sp>
      <p:sp>
        <p:nvSpPr>
          <p:cNvPr id="2053" name="Rectangle 4"/>
          <p:cNvSpPr>
            <a:spLocks noChangeArrowheads="1"/>
          </p:cNvSpPr>
          <p:nvPr/>
        </p:nvSpPr>
        <p:spPr bwMode="auto">
          <a:xfrm>
            <a:off x="1525588" y="92076"/>
            <a:ext cx="9144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/>
          </a:p>
        </p:txBody>
      </p:sp>
      <p:graphicFrame>
        <p:nvGraphicFramePr>
          <p:cNvPr id="2050" name="Object 5"/>
          <p:cNvGraphicFramePr>
            <a:graphicFrameLocks noChangeAspect="1"/>
          </p:cNvGraphicFramePr>
          <p:nvPr/>
        </p:nvGraphicFramePr>
        <p:xfrm>
          <a:off x="3317875" y="2400300"/>
          <a:ext cx="2990850" cy="285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3" imgW="2991268" imgH="2857899" progId="">
                  <p:embed/>
                </p:oleObj>
              </mc:Choice>
              <mc:Fallback>
                <p:oleObj name="Photo Editor Photo" r:id="rId3" imgW="2991268" imgH="2857899" progId="">
                  <p:embed/>
                  <p:pic>
                    <p:nvPicPr>
                      <p:cNvPr id="205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7875" y="2400300"/>
                        <a:ext cx="2990850" cy="285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4" name="Text Box 6"/>
          <p:cNvSpPr txBox="1">
            <a:spLocks noChangeArrowheads="1"/>
          </p:cNvSpPr>
          <p:nvPr/>
        </p:nvSpPr>
        <p:spPr bwMode="auto">
          <a:xfrm>
            <a:off x="6289676" y="3282950"/>
            <a:ext cx="2028119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depth discontinuity</a:t>
            </a:r>
          </a:p>
        </p:txBody>
      </p:sp>
      <p:sp>
        <p:nvSpPr>
          <p:cNvPr id="2055" name="Text Box 7"/>
          <p:cNvSpPr txBox="1">
            <a:spLocks noChangeArrowheads="1"/>
          </p:cNvSpPr>
          <p:nvPr/>
        </p:nvSpPr>
        <p:spPr bwMode="auto">
          <a:xfrm>
            <a:off x="6289675" y="3924300"/>
            <a:ext cx="269977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surface color discontinuity</a:t>
            </a:r>
          </a:p>
        </p:txBody>
      </p:sp>
      <p:sp>
        <p:nvSpPr>
          <p:cNvPr id="2056" name="Text Box 8"/>
          <p:cNvSpPr txBox="1">
            <a:spLocks noChangeArrowheads="1"/>
          </p:cNvSpPr>
          <p:nvPr/>
        </p:nvSpPr>
        <p:spPr bwMode="auto">
          <a:xfrm>
            <a:off x="6289675" y="4578350"/>
            <a:ext cx="260039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illumination discontinuity</a:t>
            </a:r>
          </a:p>
        </p:txBody>
      </p:sp>
      <p:sp>
        <p:nvSpPr>
          <p:cNvPr id="2057" name="Text Box 9"/>
          <p:cNvSpPr txBox="1">
            <a:spLocks noChangeArrowheads="1"/>
          </p:cNvSpPr>
          <p:nvPr/>
        </p:nvSpPr>
        <p:spPr bwMode="auto">
          <a:xfrm>
            <a:off x="6289676" y="2628900"/>
            <a:ext cx="290977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surface normal discontinuity</a:t>
            </a:r>
          </a:p>
        </p:txBody>
      </p:sp>
      <p:sp>
        <p:nvSpPr>
          <p:cNvPr id="2058" name="Text Box 12"/>
          <p:cNvSpPr txBox="1">
            <a:spLocks noChangeArrowheads="1"/>
          </p:cNvSpPr>
          <p:nvPr/>
        </p:nvSpPr>
        <p:spPr bwMode="auto">
          <a:xfrm>
            <a:off x="8763000" y="6477000"/>
            <a:ext cx="1841500" cy="2746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200"/>
              <a:t>Source: Steve Seitz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CC1116-9F69-1CA4-3195-8CE5EAB1A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Edge Detection</a:t>
            </a:r>
          </a:p>
        </p:txBody>
      </p:sp>
      <p:sp>
        <p:nvSpPr>
          <p:cNvPr id="8195" name="Rectangle 2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en-US" dirty="0"/>
              <a:t>An edge is a place of rapid change in the image intensity function</a:t>
            </a:r>
          </a:p>
        </p:txBody>
      </p:sp>
      <p:pic>
        <p:nvPicPr>
          <p:cNvPr id="8196" name="Picture 10" descr="step_edge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2600" y="2895600"/>
            <a:ext cx="2743200" cy="2082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8197" name="Line 21"/>
          <p:cNvSpPr>
            <a:spLocks noChangeShapeType="1"/>
          </p:cNvSpPr>
          <p:nvPr/>
        </p:nvSpPr>
        <p:spPr bwMode="auto">
          <a:xfrm>
            <a:off x="1752600" y="3962400"/>
            <a:ext cx="2743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198" name="Text Box 22"/>
          <p:cNvSpPr txBox="1">
            <a:spLocks noChangeArrowheads="1"/>
          </p:cNvSpPr>
          <p:nvPr/>
        </p:nvSpPr>
        <p:spPr bwMode="auto">
          <a:xfrm>
            <a:off x="2681026" y="2514601"/>
            <a:ext cx="84189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image</a:t>
            </a:r>
          </a:p>
        </p:txBody>
      </p:sp>
      <p:grpSp>
        <p:nvGrpSpPr>
          <p:cNvPr id="2" name="Group 31"/>
          <p:cNvGrpSpPr>
            <a:grpSpLocks/>
          </p:cNvGrpSpPr>
          <p:nvPr/>
        </p:nvGrpSpPr>
        <p:grpSpPr bwMode="auto">
          <a:xfrm>
            <a:off x="4573588" y="2254250"/>
            <a:ext cx="2998788" cy="2725738"/>
            <a:chOff x="1921" y="1420"/>
            <a:chExt cx="1889" cy="1717"/>
          </a:xfrm>
        </p:grpSpPr>
        <p:sp>
          <p:nvSpPr>
            <p:cNvPr id="8210" name="Rectangle 11"/>
            <p:cNvSpPr>
              <a:spLocks noChangeArrowheads="1"/>
            </p:cNvSpPr>
            <p:nvPr/>
          </p:nvSpPr>
          <p:spPr bwMode="auto">
            <a:xfrm>
              <a:off x="2016" y="1824"/>
              <a:ext cx="1727" cy="131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8211" name="Freeform 12"/>
            <p:cNvSpPr>
              <a:spLocks/>
            </p:cNvSpPr>
            <p:nvPr/>
          </p:nvSpPr>
          <p:spPr bwMode="auto">
            <a:xfrm>
              <a:off x="2016" y="2016"/>
              <a:ext cx="912" cy="1015"/>
            </a:xfrm>
            <a:custGeom>
              <a:avLst/>
              <a:gdLst>
                <a:gd name="T0" fmla="*/ 0 w 912"/>
                <a:gd name="T1" fmla="*/ 0 h 1015"/>
                <a:gd name="T2" fmla="*/ 316 w 912"/>
                <a:gd name="T3" fmla="*/ 0 h 1015"/>
                <a:gd name="T4" fmla="*/ 435 w 912"/>
                <a:gd name="T5" fmla="*/ 129 h 1015"/>
                <a:gd name="T6" fmla="*/ 492 w 912"/>
                <a:gd name="T7" fmla="*/ 579 h 1015"/>
                <a:gd name="T8" fmla="*/ 549 w 912"/>
                <a:gd name="T9" fmla="*/ 927 h 1015"/>
                <a:gd name="T10" fmla="*/ 660 w 912"/>
                <a:gd name="T11" fmla="*/ 1008 h 1015"/>
                <a:gd name="T12" fmla="*/ 912 w 912"/>
                <a:gd name="T13" fmla="*/ 1014 h 10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12"/>
                <a:gd name="T22" fmla="*/ 0 h 1015"/>
                <a:gd name="T23" fmla="*/ 912 w 912"/>
                <a:gd name="T24" fmla="*/ 1015 h 101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12" h="1015">
                  <a:moveTo>
                    <a:pt x="0" y="0"/>
                  </a:moveTo>
                  <a:cubicBezTo>
                    <a:pt x="0" y="0"/>
                    <a:pt x="252" y="0"/>
                    <a:pt x="316" y="0"/>
                  </a:cubicBezTo>
                  <a:cubicBezTo>
                    <a:pt x="380" y="0"/>
                    <a:pt x="405" y="28"/>
                    <a:pt x="435" y="129"/>
                  </a:cubicBezTo>
                  <a:cubicBezTo>
                    <a:pt x="465" y="230"/>
                    <a:pt x="480" y="444"/>
                    <a:pt x="492" y="579"/>
                  </a:cubicBezTo>
                  <a:cubicBezTo>
                    <a:pt x="504" y="714"/>
                    <a:pt x="521" y="856"/>
                    <a:pt x="549" y="927"/>
                  </a:cubicBezTo>
                  <a:cubicBezTo>
                    <a:pt x="577" y="998"/>
                    <a:pt x="602" y="1001"/>
                    <a:pt x="660" y="1008"/>
                  </a:cubicBezTo>
                  <a:cubicBezTo>
                    <a:pt x="718" y="1015"/>
                    <a:pt x="860" y="1013"/>
                    <a:pt x="912" y="1014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8212" name="Freeform 15"/>
            <p:cNvSpPr>
              <a:spLocks/>
            </p:cNvSpPr>
            <p:nvPr/>
          </p:nvSpPr>
          <p:spPr bwMode="auto">
            <a:xfrm flipH="1">
              <a:off x="2832" y="2016"/>
              <a:ext cx="912" cy="1015"/>
            </a:xfrm>
            <a:custGeom>
              <a:avLst/>
              <a:gdLst>
                <a:gd name="T0" fmla="*/ 0 w 912"/>
                <a:gd name="T1" fmla="*/ 0 h 1015"/>
                <a:gd name="T2" fmla="*/ 316 w 912"/>
                <a:gd name="T3" fmla="*/ 0 h 1015"/>
                <a:gd name="T4" fmla="*/ 435 w 912"/>
                <a:gd name="T5" fmla="*/ 129 h 1015"/>
                <a:gd name="T6" fmla="*/ 492 w 912"/>
                <a:gd name="T7" fmla="*/ 579 h 1015"/>
                <a:gd name="T8" fmla="*/ 549 w 912"/>
                <a:gd name="T9" fmla="*/ 927 h 1015"/>
                <a:gd name="T10" fmla="*/ 660 w 912"/>
                <a:gd name="T11" fmla="*/ 1008 h 1015"/>
                <a:gd name="T12" fmla="*/ 912 w 912"/>
                <a:gd name="T13" fmla="*/ 1014 h 10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12"/>
                <a:gd name="T22" fmla="*/ 0 h 1015"/>
                <a:gd name="T23" fmla="*/ 912 w 912"/>
                <a:gd name="T24" fmla="*/ 1015 h 101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12" h="1015">
                  <a:moveTo>
                    <a:pt x="0" y="0"/>
                  </a:moveTo>
                  <a:cubicBezTo>
                    <a:pt x="0" y="0"/>
                    <a:pt x="252" y="0"/>
                    <a:pt x="316" y="0"/>
                  </a:cubicBezTo>
                  <a:cubicBezTo>
                    <a:pt x="380" y="0"/>
                    <a:pt x="405" y="28"/>
                    <a:pt x="435" y="129"/>
                  </a:cubicBezTo>
                  <a:cubicBezTo>
                    <a:pt x="465" y="230"/>
                    <a:pt x="480" y="444"/>
                    <a:pt x="492" y="579"/>
                  </a:cubicBezTo>
                  <a:cubicBezTo>
                    <a:pt x="504" y="714"/>
                    <a:pt x="521" y="856"/>
                    <a:pt x="549" y="927"/>
                  </a:cubicBezTo>
                  <a:cubicBezTo>
                    <a:pt x="577" y="998"/>
                    <a:pt x="602" y="1001"/>
                    <a:pt x="660" y="1008"/>
                  </a:cubicBezTo>
                  <a:cubicBezTo>
                    <a:pt x="718" y="1015"/>
                    <a:pt x="860" y="1013"/>
                    <a:pt x="912" y="1014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8213" name="Text Box 24"/>
            <p:cNvSpPr txBox="1">
              <a:spLocks noChangeArrowheads="1"/>
            </p:cNvSpPr>
            <p:nvPr/>
          </p:nvSpPr>
          <p:spPr bwMode="auto">
            <a:xfrm>
              <a:off x="1921" y="1420"/>
              <a:ext cx="1889" cy="4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80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intensity function</a:t>
              </a:r>
              <a:br>
                <a:rPr lang="en-US" sz="180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</a:br>
              <a:r>
                <a:rPr lang="en-US" sz="180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(along horizontal scanline)</a:t>
              </a:r>
            </a:p>
          </p:txBody>
        </p:sp>
      </p:grpSp>
      <p:grpSp>
        <p:nvGrpSpPr>
          <p:cNvPr id="3" name="Group 32"/>
          <p:cNvGrpSpPr>
            <a:grpSpLocks/>
          </p:cNvGrpSpPr>
          <p:nvPr/>
        </p:nvGrpSpPr>
        <p:grpSpPr bwMode="auto">
          <a:xfrm>
            <a:off x="7696200" y="2528888"/>
            <a:ext cx="2743200" cy="2451100"/>
            <a:chOff x="3888" y="1593"/>
            <a:chExt cx="1728" cy="1544"/>
          </a:xfrm>
        </p:grpSpPr>
        <p:sp>
          <p:nvSpPr>
            <p:cNvPr id="8205" name="Rectangle 16"/>
            <p:cNvSpPr>
              <a:spLocks noChangeArrowheads="1"/>
            </p:cNvSpPr>
            <p:nvPr/>
          </p:nvSpPr>
          <p:spPr bwMode="auto">
            <a:xfrm>
              <a:off x="3888" y="1824"/>
              <a:ext cx="1727" cy="131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grpSp>
          <p:nvGrpSpPr>
            <p:cNvPr id="8206" name="Group 19"/>
            <p:cNvGrpSpPr>
              <a:grpSpLocks/>
            </p:cNvGrpSpPr>
            <p:nvPr/>
          </p:nvGrpSpPr>
          <p:grpSpPr bwMode="auto">
            <a:xfrm>
              <a:off x="3888" y="1854"/>
              <a:ext cx="1728" cy="1248"/>
              <a:chOff x="3888" y="2640"/>
              <a:chExt cx="1728" cy="1248"/>
            </a:xfrm>
          </p:grpSpPr>
          <p:sp>
            <p:nvSpPr>
              <p:cNvPr id="8208" name="Freeform 17"/>
              <p:cNvSpPr>
                <a:spLocks/>
              </p:cNvSpPr>
              <p:nvPr/>
            </p:nvSpPr>
            <p:spPr bwMode="auto">
              <a:xfrm>
                <a:off x="3888" y="3264"/>
                <a:ext cx="909" cy="624"/>
              </a:xfrm>
              <a:custGeom>
                <a:avLst/>
                <a:gdLst>
                  <a:gd name="T0" fmla="*/ 0 w 909"/>
                  <a:gd name="T1" fmla="*/ 0 h 630"/>
                  <a:gd name="T2" fmla="*/ 288 w 909"/>
                  <a:gd name="T3" fmla="*/ 6 h 630"/>
                  <a:gd name="T4" fmla="*/ 354 w 909"/>
                  <a:gd name="T5" fmla="*/ 81 h 630"/>
                  <a:gd name="T6" fmla="*/ 399 w 909"/>
                  <a:gd name="T7" fmla="*/ 417 h 630"/>
                  <a:gd name="T8" fmla="*/ 459 w 909"/>
                  <a:gd name="T9" fmla="*/ 612 h 630"/>
                  <a:gd name="T10" fmla="*/ 528 w 909"/>
                  <a:gd name="T11" fmla="*/ 420 h 630"/>
                  <a:gd name="T12" fmla="*/ 564 w 909"/>
                  <a:gd name="T13" fmla="*/ 93 h 630"/>
                  <a:gd name="T14" fmla="*/ 642 w 909"/>
                  <a:gd name="T15" fmla="*/ 15 h 630"/>
                  <a:gd name="T16" fmla="*/ 909 w 909"/>
                  <a:gd name="T17" fmla="*/ 3 h 63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909"/>
                  <a:gd name="T28" fmla="*/ 0 h 630"/>
                  <a:gd name="T29" fmla="*/ 909 w 909"/>
                  <a:gd name="T30" fmla="*/ 630 h 630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909" h="630">
                    <a:moveTo>
                      <a:pt x="0" y="0"/>
                    </a:moveTo>
                    <a:cubicBezTo>
                      <a:pt x="48" y="1"/>
                      <a:pt x="231" y="0"/>
                      <a:pt x="288" y="6"/>
                    </a:cubicBezTo>
                    <a:cubicBezTo>
                      <a:pt x="345" y="12"/>
                      <a:pt x="351" y="57"/>
                      <a:pt x="354" y="84"/>
                    </a:cubicBezTo>
                    <a:cubicBezTo>
                      <a:pt x="357" y="111"/>
                      <a:pt x="382" y="338"/>
                      <a:pt x="399" y="429"/>
                    </a:cubicBezTo>
                    <a:cubicBezTo>
                      <a:pt x="416" y="520"/>
                      <a:pt x="438" y="630"/>
                      <a:pt x="459" y="630"/>
                    </a:cubicBezTo>
                    <a:cubicBezTo>
                      <a:pt x="483" y="630"/>
                      <a:pt x="504" y="536"/>
                      <a:pt x="528" y="432"/>
                    </a:cubicBezTo>
                    <a:cubicBezTo>
                      <a:pt x="546" y="343"/>
                      <a:pt x="545" y="165"/>
                      <a:pt x="564" y="96"/>
                    </a:cubicBezTo>
                    <a:cubicBezTo>
                      <a:pt x="581" y="24"/>
                      <a:pt x="585" y="28"/>
                      <a:pt x="642" y="15"/>
                    </a:cubicBezTo>
                    <a:cubicBezTo>
                      <a:pt x="699" y="2"/>
                      <a:pt x="854" y="5"/>
                      <a:pt x="909" y="3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8209" name="Freeform 18"/>
              <p:cNvSpPr>
                <a:spLocks/>
              </p:cNvSpPr>
              <p:nvPr/>
            </p:nvSpPr>
            <p:spPr bwMode="auto">
              <a:xfrm flipV="1">
                <a:off x="4707" y="2640"/>
                <a:ext cx="909" cy="624"/>
              </a:xfrm>
              <a:custGeom>
                <a:avLst/>
                <a:gdLst>
                  <a:gd name="T0" fmla="*/ 0 w 909"/>
                  <a:gd name="T1" fmla="*/ 0 h 630"/>
                  <a:gd name="T2" fmla="*/ 288 w 909"/>
                  <a:gd name="T3" fmla="*/ 6 h 630"/>
                  <a:gd name="T4" fmla="*/ 354 w 909"/>
                  <a:gd name="T5" fmla="*/ 81 h 630"/>
                  <a:gd name="T6" fmla="*/ 399 w 909"/>
                  <a:gd name="T7" fmla="*/ 417 h 630"/>
                  <a:gd name="T8" fmla="*/ 459 w 909"/>
                  <a:gd name="T9" fmla="*/ 612 h 630"/>
                  <a:gd name="T10" fmla="*/ 528 w 909"/>
                  <a:gd name="T11" fmla="*/ 420 h 630"/>
                  <a:gd name="T12" fmla="*/ 564 w 909"/>
                  <a:gd name="T13" fmla="*/ 93 h 630"/>
                  <a:gd name="T14" fmla="*/ 642 w 909"/>
                  <a:gd name="T15" fmla="*/ 15 h 630"/>
                  <a:gd name="T16" fmla="*/ 909 w 909"/>
                  <a:gd name="T17" fmla="*/ 3 h 63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909"/>
                  <a:gd name="T28" fmla="*/ 0 h 630"/>
                  <a:gd name="T29" fmla="*/ 909 w 909"/>
                  <a:gd name="T30" fmla="*/ 630 h 630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909" h="630">
                    <a:moveTo>
                      <a:pt x="0" y="0"/>
                    </a:moveTo>
                    <a:cubicBezTo>
                      <a:pt x="48" y="1"/>
                      <a:pt x="231" y="0"/>
                      <a:pt x="288" y="6"/>
                    </a:cubicBezTo>
                    <a:cubicBezTo>
                      <a:pt x="345" y="12"/>
                      <a:pt x="351" y="57"/>
                      <a:pt x="354" y="84"/>
                    </a:cubicBezTo>
                    <a:cubicBezTo>
                      <a:pt x="357" y="111"/>
                      <a:pt x="382" y="338"/>
                      <a:pt x="399" y="429"/>
                    </a:cubicBezTo>
                    <a:cubicBezTo>
                      <a:pt x="416" y="520"/>
                      <a:pt x="438" y="630"/>
                      <a:pt x="459" y="630"/>
                    </a:cubicBezTo>
                    <a:cubicBezTo>
                      <a:pt x="483" y="630"/>
                      <a:pt x="504" y="536"/>
                      <a:pt x="528" y="432"/>
                    </a:cubicBezTo>
                    <a:cubicBezTo>
                      <a:pt x="546" y="343"/>
                      <a:pt x="545" y="165"/>
                      <a:pt x="564" y="96"/>
                    </a:cubicBezTo>
                    <a:cubicBezTo>
                      <a:pt x="581" y="24"/>
                      <a:pt x="585" y="28"/>
                      <a:pt x="642" y="15"/>
                    </a:cubicBezTo>
                    <a:cubicBezTo>
                      <a:pt x="699" y="2"/>
                      <a:pt x="854" y="5"/>
                      <a:pt x="909" y="3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sp>
          <p:nvSpPr>
            <p:cNvPr id="8207" name="Text Box 25"/>
            <p:cNvSpPr txBox="1">
              <a:spLocks noChangeArrowheads="1"/>
            </p:cNvSpPr>
            <p:nvPr/>
          </p:nvSpPr>
          <p:spPr bwMode="auto">
            <a:xfrm>
              <a:off x="4177" y="1593"/>
              <a:ext cx="1083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80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first derivative</a:t>
              </a:r>
            </a:p>
          </p:txBody>
        </p:sp>
      </p:grpSp>
      <p:grpSp>
        <p:nvGrpSpPr>
          <p:cNvPr id="5" name="Group 33"/>
          <p:cNvGrpSpPr>
            <a:grpSpLocks/>
          </p:cNvGrpSpPr>
          <p:nvPr/>
        </p:nvGrpSpPr>
        <p:grpSpPr bwMode="auto">
          <a:xfrm>
            <a:off x="7934326" y="3276601"/>
            <a:ext cx="2462213" cy="3205163"/>
            <a:chOff x="4038" y="2064"/>
            <a:chExt cx="1551" cy="2019"/>
          </a:xfrm>
        </p:grpSpPr>
        <p:sp>
          <p:nvSpPr>
            <p:cNvPr id="8202" name="Line 28"/>
            <p:cNvSpPr>
              <a:spLocks noChangeShapeType="1"/>
            </p:cNvSpPr>
            <p:nvPr/>
          </p:nvSpPr>
          <p:spPr bwMode="auto">
            <a:xfrm flipH="1" flipV="1">
              <a:off x="4368" y="3168"/>
              <a:ext cx="144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8203" name="Line 29"/>
            <p:cNvSpPr>
              <a:spLocks noChangeShapeType="1"/>
            </p:cNvSpPr>
            <p:nvPr/>
          </p:nvSpPr>
          <p:spPr bwMode="auto">
            <a:xfrm flipV="1">
              <a:off x="5040" y="2064"/>
              <a:ext cx="144" cy="16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8204" name="Text Box 30"/>
            <p:cNvSpPr txBox="1">
              <a:spLocks noChangeArrowheads="1"/>
            </p:cNvSpPr>
            <p:nvPr/>
          </p:nvSpPr>
          <p:spPr bwMode="auto">
            <a:xfrm>
              <a:off x="4038" y="3676"/>
              <a:ext cx="1551" cy="4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80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edges correspond to</a:t>
              </a:r>
              <a:br>
                <a:rPr lang="en-US" sz="180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</a:br>
              <a:r>
                <a:rPr lang="en-US" sz="180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extrema of derivative</a:t>
              </a:r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8414A5-D859-98E9-21CE-3E193906D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>
          <a:xfrm>
            <a:off x="2152650" y="0"/>
            <a:ext cx="7772400" cy="1143000"/>
          </a:xfrm>
        </p:spPr>
        <p:txBody>
          <a:bodyPr/>
          <a:lstStyle/>
          <a:p>
            <a:r>
              <a:rPr lang="en-US" sz="4000" dirty="0"/>
              <a:t>Derivatives with Convolution</a:t>
            </a:r>
          </a:p>
        </p:txBody>
      </p:sp>
      <p:sp>
        <p:nvSpPr>
          <p:cNvPr id="666627" name="Rectangle 3"/>
          <p:cNvSpPr>
            <a:spLocks noGrp="1" noChangeArrowheads="1"/>
          </p:cNvSpPr>
          <p:nvPr>
            <p:ph idx="1"/>
          </p:nvPr>
        </p:nvSpPr>
        <p:spPr>
          <a:xfrm>
            <a:off x="1970089" y="1238250"/>
            <a:ext cx="8142287" cy="4114800"/>
          </a:xfrm>
        </p:spPr>
        <p:txBody>
          <a:bodyPr/>
          <a:lstStyle/>
          <a:p>
            <a:pPr marL="0" indent="0"/>
            <a:r>
              <a:rPr lang="en-US" sz="2400" dirty="0"/>
              <a:t>For 2D function </a:t>
            </a:r>
            <a:r>
              <a:rPr lang="en-US" sz="2400" dirty="0">
                <a:solidFill>
                  <a:srgbClr val="0000FF"/>
                </a:solidFill>
              </a:rPr>
              <a:t>f(</a:t>
            </a:r>
            <a:r>
              <a:rPr lang="en-US" sz="2400" dirty="0" err="1">
                <a:solidFill>
                  <a:srgbClr val="0000FF"/>
                </a:solidFill>
              </a:rPr>
              <a:t>x,y</a:t>
            </a:r>
            <a:r>
              <a:rPr lang="en-US" sz="2400" dirty="0">
                <a:solidFill>
                  <a:srgbClr val="0000FF"/>
                </a:solidFill>
              </a:rPr>
              <a:t>)</a:t>
            </a:r>
            <a:r>
              <a:rPr lang="en-US" sz="2400" dirty="0"/>
              <a:t>, the partial derivative is:</a:t>
            </a:r>
          </a:p>
          <a:p>
            <a:pPr marL="0" indent="0"/>
            <a:endParaRPr lang="en-US" sz="2400" dirty="0"/>
          </a:p>
          <a:p>
            <a:pPr marL="0" indent="0"/>
            <a:endParaRPr lang="en-US" sz="2400" dirty="0"/>
          </a:p>
          <a:p>
            <a:pPr marL="0" indent="0"/>
            <a:endParaRPr lang="en-US" sz="2400" dirty="0"/>
          </a:p>
          <a:p>
            <a:pPr marL="0" indent="0"/>
            <a:endParaRPr lang="en-US" sz="1000" dirty="0"/>
          </a:p>
          <a:p>
            <a:pPr marL="0" indent="0"/>
            <a:r>
              <a:rPr lang="en-US" sz="2400" dirty="0"/>
              <a:t>For discrete data, we can approximate using finite differences:</a:t>
            </a:r>
          </a:p>
          <a:p>
            <a:pPr marL="0" indent="0"/>
            <a:endParaRPr lang="en-US" sz="2400" dirty="0"/>
          </a:p>
          <a:p>
            <a:pPr marL="0" indent="0"/>
            <a:endParaRPr lang="en-US" sz="2400" dirty="0"/>
          </a:p>
          <a:p>
            <a:pPr marL="0" indent="0"/>
            <a:endParaRPr lang="en-US" sz="2400" dirty="0"/>
          </a:p>
          <a:p>
            <a:pPr marL="0" indent="0"/>
            <a:r>
              <a:rPr lang="en-US" sz="2400" dirty="0"/>
              <a:t>To implement the above as convolution, what would be </a:t>
            </a:r>
            <a:br>
              <a:rPr lang="en-US" sz="2400" dirty="0"/>
            </a:br>
            <a:r>
              <a:rPr lang="en-US" sz="2400" dirty="0"/>
              <a:t>the associated filter?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22" name="Object 16"/>
              <p:cNvSpPr txBox="1"/>
              <p:nvPr/>
            </p:nvSpPr>
            <p:spPr bwMode="auto">
              <a:xfrm>
                <a:off x="2700338" y="1911582"/>
                <a:ext cx="5694362" cy="103187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)−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122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00338" y="1911582"/>
                <a:ext cx="5694362" cy="10318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6641" name="Object 17"/>
              <p:cNvSpPr txBox="1"/>
              <p:nvPr/>
            </p:nvSpPr>
            <p:spPr bwMode="auto">
              <a:xfrm>
                <a:off x="2700338" y="4076701"/>
                <a:ext cx="5027612" cy="103187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+1,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)−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66641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00338" y="4076701"/>
                <a:ext cx="5027612" cy="10318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Box 15"/>
          <p:cNvSpPr txBox="1">
            <a:spLocks noChangeArrowheads="1"/>
          </p:cNvSpPr>
          <p:nvPr/>
        </p:nvSpPr>
        <p:spPr bwMode="auto">
          <a:xfrm>
            <a:off x="8839200" y="6477001"/>
            <a:ext cx="1765300" cy="27699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200" dirty="0"/>
              <a:t>Source: K. </a:t>
            </a:r>
            <a:r>
              <a:rPr lang="en-US" sz="1200" dirty="0" err="1"/>
              <a:t>Grauman</a:t>
            </a:r>
            <a:endParaRPr lang="en-US" sz="1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2EE50C-67A2-9FF2-AF0F-F735F30F3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2"/>
          <p:cNvPicPr>
            <a:picLocks noChangeAspect="1" noChangeArrowheads="1"/>
          </p:cNvPicPr>
          <p:nvPr/>
        </p:nvPicPr>
        <p:blipFill>
          <a:blip r:embed="rId3" cstate="print"/>
          <a:srcRect t="49619"/>
          <a:stretch>
            <a:fillRect/>
          </a:stretch>
        </p:blipFill>
        <p:spPr bwMode="auto">
          <a:xfrm>
            <a:off x="3340100" y="3429001"/>
            <a:ext cx="5614988" cy="2517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9" name="Title 1"/>
          <p:cNvSpPr>
            <a:spLocks noGrp="1"/>
          </p:cNvSpPr>
          <p:nvPr>
            <p:ph type="title"/>
          </p:nvPr>
        </p:nvSpPr>
        <p:spPr>
          <a:xfrm>
            <a:off x="1933575" y="0"/>
            <a:ext cx="8229600" cy="1143000"/>
          </a:xfrm>
        </p:spPr>
        <p:txBody>
          <a:bodyPr/>
          <a:lstStyle/>
          <a:p>
            <a:pPr eaLnBrk="1" hangingPunct="1"/>
            <a:r>
              <a:rPr lang="en-US" sz="4000" dirty="0"/>
              <a:t>Partial Derivatives of an Image</a:t>
            </a:r>
          </a:p>
        </p:txBody>
      </p:sp>
      <p:pic>
        <p:nvPicPr>
          <p:cNvPr id="6150" name="Picture 2"/>
          <p:cNvPicPr>
            <a:picLocks noChangeAspect="1" noChangeArrowheads="1"/>
          </p:cNvPicPr>
          <p:nvPr/>
        </p:nvPicPr>
        <p:blipFill>
          <a:blip r:embed="rId3" cstate="print"/>
          <a:srcRect l="48772" t="2193" r="5710" b="50317"/>
          <a:stretch>
            <a:fillRect/>
          </a:stretch>
        </p:blipFill>
        <p:spPr bwMode="auto">
          <a:xfrm>
            <a:off x="12366625" y="1384301"/>
            <a:ext cx="2555875" cy="2373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51" name="TextBox 4"/>
          <p:cNvSpPr txBox="1">
            <a:spLocks noChangeArrowheads="1"/>
          </p:cNvSpPr>
          <p:nvPr/>
        </p:nvSpPr>
        <p:spPr bwMode="auto">
          <a:xfrm>
            <a:off x="3000376" y="5939136"/>
            <a:ext cx="629602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cs typeface="+mn-cs"/>
              </a:rPr>
              <a:t>Which shows changes with respect to </a:t>
            </a:r>
            <a:r>
              <a:rPr lang="en-US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cs typeface="+mn-cs"/>
              </a:rPr>
              <a:t>?</a:t>
            </a:r>
          </a:p>
        </p:txBody>
      </p:sp>
      <p:pic>
        <p:nvPicPr>
          <p:cNvPr id="6152" name="Picture 2"/>
          <p:cNvPicPr>
            <a:picLocks noChangeAspect="1" noChangeArrowheads="1"/>
          </p:cNvPicPr>
          <p:nvPr/>
        </p:nvPicPr>
        <p:blipFill>
          <a:blip r:embed="rId3" cstate="print"/>
          <a:srcRect t="2129" r="51144" b="50381"/>
          <a:stretch>
            <a:fillRect/>
          </a:stretch>
        </p:blipFill>
        <p:spPr bwMode="auto">
          <a:xfrm>
            <a:off x="4800600" y="982663"/>
            <a:ext cx="2743200" cy="2373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28"/>
          <p:cNvGrpSpPr>
            <a:grpSpLocks/>
          </p:cNvGrpSpPr>
          <p:nvPr/>
        </p:nvGrpSpPr>
        <p:grpSpPr bwMode="auto">
          <a:xfrm>
            <a:off x="8780464" y="4676775"/>
            <a:ext cx="547687" cy="1016000"/>
            <a:chOff x="4097330" y="1789047"/>
            <a:chExt cx="547696" cy="1015663"/>
          </a:xfrm>
        </p:grpSpPr>
        <p:sp>
          <p:nvSpPr>
            <p:cNvPr id="6163" name="TextBox 25"/>
            <p:cNvSpPr txBox="1">
              <a:spLocks noChangeArrowheads="1"/>
            </p:cNvSpPr>
            <p:nvPr/>
          </p:nvSpPr>
          <p:spPr bwMode="auto">
            <a:xfrm>
              <a:off x="4097331" y="1789047"/>
              <a:ext cx="547695" cy="1015663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 rtl="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3000" b="1" dirty="0">
                  <a:solidFill>
                    <a:srgbClr val="000000"/>
                  </a:solidFill>
                  <a:latin typeface="Arial" pitchFamily="34" charset="0"/>
                  <a:cs typeface="+mn-cs"/>
                </a:rPr>
                <a:t>-1     1</a:t>
              </a:r>
            </a:p>
          </p:txBody>
        </p:sp>
        <p:cxnSp>
          <p:nvCxnSpPr>
            <p:cNvPr id="6164" name="Straight Connector 27"/>
            <p:cNvCxnSpPr>
              <a:cxnSpLocks noChangeShapeType="1"/>
              <a:stCxn id="6163" idx="1"/>
              <a:endCxn id="6163" idx="3"/>
            </p:cNvCxnSpPr>
            <p:nvPr/>
          </p:nvCxnSpPr>
          <p:spPr bwMode="auto">
            <a:xfrm rot="10800000" flipH="1">
              <a:off x="4097330" y="2296879"/>
              <a:ext cx="547695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</p:grpSp>
      <p:grpSp>
        <p:nvGrpSpPr>
          <p:cNvPr id="3" name="Group 28"/>
          <p:cNvGrpSpPr>
            <a:grpSpLocks/>
          </p:cNvGrpSpPr>
          <p:nvPr/>
        </p:nvGrpSpPr>
        <p:grpSpPr bwMode="auto">
          <a:xfrm>
            <a:off x="9929814" y="4676775"/>
            <a:ext cx="547687" cy="1016000"/>
            <a:chOff x="4097330" y="1789047"/>
            <a:chExt cx="547696" cy="1015663"/>
          </a:xfrm>
        </p:grpSpPr>
        <p:sp>
          <p:nvSpPr>
            <p:cNvPr id="6161" name="TextBox 25"/>
            <p:cNvSpPr txBox="1">
              <a:spLocks noChangeArrowheads="1"/>
            </p:cNvSpPr>
            <p:nvPr/>
          </p:nvSpPr>
          <p:spPr bwMode="auto">
            <a:xfrm>
              <a:off x="4097331" y="1789047"/>
              <a:ext cx="547695" cy="1015663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 rtl="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3000" b="1" dirty="0">
                  <a:solidFill>
                    <a:srgbClr val="000000"/>
                  </a:solidFill>
                  <a:latin typeface="Arial" pitchFamily="34" charset="0"/>
                  <a:cs typeface="+mn-cs"/>
                </a:rPr>
                <a:t>1     -1</a:t>
              </a:r>
            </a:p>
          </p:txBody>
        </p:sp>
        <p:cxnSp>
          <p:nvCxnSpPr>
            <p:cNvPr id="6162" name="Straight Connector 27"/>
            <p:cNvCxnSpPr>
              <a:cxnSpLocks noChangeShapeType="1"/>
              <a:stCxn id="6161" idx="1"/>
              <a:endCxn id="6161" idx="3"/>
            </p:cNvCxnSpPr>
            <p:nvPr/>
          </p:nvCxnSpPr>
          <p:spPr bwMode="auto">
            <a:xfrm rot="10800000" flipH="1">
              <a:off x="4097330" y="2296879"/>
              <a:ext cx="547695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</p:grp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9345613" y="5005389"/>
            <a:ext cx="8763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srgbClr val="000000"/>
                </a:solidFill>
                <a:latin typeface="Arial" pitchFamily="34" charset="0"/>
                <a:cs typeface="+mn-cs"/>
              </a:rPr>
              <a:t>or</a:t>
            </a:r>
          </a:p>
        </p:txBody>
      </p:sp>
      <p:grpSp>
        <p:nvGrpSpPr>
          <p:cNvPr id="4" name="Group 16"/>
          <p:cNvGrpSpPr>
            <a:grpSpLocks/>
          </p:cNvGrpSpPr>
          <p:nvPr/>
        </p:nvGrpSpPr>
        <p:grpSpPr bwMode="auto">
          <a:xfrm>
            <a:off x="1860550" y="4999039"/>
            <a:ext cx="1168400" cy="554037"/>
            <a:chOff x="336492" y="4999059"/>
            <a:chExt cx="1168400" cy="554038"/>
          </a:xfrm>
        </p:grpSpPr>
        <p:sp>
          <p:nvSpPr>
            <p:cNvPr id="6159" name="TextBox 14"/>
            <p:cNvSpPr txBox="1">
              <a:spLocks noChangeArrowheads="1"/>
            </p:cNvSpPr>
            <p:nvPr/>
          </p:nvSpPr>
          <p:spPr bwMode="auto">
            <a:xfrm>
              <a:off x="336492" y="4999059"/>
              <a:ext cx="1168400" cy="554038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3000" b="1">
                  <a:solidFill>
                    <a:srgbClr val="000000"/>
                  </a:solidFill>
                  <a:latin typeface="Arial" pitchFamily="34" charset="0"/>
                  <a:cs typeface="+mn-cs"/>
                </a:rPr>
                <a:t>-1    1</a:t>
              </a:r>
            </a:p>
          </p:txBody>
        </p:sp>
        <p:cxnSp>
          <p:nvCxnSpPr>
            <p:cNvPr id="6160" name="Straight Connector 15"/>
            <p:cNvCxnSpPr>
              <a:cxnSpLocks noChangeShapeType="1"/>
              <a:stCxn id="6159" idx="0"/>
              <a:endCxn id="6159" idx="2"/>
            </p:cNvCxnSpPr>
            <p:nvPr/>
          </p:nvCxnSpPr>
          <p:spPr bwMode="auto">
            <a:xfrm rot="16200000" flipH="1">
              <a:off x="644467" y="5275284"/>
              <a:ext cx="554038" cy="1587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</p:grpSp>
      <p:graphicFrame>
        <p:nvGraphicFramePr>
          <p:cNvPr id="10754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1664890"/>
              </p:ext>
            </p:extLst>
          </p:nvPr>
        </p:nvGraphicFramePr>
        <p:xfrm>
          <a:off x="1824038" y="2765425"/>
          <a:ext cx="1431925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45760" imgH="419040" progId="Equation.3">
                  <p:embed/>
                </p:oleObj>
              </mc:Choice>
              <mc:Fallback>
                <p:oleObj name="Equation" r:id="rId4" imgW="545760" imgH="419040" progId="Equation.3">
                  <p:embed/>
                  <p:pic>
                    <p:nvPicPr>
                      <p:cNvPr id="107542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4038" y="2765425"/>
                        <a:ext cx="1431925" cy="1098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0816177"/>
              </p:ext>
            </p:extLst>
          </p:nvPr>
        </p:nvGraphicFramePr>
        <p:xfrm>
          <a:off x="8870950" y="2841625"/>
          <a:ext cx="1431925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45760" imgH="393480" progId="Equation.3">
                  <p:embed/>
                </p:oleObj>
              </mc:Choice>
              <mc:Fallback>
                <p:oleObj name="Equation" r:id="rId6" imgW="545760" imgH="393480" progId="Equation.3">
                  <p:embed/>
                  <p:pic>
                    <p:nvPicPr>
                      <p:cNvPr id="10650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70950" y="2841625"/>
                        <a:ext cx="1431925" cy="1031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Group 10"/>
          <p:cNvGrpSpPr/>
          <p:nvPr/>
        </p:nvGrpSpPr>
        <p:grpSpPr>
          <a:xfrm>
            <a:off x="496888" y="1199635"/>
            <a:ext cx="1561528" cy="1599129"/>
            <a:chOff x="496888" y="1199635"/>
            <a:chExt cx="1561528" cy="1599129"/>
          </a:xfrm>
        </p:grpSpPr>
        <p:cxnSp>
          <p:nvCxnSpPr>
            <p:cNvPr id="6" name="Straight Arrow Connector 5"/>
            <p:cNvCxnSpPr/>
            <p:nvPr/>
          </p:nvCxnSpPr>
          <p:spPr bwMode="auto">
            <a:xfrm>
              <a:off x="609600" y="1384301"/>
              <a:ext cx="105156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" name="Straight Arrow Connector 7"/>
            <p:cNvCxnSpPr/>
            <p:nvPr/>
          </p:nvCxnSpPr>
          <p:spPr bwMode="auto">
            <a:xfrm>
              <a:off x="609600" y="1384301"/>
              <a:ext cx="0" cy="1054099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496888" y="2429432"/>
                  <a:ext cx="241733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>
                    <a:latin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6888" y="2429432"/>
                  <a:ext cx="241733" cy="369332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 l="-17949" r="-1538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1812708" y="1199635"/>
                  <a:ext cx="245708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>
                    <a:latin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12708" y="1199635"/>
                  <a:ext cx="245708" cy="369332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 l="-29268" r="-26829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5AC4AC-6B07-783A-CF26-1A9538DE4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Finite Difference Filters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8397" y="914400"/>
            <a:ext cx="10363200" cy="533400"/>
          </a:xfrm>
        </p:spPr>
        <p:txBody>
          <a:bodyPr/>
          <a:lstStyle/>
          <a:p>
            <a:r>
              <a:rPr lang="en-US" dirty="0"/>
              <a:t>Other approximations of derivative filters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7484836"/>
              </p:ext>
            </p:extLst>
          </p:nvPr>
        </p:nvGraphicFramePr>
        <p:xfrm>
          <a:off x="3886200" y="1983432"/>
          <a:ext cx="1371600" cy="1371600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2777884"/>
              </p:ext>
            </p:extLst>
          </p:nvPr>
        </p:nvGraphicFramePr>
        <p:xfrm>
          <a:off x="7239000" y="1983432"/>
          <a:ext cx="1371600" cy="1371600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2000" y="2438400"/>
            <a:ext cx="152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</a:rPr>
              <a:t>Prewitt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00400" y="2487571"/>
                <a:ext cx="5489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>
                    <a:latin typeface="Calibri" panose="020F0502020204030204" pitchFamily="34" charset="0"/>
                  </a:rPr>
                  <a:t>=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2487571"/>
                <a:ext cx="548996" cy="369332"/>
              </a:xfrm>
              <a:prstGeom prst="rect">
                <a:avLst/>
              </a:prstGeom>
              <a:blipFill rotWithShape="0">
                <a:blip r:embed="rId2"/>
                <a:stretch>
                  <a:fillRect l="-18889" t="-24590" r="-32222" b="-491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549781" y="2469979"/>
                <a:ext cx="558038" cy="3985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>
                    <a:latin typeface="Calibri" panose="020F0502020204030204" pitchFamily="34" charset="0"/>
                  </a:rPr>
                  <a:t>=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9781" y="2469979"/>
                <a:ext cx="558038" cy="398507"/>
              </a:xfrm>
              <a:prstGeom prst="rect">
                <a:avLst/>
              </a:prstGeom>
              <a:blipFill rotWithShape="0">
                <a:blip r:embed="rId3"/>
                <a:stretch>
                  <a:fillRect l="-18478" t="-21212" r="-32609" b="-393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17525"/>
              </p:ext>
            </p:extLst>
          </p:nvPr>
        </p:nvGraphicFramePr>
        <p:xfrm>
          <a:off x="3895725" y="3657600"/>
          <a:ext cx="1371600" cy="1371600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679885"/>
              </p:ext>
            </p:extLst>
          </p:nvPr>
        </p:nvGraphicFramePr>
        <p:xfrm>
          <a:off x="7248525" y="3657600"/>
          <a:ext cx="1371600" cy="1371600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71525" y="4112568"/>
            <a:ext cx="152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</a:rPr>
              <a:t>Sobel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209925" y="4161739"/>
                <a:ext cx="5489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>
                    <a:latin typeface="Calibri" panose="020F0502020204030204" pitchFamily="34" charset="0"/>
                  </a:rPr>
                  <a:t>=</a:t>
                </a: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9925" y="4161739"/>
                <a:ext cx="548996" cy="369332"/>
              </a:xfrm>
              <a:prstGeom prst="rect">
                <a:avLst/>
              </a:prstGeom>
              <a:blipFill rotWithShape="0">
                <a:blip r:embed="rId4"/>
                <a:stretch>
                  <a:fillRect l="-20000" t="-26667" r="-32222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559306" y="4144147"/>
                <a:ext cx="558038" cy="3985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>
                    <a:latin typeface="Calibri" panose="020F0502020204030204" pitchFamily="34" charset="0"/>
                  </a:rPr>
                  <a:t>=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9306" y="4144147"/>
                <a:ext cx="558038" cy="398507"/>
              </a:xfrm>
              <a:prstGeom prst="rect">
                <a:avLst/>
              </a:prstGeom>
              <a:blipFill rotWithShape="0">
                <a:blip r:embed="rId5"/>
                <a:stretch>
                  <a:fillRect l="-18478" t="-23077" r="-32609" b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/>
          <p:cNvGrpSpPr/>
          <p:nvPr/>
        </p:nvGrpSpPr>
        <p:grpSpPr>
          <a:xfrm>
            <a:off x="10134600" y="648235"/>
            <a:ext cx="1561528" cy="1599129"/>
            <a:chOff x="496888" y="1199635"/>
            <a:chExt cx="1561528" cy="1599129"/>
          </a:xfrm>
        </p:grpSpPr>
        <p:cxnSp>
          <p:nvCxnSpPr>
            <p:cNvPr id="17" name="Straight Arrow Connector 16"/>
            <p:cNvCxnSpPr/>
            <p:nvPr/>
          </p:nvCxnSpPr>
          <p:spPr bwMode="auto">
            <a:xfrm>
              <a:off x="609600" y="1384301"/>
              <a:ext cx="105156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8" name="Straight Arrow Connector 17"/>
            <p:cNvCxnSpPr/>
            <p:nvPr/>
          </p:nvCxnSpPr>
          <p:spPr bwMode="auto">
            <a:xfrm>
              <a:off x="609600" y="1384301"/>
              <a:ext cx="0" cy="1054099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/>
                <p:cNvSpPr txBox="1"/>
                <p:nvPr/>
              </p:nvSpPr>
              <p:spPr>
                <a:xfrm>
                  <a:off x="496888" y="2429432"/>
                  <a:ext cx="241733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>
                    <a:latin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6888" y="2429432"/>
                  <a:ext cx="241733" cy="369332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l="-17949" r="-1538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/>
                <p:cNvSpPr txBox="1"/>
                <p:nvPr/>
              </p:nvSpPr>
              <p:spPr>
                <a:xfrm>
                  <a:off x="1812708" y="1199635"/>
                  <a:ext cx="245708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>
                    <a:latin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12708" y="1199635"/>
                  <a:ext cx="245708" cy="369332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l="-29268" r="-26829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E3F011-214C-DB12-6E1A-9E02BFA75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291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9"/>
          <p:cNvSpPr>
            <a:spLocks noChangeArrowheads="1"/>
          </p:cNvSpPr>
          <p:nvPr/>
        </p:nvSpPr>
        <p:spPr bwMode="auto">
          <a:xfrm>
            <a:off x="123825" y="3547611"/>
            <a:ext cx="9677400" cy="548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dirty="0"/>
              <a:t>The gradient points in the direction of most rapid increase in intensity.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grpSp>
        <p:nvGrpSpPr>
          <p:cNvPr id="9245" name="Group 4"/>
          <p:cNvGrpSpPr>
            <a:grpSpLocks/>
          </p:cNvGrpSpPr>
          <p:nvPr/>
        </p:nvGrpSpPr>
        <p:grpSpPr bwMode="auto">
          <a:xfrm>
            <a:off x="8505826" y="1958345"/>
            <a:ext cx="990600" cy="990600"/>
            <a:chOff x="3840" y="1776"/>
            <a:chExt cx="624" cy="624"/>
          </a:xfrm>
        </p:grpSpPr>
        <p:sp>
          <p:nvSpPr>
            <p:cNvPr id="974853" name="Rectangle 5"/>
            <p:cNvSpPr>
              <a:spLocks noChangeArrowheads="1"/>
            </p:cNvSpPr>
            <p:nvPr/>
          </p:nvSpPr>
          <p:spPr bwMode="auto">
            <a:xfrm>
              <a:off x="3840" y="1776"/>
              <a:ext cx="624" cy="624"/>
            </a:xfrm>
            <a:prstGeom prst="rect">
              <a:avLst/>
            </a:prstGeom>
            <a:gradFill rotWithShape="0">
              <a:gsLst>
                <a:gs pos="0">
                  <a:schemeClr val="tx1"/>
                </a:gs>
                <a:gs pos="100000">
                  <a:schemeClr val="tx1">
                    <a:gamma/>
                    <a:tint val="0"/>
                    <a:invGamma/>
                  </a:schemeClr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248" name="Line 6"/>
            <p:cNvSpPr>
              <a:spLocks noChangeShapeType="1"/>
            </p:cNvSpPr>
            <p:nvPr/>
          </p:nvSpPr>
          <p:spPr bwMode="auto">
            <a:xfrm flipV="1">
              <a:off x="4161" y="1872"/>
              <a:ext cx="207" cy="20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9246" name="Picture 7" descr="Edittex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9960087" y="1967707"/>
            <a:ext cx="1535113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44" name="Oval 8"/>
          <p:cNvSpPr>
            <a:spLocks noChangeArrowheads="1"/>
          </p:cNvSpPr>
          <p:nvPr/>
        </p:nvSpPr>
        <p:spPr bwMode="auto">
          <a:xfrm>
            <a:off x="8963025" y="2415544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20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Gradient</a:t>
            </a:r>
          </a:p>
        </p:txBody>
      </p:sp>
      <p:sp>
        <p:nvSpPr>
          <p:cNvPr id="9221" name="Rectangle 10"/>
          <p:cNvSpPr>
            <a:spLocks noGrp="1" noChangeArrowheads="1"/>
          </p:cNvSpPr>
          <p:nvPr>
            <p:ph type="body" idx="1"/>
          </p:nvPr>
        </p:nvSpPr>
        <p:spPr>
          <a:xfrm>
            <a:off x="189139" y="1110572"/>
            <a:ext cx="8534399" cy="548640"/>
          </a:xfrm>
        </p:spPr>
        <p:txBody>
          <a:bodyPr/>
          <a:lstStyle/>
          <a:p>
            <a:r>
              <a:rPr lang="en-US" sz="2400" dirty="0"/>
              <a:t>The gradient of an image:</a:t>
            </a:r>
          </a:p>
        </p:txBody>
      </p:sp>
      <p:pic>
        <p:nvPicPr>
          <p:cNvPr id="9222" name="Picture 11" descr="Edittex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4595019" y="1068185"/>
            <a:ext cx="2468563" cy="633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74860" name="Rectangle 12"/>
          <p:cNvSpPr>
            <a:spLocks noChangeArrowheads="1"/>
          </p:cNvSpPr>
          <p:nvPr/>
        </p:nvSpPr>
        <p:spPr bwMode="auto">
          <a:xfrm>
            <a:off x="381000" y="1958344"/>
            <a:ext cx="304800" cy="990600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100000">
                <a:schemeClr val="tx1">
                  <a:gamma/>
                  <a:tint val="0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9224" name="Line 13"/>
          <p:cNvSpPr>
            <a:spLocks noChangeShapeType="1"/>
          </p:cNvSpPr>
          <p:nvPr/>
        </p:nvSpPr>
        <p:spPr bwMode="auto">
          <a:xfrm>
            <a:off x="533400" y="2491744"/>
            <a:ext cx="5334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225" name="Oval 14"/>
          <p:cNvSpPr>
            <a:spLocks noChangeArrowheads="1"/>
          </p:cNvSpPr>
          <p:nvPr/>
        </p:nvSpPr>
        <p:spPr bwMode="auto">
          <a:xfrm>
            <a:off x="476250" y="2453644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9226" name="Picture 15" descr="Edittex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4501355" y="2808018"/>
            <a:ext cx="1408113" cy="382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39" name="Picture 17" descr="Edittex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978694" y="1969458"/>
            <a:ext cx="1417638" cy="395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74866" name="Rectangle 18"/>
          <p:cNvSpPr>
            <a:spLocks noChangeArrowheads="1"/>
          </p:cNvSpPr>
          <p:nvPr/>
        </p:nvSpPr>
        <p:spPr bwMode="auto">
          <a:xfrm rot="5400000">
            <a:off x="4877593" y="1630093"/>
            <a:ext cx="304800" cy="1074738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100000">
                <a:schemeClr val="tx1">
                  <a:gamma/>
                  <a:tint val="0"/>
                  <a:invGamma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9241" name="Line 19"/>
          <p:cNvSpPr>
            <a:spLocks noChangeShapeType="1"/>
          </p:cNvSpPr>
          <p:nvPr/>
        </p:nvSpPr>
        <p:spPr bwMode="auto">
          <a:xfrm rot="5400000">
            <a:off x="4766468" y="2434955"/>
            <a:ext cx="5334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242" name="Oval 20"/>
          <p:cNvSpPr>
            <a:spLocks noChangeArrowheads="1"/>
          </p:cNvSpPr>
          <p:nvPr/>
        </p:nvSpPr>
        <p:spPr bwMode="auto">
          <a:xfrm>
            <a:off x="4995069" y="2130155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9228" name="Group 21"/>
          <p:cNvGrpSpPr>
            <a:grpSpLocks/>
          </p:cNvGrpSpPr>
          <p:nvPr/>
        </p:nvGrpSpPr>
        <p:grpSpPr bwMode="auto">
          <a:xfrm>
            <a:off x="8991601" y="1969458"/>
            <a:ext cx="485775" cy="509587"/>
            <a:chOff x="4152" y="1776"/>
            <a:chExt cx="306" cy="321"/>
          </a:xfrm>
        </p:grpSpPr>
        <p:sp>
          <p:nvSpPr>
            <p:cNvPr id="9235" name="Line 22"/>
            <p:cNvSpPr>
              <a:spLocks noChangeShapeType="1"/>
            </p:cNvSpPr>
            <p:nvPr/>
          </p:nvSpPr>
          <p:spPr bwMode="auto">
            <a:xfrm>
              <a:off x="4155" y="2088"/>
              <a:ext cx="3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36" name="Line 23"/>
            <p:cNvSpPr>
              <a:spLocks noChangeShapeType="1"/>
            </p:cNvSpPr>
            <p:nvPr/>
          </p:nvSpPr>
          <p:spPr bwMode="auto">
            <a:xfrm flipV="1">
              <a:off x="4152" y="1776"/>
              <a:ext cx="0" cy="3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37" name="Freeform 24"/>
            <p:cNvSpPr>
              <a:spLocks/>
            </p:cNvSpPr>
            <p:nvPr/>
          </p:nvSpPr>
          <p:spPr bwMode="auto">
            <a:xfrm flipV="1">
              <a:off x="4216" y="2032"/>
              <a:ext cx="27" cy="51"/>
            </a:xfrm>
            <a:custGeom>
              <a:avLst/>
              <a:gdLst>
                <a:gd name="T0" fmla="*/ 18 w 27"/>
                <a:gd name="T1" fmla="*/ 0 h 51"/>
                <a:gd name="T2" fmla="*/ 24 w 27"/>
                <a:gd name="T3" fmla="*/ 33 h 51"/>
                <a:gd name="T4" fmla="*/ 0 w 27"/>
                <a:gd name="T5" fmla="*/ 51 h 51"/>
                <a:gd name="T6" fmla="*/ 0 60000 65536"/>
                <a:gd name="T7" fmla="*/ 0 60000 65536"/>
                <a:gd name="T8" fmla="*/ 0 60000 65536"/>
                <a:gd name="T9" fmla="*/ 0 w 27"/>
                <a:gd name="T10" fmla="*/ 0 h 51"/>
                <a:gd name="T11" fmla="*/ 27 w 27"/>
                <a:gd name="T12" fmla="*/ 51 h 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" h="51">
                  <a:moveTo>
                    <a:pt x="18" y="0"/>
                  </a:moveTo>
                  <a:cubicBezTo>
                    <a:pt x="22" y="12"/>
                    <a:pt x="27" y="25"/>
                    <a:pt x="24" y="33"/>
                  </a:cubicBezTo>
                  <a:cubicBezTo>
                    <a:pt x="21" y="41"/>
                    <a:pt x="10" y="46"/>
                    <a:pt x="0" y="51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9238" name="Picture 25" descr="Edittex"/>
            <p:cNvPicPr>
              <a:picLocks noChangeAspect="1" noChangeArrowheads="1"/>
            </p:cNvPicPr>
            <p:nvPr>
              <p:custDataLst>
                <p:tags r:id="rId7"/>
              </p:custDataLst>
            </p:nvPr>
          </p:nvPicPr>
          <p:blipFill>
            <a:blip r:embed="rId1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4299" y="1968"/>
              <a:ext cx="69" cy="1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9229" name="Rectangle 26"/>
          <p:cNvSpPr>
            <a:spLocks noChangeArrowheads="1"/>
          </p:cNvSpPr>
          <p:nvPr/>
        </p:nvSpPr>
        <p:spPr bwMode="auto">
          <a:xfrm>
            <a:off x="123825" y="4859597"/>
            <a:ext cx="5057775" cy="548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dirty="0"/>
              <a:t>The gradient direction is given by</a:t>
            </a:r>
          </a:p>
        </p:txBody>
      </p:sp>
      <p:pic>
        <p:nvPicPr>
          <p:cNvPr id="9230" name="Picture 27" descr="Edittex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384800" y="4887854"/>
            <a:ext cx="2797175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31" name="Picture 28" descr="Edittex"/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7867650" y="5393899"/>
            <a:ext cx="3708400" cy="668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32" name="Text Box 31"/>
          <p:cNvSpPr txBox="1">
            <a:spLocks noChangeArrowheads="1"/>
          </p:cNvSpPr>
          <p:nvPr/>
        </p:nvSpPr>
        <p:spPr bwMode="auto">
          <a:xfrm>
            <a:off x="8839200" y="6477000"/>
            <a:ext cx="1765300" cy="2746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200"/>
              <a:t>Source: Steve Seitz</a:t>
            </a:r>
          </a:p>
        </p:txBody>
      </p:sp>
      <p:sp>
        <p:nvSpPr>
          <p:cNvPr id="31" name="Rectangle 30"/>
          <p:cNvSpPr>
            <a:spLocks noChangeArrowheads="1"/>
          </p:cNvSpPr>
          <p:nvPr/>
        </p:nvSpPr>
        <p:spPr bwMode="auto">
          <a:xfrm>
            <a:off x="123825" y="5515591"/>
            <a:ext cx="8077200" cy="548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dirty="0"/>
              <a:t>The edge strength is given by the gradient magnitude</a:t>
            </a:r>
          </a:p>
        </p:txBody>
      </p:sp>
      <p:sp>
        <p:nvSpPr>
          <p:cNvPr id="32" name="Rectangle 31"/>
          <p:cNvSpPr>
            <a:spLocks noChangeArrowheads="1"/>
          </p:cNvSpPr>
          <p:nvPr/>
        </p:nvSpPr>
        <p:spPr bwMode="auto">
          <a:xfrm>
            <a:off x="123825" y="4203604"/>
            <a:ext cx="9520918" cy="548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dirty="0"/>
              <a:t>How does this direction relate to the direction of the edge?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C76F5B-B812-5C43-E98C-D0D48E0DE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9244" grpId="0" animBg="1"/>
      <p:bldP spid="974860" grpId="0" animBg="1"/>
      <p:bldP spid="9224" grpId="0" animBg="1"/>
      <p:bldP spid="9225" grpId="0" animBg="1"/>
      <p:bldP spid="974866" grpId="0" animBg="1"/>
      <p:bldP spid="9241" grpId="0" animBg="1"/>
      <p:bldP spid="9242" grpId="0" animBg="1"/>
      <p:bldP spid="9229" grpId="0"/>
      <p:bldP spid="31" grpId="0"/>
      <p:bldP spid="3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chemeClr val="tx1"/>
                </a:solidFill>
              </a:rPr>
              <a:t>Application: Gradient-Domain Image Editing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/>
            <a:r>
              <a:rPr lang="en-US" sz="2400" dirty="0"/>
              <a:t>Goal: solve for pixel values in the target region to match gradients of the source region while keeping background pixels the same </a:t>
            </a:r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2512" y="2288528"/>
            <a:ext cx="8098289" cy="3959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553497" y="6324600"/>
            <a:ext cx="9135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P. Perez, M. </a:t>
            </a:r>
            <a:r>
              <a:rPr lang="en-US" sz="1800" dirty="0" err="1"/>
              <a:t>Gangnet</a:t>
            </a:r>
            <a:r>
              <a:rPr lang="en-US" sz="1800" dirty="0"/>
              <a:t>, A. Blake, </a:t>
            </a:r>
            <a:r>
              <a:rPr lang="en-US" sz="1800" dirty="0">
                <a:hlinkClick r:id="rId3"/>
              </a:rPr>
              <a:t>Poisson Image Editing</a:t>
            </a:r>
            <a:r>
              <a:rPr lang="en-US" sz="1800" dirty="0"/>
              <a:t>, SIGGRAPH 2003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66DBBF-92B5-CF5F-18A4-54086D4F4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5829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Effects of Noise</a:t>
            </a:r>
          </a:p>
        </p:txBody>
      </p:sp>
      <p:sp>
        <p:nvSpPr>
          <p:cNvPr id="30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914400"/>
            <a:ext cx="7772400" cy="914400"/>
          </a:xfrm>
        </p:spPr>
        <p:txBody>
          <a:bodyPr/>
          <a:lstStyle/>
          <a:p>
            <a:r>
              <a:rPr lang="en-US" dirty="0"/>
              <a:t>Consider a single row or column of the image</a:t>
            </a:r>
          </a:p>
        </p:txBody>
      </p:sp>
      <p:graphicFrame>
        <p:nvGraphicFramePr>
          <p:cNvPr id="3074" name="Object 4"/>
          <p:cNvGraphicFramePr>
            <a:graphicFrameLocks noChangeAspect="1"/>
          </p:cNvGraphicFramePr>
          <p:nvPr/>
        </p:nvGraphicFramePr>
        <p:xfrm>
          <a:off x="3363914" y="1917700"/>
          <a:ext cx="5018087" cy="189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5" imgW="5885714" imgH="2219635" progId="">
                  <p:embed/>
                </p:oleObj>
              </mc:Choice>
              <mc:Fallback>
                <p:oleObj name="Photo Editor Photo" r:id="rId5" imgW="5885714" imgH="2219635" progId="">
                  <p:embed/>
                  <p:pic>
                    <p:nvPicPr>
                      <p:cNvPr id="307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3914" y="1917700"/>
                        <a:ext cx="5018087" cy="189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078" name="Picture 5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625726" y="2520950"/>
            <a:ext cx="650875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2209800" y="4038600"/>
            <a:ext cx="7772400" cy="2743200"/>
            <a:chOff x="432" y="2544"/>
            <a:chExt cx="4896" cy="1728"/>
          </a:xfrm>
        </p:grpSpPr>
        <p:graphicFrame>
          <p:nvGraphicFramePr>
            <p:cNvPr id="3075" name="Object 7"/>
            <p:cNvGraphicFramePr>
              <a:graphicFrameLocks noChangeAspect="1"/>
            </p:cNvGraphicFramePr>
            <p:nvPr/>
          </p:nvGraphicFramePr>
          <p:xfrm>
            <a:off x="1099" y="2544"/>
            <a:ext cx="3173" cy="10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hoto Editor Photo" r:id="rId8" imgW="5915851" imgH="2029108" progId="">
                    <p:embed/>
                  </p:oleObj>
                </mc:Choice>
                <mc:Fallback>
                  <p:oleObj name="Photo Editor Photo" r:id="rId8" imgW="5915851" imgH="2029108" progId="">
                    <p:embed/>
                    <p:pic>
                      <p:nvPicPr>
                        <p:cNvPr id="3075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99" y="2544"/>
                          <a:ext cx="3173" cy="10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3081" name="Picture 8" descr="txp_fig"/>
            <p:cNvPicPr>
              <a:picLocks noChangeAspect="1" noChangeArrowheads="1"/>
            </p:cNvPicPr>
            <p:nvPr>
              <p:custDataLst>
                <p:tags r:id="rId2"/>
              </p:custDataLst>
            </p:nvPr>
          </p:nvPicPr>
          <p:blipFill>
            <a:blip r:embed="rId10" cstate="print"/>
            <a:srcRect/>
            <a:stretch>
              <a:fillRect/>
            </a:stretch>
          </p:blipFill>
          <p:spPr bwMode="auto">
            <a:xfrm>
              <a:off x="480" y="2888"/>
              <a:ext cx="622" cy="2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082" name="Rectangle 9"/>
            <p:cNvSpPr>
              <a:spLocks noChangeArrowheads="1"/>
            </p:cNvSpPr>
            <p:nvPr/>
          </p:nvSpPr>
          <p:spPr bwMode="auto">
            <a:xfrm>
              <a:off x="432" y="3840"/>
              <a:ext cx="4896" cy="4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342900" indent="-342900">
                <a:spcBef>
                  <a:spcPct val="20000"/>
                </a:spcBef>
              </a:pPr>
              <a:r>
                <a:rPr lang="en-US" sz="2800"/>
                <a:t>Where is the edge?</a:t>
              </a:r>
              <a:endParaRPr lang="en-US" sz="2800" i="1"/>
            </a:p>
          </p:txBody>
        </p:sp>
      </p:grpSp>
      <p:sp>
        <p:nvSpPr>
          <p:cNvPr id="3080" name="Text Box 10"/>
          <p:cNvSpPr txBox="1">
            <a:spLocks noChangeArrowheads="1"/>
          </p:cNvSpPr>
          <p:nvPr/>
        </p:nvSpPr>
        <p:spPr bwMode="auto">
          <a:xfrm>
            <a:off x="8966201" y="6477000"/>
            <a:ext cx="14573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400"/>
              <a:t>Source: S. Seitz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2DE0C5-8699-38CE-39F6-AD5E32757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Solution: Smooth First</a:t>
            </a:r>
          </a:p>
        </p:txBody>
      </p:sp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1828800" y="5915026"/>
            <a:ext cx="7772400" cy="771525"/>
            <a:chOff x="192" y="3726"/>
            <a:chExt cx="4896" cy="486"/>
          </a:xfrm>
        </p:grpSpPr>
        <p:sp>
          <p:nvSpPr>
            <p:cNvPr id="4113" name="Rectangle 2"/>
            <p:cNvSpPr>
              <a:spLocks noChangeArrowheads="1"/>
            </p:cNvSpPr>
            <p:nvPr/>
          </p:nvSpPr>
          <p:spPr bwMode="auto">
            <a:xfrm>
              <a:off x="192" y="3798"/>
              <a:ext cx="489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</a:pPr>
              <a:r>
                <a:rPr lang="en-US" sz="2800" dirty="0"/>
                <a:t>To find edges, look for peaks in</a:t>
              </a:r>
              <a:endParaRPr lang="en-US" sz="2800" i="1" dirty="0"/>
            </a:p>
          </p:txBody>
        </p:sp>
        <p:graphicFrame>
          <p:nvGraphicFramePr>
            <p:cNvPr id="4099" name="Object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57725589"/>
                </p:ext>
              </p:extLst>
            </p:nvPr>
          </p:nvGraphicFramePr>
          <p:xfrm>
            <a:off x="3552" y="3726"/>
            <a:ext cx="816" cy="4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660240" imgH="393480" progId="Equation.3">
                    <p:embed/>
                  </p:oleObj>
                </mc:Choice>
                <mc:Fallback>
                  <p:oleObj name="Equation" r:id="rId3" imgW="660240" imgH="393480" progId="Equation.3">
                    <p:embed/>
                    <p:pic>
                      <p:nvPicPr>
                        <p:cNvPr id="4099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2" y="3726"/>
                          <a:ext cx="816" cy="48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4102" name="Picture 9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449638" y="990600"/>
            <a:ext cx="5313362" cy="1392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03" name="Text Box 17"/>
          <p:cNvSpPr txBox="1">
            <a:spLocks noChangeArrowheads="1"/>
          </p:cNvSpPr>
          <p:nvPr/>
        </p:nvSpPr>
        <p:spPr bwMode="auto">
          <a:xfrm>
            <a:off x="3162300" y="1517650"/>
            <a:ext cx="2682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>
                <a:latin typeface="Times New Roman" pitchFamily="18" charset="0"/>
              </a:rPr>
              <a:t>f</a:t>
            </a:r>
          </a:p>
        </p:txBody>
      </p:sp>
      <p:grpSp>
        <p:nvGrpSpPr>
          <p:cNvPr id="3" name="Group 27"/>
          <p:cNvGrpSpPr>
            <a:grpSpLocks/>
          </p:cNvGrpSpPr>
          <p:nvPr/>
        </p:nvGrpSpPr>
        <p:grpSpPr bwMode="auto">
          <a:xfrm>
            <a:off x="3162300" y="2392364"/>
            <a:ext cx="5600700" cy="1120775"/>
            <a:chOff x="1032" y="1507"/>
            <a:chExt cx="3528" cy="706"/>
          </a:xfrm>
        </p:grpSpPr>
        <p:pic>
          <p:nvPicPr>
            <p:cNvPr id="4111" name="Picture 10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1213" y="1507"/>
              <a:ext cx="3347" cy="7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112" name="Text Box 18"/>
            <p:cNvSpPr txBox="1">
              <a:spLocks noChangeArrowheads="1"/>
            </p:cNvSpPr>
            <p:nvPr/>
          </p:nvSpPr>
          <p:spPr bwMode="auto">
            <a:xfrm>
              <a:off x="1032" y="1684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i="1">
                  <a:latin typeface="Times New Roman" pitchFamily="18" charset="0"/>
                </a:rPr>
                <a:t>g</a:t>
              </a:r>
            </a:p>
          </p:txBody>
        </p:sp>
      </p:grpSp>
      <p:grpSp>
        <p:nvGrpSpPr>
          <p:cNvPr id="4" name="Group 28"/>
          <p:cNvGrpSpPr>
            <a:grpSpLocks/>
          </p:cNvGrpSpPr>
          <p:nvPr/>
        </p:nvGrpSpPr>
        <p:grpSpPr bwMode="auto">
          <a:xfrm>
            <a:off x="2816226" y="3530600"/>
            <a:ext cx="5946775" cy="1104900"/>
            <a:chOff x="814" y="2224"/>
            <a:chExt cx="3746" cy="696"/>
          </a:xfrm>
        </p:grpSpPr>
        <p:pic>
          <p:nvPicPr>
            <p:cNvPr id="4109" name="Picture 13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1213" y="2224"/>
              <a:ext cx="3347" cy="6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110" name="Text Box 19"/>
            <p:cNvSpPr txBox="1">
              <a:spLocks noChangeArrowheads="1"/>
            </p:cNvSpPr>
            <p:nvPr/>
          </p:nvSpPr>
          <p:spPr bwMode="auto">
            <a:xfrm>
              <a:off x="814" y="2346"/>
              <a:ext cx="45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i="1">
                  <a:latin typeface="Times New Roman" pitchFamily="18" charset="0"/>
                </a:rPr>
                <a:t>f * g</a:t>
              </a:r>
            </a:p>
          </p:txBody>
        </p:sp>
      </p:grpSp>
      <p:grpSp>
        <p:nvGrpSpPr>
          <p:cNvPr id="5" name="Group 29"/>
          <p:cNvGrpSpPr>
            <a:grpSpLocks/>
          </p:cNvGrpSpPr>
          <p:nvPr/>
        </p:nvGrpSpPr>
        <p:grpSpPr bwMode="auto">
          <a:xfrm>
            <a:off x="2438400" y="4635500"/>
            <a:ext cx="6324600" cy="1155700"/>
            <a:chOff x="576" y="2920"/>
            <a:chExt cx="3984" cy="728"/>
          </a:xfrm>
        </p:grpSpPr>
        <p:pic>
          <p:nvPicPr>
            <p:cNvPr id="4108" name="Picture 16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1213" y="2920"/>
              <a:ext cx="3347" cy="7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aphicFrame>
          <p:nvGraphicFramePr>
            <p:cNvPr id="4098" name="Object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0707865"/>
                </p:ext>
              </p:extLst>
            </p:nvPr>
          </p:nvGraphicFramePr>
          <p:xfrm>
            <a:off x="576" y="3008"/>
            <a:ext cx="636" cy="4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660240" imgH="393480" progId="Equation.3">
                    <p:embed/>
                  </p:oleObj>
                </mc:Choice>
                <mc:Fallback>
                  <p:oleObj name="Equation" r:id="rId9" imgW="660240" imgH="393480" progId="Equation.3">
                    <p:embed/>
                    <p:pic>
                      <p:nvPicPr>
                        <p:cNvPr id="4098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6" y="3008"/>
                          <a:ext cx="636" cy="42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07" name="Text Box 26"/>
          <p:cNvSpPr txBox="1">
            <a:spLocks noChangeArrowheads="1"/>
          </p:cNvSpPr>
          <p:nvPr/>
        </p:nvSpPr>
        <p:spPr bwMode="auto">
          <a:xfrm>
            <a:off x="9134476" y="6477000"/>
            <a:ext cx="14573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400"/>
              <a:t>Source: S. Seitz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1BC1A-49EF-8772-69C9-53C5FEED0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D3AE853-6969-4601-B59E-3B05C94036E5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/>
              <a:t>Differentiation is convolution, and convolution is associative:</a:t>
            </a:r>
            <a:br>
              <a:rPr lang="en-US"/>
            </a:br>
            <a:endParaRPr lang="en-US"/>
          </a:p>
          <a:p>
            <a:pPr>
              <a:buFontTx/>
              <a:buChar char="•"/>
            </a:pPr>
            <a:r>
              <a:rPr lang="en-US"/>
              <a:t>This saves us one operation:</a:t>
            </a:r>
            <a:endParaRPr lang="en-US" i="1"/>
          </a:p>
        </p:txBody>
      </p:sp>
      <p:graphicFrame>
        <p:nvGraphicFramePr>
          <p:cNvPr id="5122" name="Object 51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7397508"/>
              </p:ext>
            </p:extLst>
          </p:nvPr>
        </p:nvGraphicFramePr>
        <p:xfrm>
          <a:off x="6057900" y="1670598"/>
          <a:ext cx="2667000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20480" imgH="393480" progId="Equation.3">
                  <p:embed/>
                </p:oleObj>
              </mc:Choice>
              <mc:Fallback>
                <p:oleObj name="Equation" r:id="rId3" imgW="1320480" imgH="393480" progId="Equation.3">
                  <p:embed/>
                  <p:pic>
                    <p:nvPicPr>
                      <p:cNvPr id="5122" name="Object 51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7900" y="1670598"/>
                        <a:ext cx="2667000" cy="944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Derivative Theorem of Convolution</a:t>
            </a:r>
          </a:p>
        </p:txBody>
      </p:sp>
      <p:grpSp>
        <p:nvGrpSpPr>
          <p:cNvPr id="5128" name="Group 7"/>
          <p:cNvGrpSpPr>
            <a:grpSpLocks/>
          </p:cNvGrpSpPr>
          <p:nvPr/>
        </p:nvGrpSpPr>
        <p:grpSpPr bwMode="auto">
          <a:xfrm>
            <a:off x="2819400" y="2895600"/>
            <a:ext cx="6096000" cy="3810000"/>
            <a:chOff x="720" y="1317"/>
            <a:chExt cx="4474" cy="2907"/>
          </a:xfrm>
        </p:grpSpPr>
        <p:graphicFrame>
          <p:nvGraphicFramePr>
            <p:cNvPr id="5123" name="Object 8"/>
            <p:cNvGraphicFramePr>
              <a:graphicFrameLocks noChangeAspect="1"/>
            </p:cNvGraphicFramePr>
            <p:nvPr/>
          </p:nvGraphicFramePr>
          <p:xfrm>
            <a:off x="1595" y="1317"/>
            <a:ext cx="3599" cy="29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Photo Editor Photo" r:id="rId5" imgW="6001588" imgH="4847619" progId="">
                    <p:embed/>
                  </p:oleObj>
                </mc:Choice>
                <mc:Fallback>
                  <p:oleObj name="Photo Editor Photo" r:id="rId5" imgW="6001588" imgH="4847619" progId="">
                    <p:embed/>
                    <p:pic>
                      <p:nvPicPr>
                        <p:cNvPr id="5123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95" y="1317"/>
                          <a:ext cx="3599" cy="29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24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44302466"/>
                </p:ext>
              </p:extLst>
            </p:nvPr>
          </p:nvGraphicFramePr>
          <p:xfrm>
            <a:off x="720" y="3408"/>
            <a:ext cx="720" cy="5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558720" imgH="393480" progId="Equation.3">
                    <p:embed/>
                  </p:oleObj>
                </mc:Choice>
                <mc:Fallback>
                  <p:oleObj name="Equation" r:id="rId7" imgW="558720" imgH="393480" progId="Equation.3">
                    <p:embed/>
                    <p:pic>
                      <p:nvPicPr>
                        <p:cNvPr id="5124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" y="3408"/>
                          <a:ext cx="720" cy="50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30" name="Text Box 10"/>
            <p:cNvSpPr txBox="1">
              <a:spLocks noChangeArrowheads="1"/>
            </p:cNvSpPr>
            <p:nvPr/>
          </p:nvSpPr>
          <p:spPr bwMode="auto">
            <a:xfrm>
              <a:off x="1079" y="1680"/>
              <a:ext cx="197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i="1">
                  <a:latin typeface="Times New Roman" pitchFamily="18" charset="0"/>
                </a:rPr>
                <a:t>f</a:t>
              </a:r>
            </a:p>
          </p:txBody>
        </p:sp>
        <p:graphicFrame>
          <p:nvGraphicFramePr>
            <p:cNvPr id="5125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3271681"/>
                </p:ext>
              </p:extLst>
            </p:nvPr>
          </p:nvGraphicFramePr>
          <p:xfrm>
            <a:off x="997" y="2496"/>
            <a:ext cx="443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330120" imgH="393480" progId="Equation.3">
                    <p:embed/>
                  </p:oleObj>
                </mc:Choice>
                <mc:Fallback>
                  <p:oleObj name="Equation" r:id="rId9" imgW="330120" imgH="393480" progId="Equation.3">
                    <p:embed/>
                    <p:pic>
                      <p:nvPicPr>
                        <p:cNvPr id="5125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7" y="2496"/>
                          <a:ext cx="443" cy="52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129" name="Text Box 12"/>
          <p:cNvSpPr txBox="1">
            <a:spLocks noChangeArrowheads="1"/>
          </p:cNvSpPr>
          <p:nvPr/>
        </p:nvSpPr>
        <p:spPr bwMode="auto">
          <a:xfrm>
            <a:off x="9134476" y="6477000"/>
            <a:ext cx="14573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400"/>
              <a:t>Source: S. Seitz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A06EEE-CC53-2F25-0FA3-6A38A1F54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Derivative of Gaussian Filters</a:t>
            </a:r>
          </a:p>
        </p:txBody>
      </p:sp>
      <p:sp>
        <p:nvSpPr>
          <p:cNvPr id="1083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6019800"/>
            <a:ext cx="7772400" cy="838200"/>
          </a:xfrm>
        </p:spPr>
        <p:txBody>
          <a:bodyPr/>
          <a:lstStyle/>
          <a:p>
            <a:pPr algn="ctr"/>
            <a:r>
              <a:rPr lang="en-US" dirty="0"/>
              <a:t>Which one finds horizontal/vertical edges?</a:t>
            </a:r>
          </a:p>
        </p:txBody>
      </p:sp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81400" y="4114800"/>
            <a:ext cx="17526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1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10400" y="4114800"/>
            <a:ext cx="17526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2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743200" y="1006475"/>
            <a:ext cx="3429000" cy="2700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3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096001" y="990601"/>
            <a:ext cx="3363913" cy="275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44" name="Text Box 8"/>
          <p:cNvSpPr txBox="1">
            <a:spLocks noChangeArrowheads="1"/>
          </p:cNvSpPr>
          <p:nvPr/>
        </p:nvSpPr>
        <p:spPr bwMode="auto">
          <a:xfrm>
            <a:off x="3641726" y="3544888"/>
            <a:ext cx="15922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/>
              <a:t>x</a:t>
            </a:r>
            <a:r>
              <a:rPr lang="en-US"/>
              <a:t>-direction</a:t>
            </a:r>
          </a:p>
        </p:txBody>
      </p:sp>
      <p:sp>
        <p:nvSpPr>
          <p:cNvPr id="14345" name="Text Box 9"/>
          <p:cNvSpPr txBox="1">
            <a:spLocks noChangeArrowheads="1"/>
          </p:cNvSpPr>
          <p:nvPr/>
        </p:nvSpPr>
        <p:spPr bwMode="auto">
          <a:xfrm>
            <a:off x="7094538" y="3505200"/>
            <a:ext cx="15922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/>
              <a:t>y</a:t>
            </a:r>
            <a:r>
              <a:rPr lang="en-US"/>
              <a:t>-direction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CD857C-B2FA-BA60-4A99-7470EA8F6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3395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Derivative of Gaussian Filters</a:t>
            </a:r>
          </a:p>
        </p:txBody>
      </p:sp>
      <p:sp>
        <p:nvSpPr>
          <p:cNvPr id="1083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6019800"/>
            <a:ext cx="7772400" cy="838200"/>
          </a:xfrm>
        </p:spPr>
        <p:txBody>
          <a:bodyPr/>
          <a:lstStyle/>
          <a:p>
            <a:pPr algn="ctr"/>
            <a:r>
              <a:rPr lang="en-US" dirty="0"/>
              <a:t>Are these </a:t>
            </a:r>
            <a:r>
              <a:rPr lang="en-US"/>
              <a:t>filters separable?</a:t>
            </a:r>
            <a:endParaRPr lang="en-US" dirty="0"/>
          </a:p>
        </p:txBody>
      </p:sp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81400" y="4114800"/>
            <a:ext cx="17526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1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10400" y="4114800"/>
            <a:ext cx="17526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2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743200" y="1006475"/>
            <a:ext cx="3429000" cy="2700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3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096001" y="990601"/>
            <a:ext cx="3363913" cy="275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44" name="Text Box 8"/>
          <p:cNvSpPr txBox="1">
            <a:spLocks noChangeArrowheads="1"/>
          </p:cNvSpPr>
          <p:nvPr/>
        </p:nvSpPr>
        <p:spPr bwMode="auto">
          <a:xfrm>
            <a:off x="3641726" y="3544888"/>
            <a:ext cx="15922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/>
              <a:t>x</a:t>
            </a:r>
            <a:r>
              <a:rPr lang="en-US"/>
              <a:t>-direction</a:t>
            </a:r>
          </a:p>
        </p:txBody>
      </p:sp>
      <p:sp>
        <p:nvSpPr>
          <p:cNvPr id="14345" name="Text Box 9"/>
          <p:cNvSpPr txBox="1">
            <a:spLocks noChangeArrowheads="1"/>
          </p:cNvSpPr>
          <p:nvPr/>
        </p:nvSpPr>
        <p:spPr bwMode="auto">
          <a:xfrm>
            <a:off x="7094538" y="3505200"/>
            <a:ext cx="15922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/>
              <a:t>y</a:t>
            </a:r>
            <a:r>
              <a:rPr lang="en-US"/>
              <a:t>-direction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AE7A21-1177-9588-4BDE-72491FB65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433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3395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123825" y="76200"/>
            <a:ext cx="11953875" cy="7620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Recall: </a:t>
            </a:r>
            <a:r>
              <a:rPr lang="en-US" dirty="0" err="1">
                <a:solidFill>
                  <a:schemeClr val="tx1"/>
                </a:solidFill>
              </a:rPr>
              <a:t>Separability</a:t>
            </a:r>
            <a:r>
              <a:rPr lang="en-US" dirty="0">
                <a:solidFill>
                  <a:schemeClr val="tx1"/>
                </a:solidFill>
              </a:rPr>
              <a:t> of the Gaussian Filter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2772" name="Picture 4"/>
          <p:cNvPicPr>
            <a:picLocks noChangeAspect="1" noChangeArrowheads="1"/>
          </p:cNvPicPr>
          <p:nvPr/>
        </p:nvPicPr>
        <p:blipFill>
          <a:blip r:embed="rId3" cstate="print"/>
          <a:srcRect t="9268"/>
          <a:stretch>
            <a:fillRect/>
          </a:stretch>
        </p:blipFill>
        <p:spPr bwMode="auto">
          <a:xfrm>
            <a:off x="2286001" y="1295400"/>
            <a:ext cx="7542213" cy="4262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773" name="Text Box 5"/>
          <p:cNvSpPr txBox="1">
            <a:spLocks noChangeArrowheads="1"/>
          </p:cNvSpPr>
          <p:nvPr/>
        </p:nvSpPr>
        <p:spPr bwMode="auto">
          <a:xfrm>
            <a:off x="8991601" y="6553200"/>
            <a:ext cx="14954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/>
              <a:t>Source: D. Lowe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BC2218-0723-761C-5625-FFBF6F808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9578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0"/>
          <p:cNvSpPr>
            <a:spLocks noGrp="1" noChangeArrowheads="1"/>
          </p:cNvSpPr>
          <p:nvPr>
            <p:ph type="body" idx="1"/>
          </p:nvPr>
        </p:nvSpPr>
        <p:spPr>
          <a:xfrm>
            <a:off x="2209800" y="5181600"/>
            <a:ext cx="7772400" cy="1371600"/>
          </a:xfrm>
        </p:spPr>
        <p:txBody>
          <a:bodyPr/>
          <a:lstStyle/>
          <a:p>
            <a:r>
              <a:rPr lang="en-US" dirty="0"/>
              <a:t>Smoothed derivative removes noise, but blurs edge. Also finds edges at different “scales”</a:t>
            </a:r>
          </a:p>
        </p:txBody>
      </p:sp>
      <p:pic>
        <p:nvPicPr>
          <p:cNvPr id="1536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77988" y="990600"/>
            <a:ext cx="2970212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4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49788" y="990600"/>
            <a:ext cx="2970212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5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621588" y="990600"/>
            <a:ext cx="2970212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6" name="Text Box 6"/>
          <p:cNvSpPr txBox="1">
            <a:spLocks noChangeArrowheads="1"/>
          </p:cNvSpPr>
          <p:nvPr/>
        </p:nvSpPr>
        <p:spPr bwMode="auto">
          <a:xfrm>
            <a:off x="2638425" y="4340225"/>
            <a:ext cx="106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1 pixel</a:t>
            </a:r>
          </a:p>
        </p:txBody>
      </p:sp>
      <p:sp>
        <p:nvSpPr>
          <p:cNvPr id="15367" name="Text Box 7"/>
          <p:cNvSpPr txBox="1">
            <a:spLocks noChangeArrowheads="1"/>
          </p:cNvSpPr>
          <p:nvPr/>
        </p:nvSpPr>
        <p:spPr bwMode="auto">
          <a:xfrm>
            <a:off x="5643563" y="4340225"/>
            <a:ext cx="1219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3 pixels</a:t>
            </a:r>
          </a:p>
        </p:txBody>
      </p:sp>
      <p:sp>
        <p:nvSpPr>
          <p:cNvPr id="15368" name="Text Box 8"/>
          <p:cNvSpPr txBox="1">
            <a:spLocks noChangeArrowheads="1"/>
          </p:cNvSpPr>
          <p:nvPr/>
        </p:nvSpPr>
        <p:spPr bwMode="auto">
          <a:xfrm>
            <a:off x="8615363" y="4340225"/>
            <a:ext cx="1219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7 pixels</a:t>
            </a:r>
          </a:p>
        </p:txBody>
      </p:sp>
      <p:sp>
        <p:nvSpPr>
          <p:cNvPr id="15369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Scale of Gaussian Derivative Filter</a:t>
            </a:r>
          </a:p>
        </p:txBody>
      </p:sp>
      <p:sp>
        <p:nvSpPr>
          <p:cNvPr id="15370" name="Text Box 11"/>
          <p:cNvSpPr txBox="1">
            <a:spLocks noChangeArrowheads="1"/>
          </p:cNvSpPr>
          <p:nvPr/>
        </p:nvSpPr>
        <p:spPr bwMode="auto">
          <a:xfrm>
            <a:off x="8866188" y="6477000"/>
            <a:ext cx="166211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400"/>
              <a:t>Source: D. Forsyth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397278-2EBD-13E7-F0E5-24D908E48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11925300" cy="685800"/>
          </a:xfrm>
        </p:spPr>
        <p:txBody>
          <a:bodyPr/>
          <a:lstStyle/>
          <a:p>
            <a:pPr eaLnBrk="1" hangingPunct="1"/>
            <a:r>
              <a:rPr lang="en-US" dirty="0">
                <a:solidFill>
                  <a:schemeClr val="tx1"/>
                </a:solidFill>
              </a:rPr>
              <a:t>Review: Smoothing vs. Derivative Filters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70088" y="1019176"/>
            <a:ext cx="8229600" cy="4525963"/>
          </a:xfrm>
        </p:spPr>
        <p:txBody>
          <a:bodyPr/>
          <a:lstStyle/>
          <a:p>
            <a:pPr eaLnBrk="1" hangingPunct="1"/>
            <a:r>
              <a:rPr lang="en-US" dirty="0"/>
              <a:t>Smoothing filters</a:t>
            </a:r>
          </a:p>
          <a:p>
            <a:pPr lvl="1" eaLnBrk="1" hangingPunct="1"/>
            <a:r>
              <a:rPr lang="en-US" dirty="0"/>
              <a:t>Gaussian: remove “high-frequency” components; </a:t>
            </a:r>
            <a:br>
              <a:rPr lang="en-US" dirty="0"/>
            </a:br>
            <a:r>
              <a:rPr lang="en-US" dirty="0"/>
              <a:t>“low-pass” filter</a:t>
            </a:r>
          </a:p>
          <a:p>
            <a:pPr lvl="1" eaLnBrk="1" hangingPunct="1"/>
            <a:r>
              <a:rPr lang="en-US" dirty="0"/>
              <a:t>Can the values of a smoothing filter be negative?</a:t>
            </a:r>
          </a:p>
          <a:p>
            <a:pPr lvl="1" eaLnBrk="1" hangingPunct="1"/>
            <a:r>
              <a:rPr lang="en-US" dirty="0"/>
              <a:t>What should the values sum to?</a:t>
            </a:r>
          </a:p>
          <a:p>
            <a:pPr lvl="2" eaLnBrk="1" hangingPunct="1"/>
            <a:r>
              <a:rPr lang="en-US" b="1" dirty="0"/>
              <a:t>One:</a:t>
            </a:r>
            <a:r>
              <a:rPr lang="en-US" dirty="0"/>
              <a:t> constant regions are not affected by the filter</a:t>
            </a:r>
            <a:endParaRPr lang="en-US" sz="2000" dirty="0"/>
          </a:p>
          <a:p>
            <a:pPr lvl="1" eaLnBrk="1" hangingPunct="1">
              <a:buNone/>
            </a:pPr>
            <a:endParaRPr lang="en-US" dirty="0"/>
          </a:p>
          <a:p>
            <a:pPr eaLnBrk="1" hangingPunct="1">
              <a:buFontTx/>
              <a:buNone/>
            </a:pPr>
            <a:br>
              <a:rPr lang="en-US" sz="800" dirty="0"/>
            </a:br>
            <a:endParaRPr lang="en-US" sz="800" dirty="0"/>
          </a:p>
          <a:p>
            <a:pPr eaLnBrk="1" hangingPunct="1"/>
            <a:r>
              <a:rPr lang="en-US" dirty="0"/>
              <a:t>Derivative filters</a:t>
            </a:r>
          </a:p>
          <a:p>
            <a:pPr lvl="1" eaLnBrk="1" hangingPunct="1"/>
            <a:r>
              <a:rPr lang="en-US" dirty="0"/>
              <a:t>Derivatives of Gaussian</a:t>
            </a:r>
          </a:p>
          <a:p>
            <a:pPr lvl="1" eaLnBrk="1" hangingPunct="1"/>
            <a:r>
              <a:rPr lang="en-US" dirty="0"/>
              <a:t>Can the values of a derivative filter be negative?</a:t>
            </a:r>
          </a:p>
          <a:p>
            <a:pPr lvl="1" eaLnBrk="1" hangingPunct="1"/>
            <a:r>
              <a:rPr lang="en-US" dirty="0"/>
              <a:t>What should the values sum to? </a:t>
            </a:r>
            <a:endParaRPr lang="en-US" dirty="0">
              <a:sym typeface="Wingdings" pitchFamily="2" charset="2"/>
            </a:endParaRPr>
          </a:p>
          <a:p>
            <a:pPr lvl="2" eaLnBrk="1" hangingPunct="1"/>
            <a:r>
              <a:rPr lang="en-US" b="1" dirty="0">
                <a:sym typeface="Wingdings" pitchFamily="2" charset="2"/>
              </a:rPr>
              <a:t>Zero:</a:t>
            </a:r>
            <a:r>
              <a:rPr lang="en-US" dirty="0">
                <a:sym typeface="Wingdings" pitchFamily="2" charset="2"/>
              </a:rPr>
              <a:t> n</a:t>
            </a:r>
            <a:r>
              <a:rPr lang="en-US" dirty="0"/>
              <a:t>o response in constant regions</a:t>
            </a:r>
          </a:p>
          <a:p>
            <a:pPr lvl="1" eaLnBrk="1" hangingPunct="1"/>
            <a:r>
              <a:rPr lang="en-US" dirty="0"/>
              <a:t>High absolute value at points of high contrast</a:t>
            </a:r>
          </a:p>
          <a:p>
            <a:pPr lvl="1" eaLnBrk="1" hangingPunct="1"/>
            <a:endParaRPr lang="en-US" sz="800" dirty="0"/>
          </a:p>
          <a:p>
            <a:pPr lvl="1" eaLnBrk="1" hangingPunct="1"/>
            <a:endParaRPr lang="en-US" sz="2600" dirty="0"/>
          </a:p>
          <a:p>
            <a:pPr lvl="1" eaLnBrk="1" hangingPunct="1">
              <a:buFontTx/>
              <a:buNone/>
            </a:pPr>
            <a:endParaRPr lang="en-US" dirty="0"/>
          </a:p>
          <a:p>
            <a:pPr lvl="1" eaLnBrk="1" hangingPunct="1"/>
            <a:endParaRPr lang="en-US" dirty="0"/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372600" y="1066800"/>
            <a:ext cx="10668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001000" y="3657600"/>
            <a:ext cx="10668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9372600" y="3657600"/>
            <a:ext cx="10668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0B66F90-5583-5A57-2421-04F0F17EC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The Canny Edge Detector</a:t>
            </a:r>
          </a:p>
        </p:txBody>
      </p:sp>
      <p:sp>
        <p:nvSpPr>
          <p:cNvPr id="1249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33400" indent="-533400">
              <a:spcBef>
                <a:spcPts val="600"/>
              </a:spcBef>
              <a:buFont typeface="+mj-lt"/>
              <a:buAutoNum type="arabicPeriod"/>
            </a:pPr>
            <a:r>
              <a:rPr lang="en-US" sz="2400" dirty="0"/>
              <a:t>Filter image with derivative of Gaussian </a:t>
            </a:r>
          </a:p>
          <a:p>
            <a:pPr marL="533400" indent="-533400">
              <a:spcBef>
                <a:spcPts val="600"/>
              </a:spcBef>
              <a:buFont typeface="+mj-lt"/>
              <a:buAutoNum type="arabicPeriod"/>
            </a:pPr>
            <a:r>
              <a:rPr lang="en-US" sz="2400" dirty="0"/>
              <a:t>Find magnitude and orientation of gradient</a:t>
            </a:r>
          </a:p>
          <a:p>
            <a:pPr marL="533400" indent="-533400">
              <a:spcBef>
                <a:spcPts val="600"/>
              </a:spcBef>
              <a:buFont typeface="+mj-lt"/>
              <a:buAutoNum type="arabicPeriod"/>
            </a:pPr>
            <a:r>
              <a:rPr lang="en-US" sz="2400" b="1" dirty="0"/>
              <a:t>Non-maximum suppression</a:t>
            </a:r>
            <a:r>
              <a:rPr lang="en-US" sz="2400" dirty="0"/>
              <a:t>:</a:t>
            </a:r>
          </a:p>
          <a:p>
            <a:pPr marL="914400" lvl="1" indent="-457200">
              <a:spcBef>
                <a:spcPts val="600"/>
              </a:spcBef>
            </a:pPr>
            <a:r>
              <a:rPr lang="en-US" sz="2400" dirty="0"/>
              <a:t>Thin wide “ridges” down to single pixel width</a:t>
            </a:r>
          </a:p>
          <a:p>
            <a:pPr marL="533400" indent="-533400">
              <a:spcBef>
                <a:spcPts val="600"/>
              </a:spcBef>
              <a:buFont typeface="+mj-lt"/>
              <a:buAutoNum type="arabicPeriod"/>
            </a:pPr>
            <a:r>
              <a:rPr lang="en-US" sz="2400" b="1" dirty="0"/>
              <a:t>Linking and </a:t>
            </a:r>
            <a:r>
              <a:rPr lang="en-US" sz="2400" b="1" dirty="0" err="1"/>
              <a:t>thresholding</a:t>
            </a:r>
            <a:r>
              <a:rPr lang="en-US" sz="2400" b="1" dirty="0"/>
              <a:t> </a:t>
            </a:r>
            <a:r>
              <a:rPr lang="en-US" sz="2400" dirty="0"/>
              <a:t>(</a:t>
            </a:r>
            <a:r>
              <a:rPr lang="en-US" sz="2400" b="1" dirty="0"/>
              <a:t>hysteresis</a:t>
            </a:r>
            <a:r>
              <a:rPr lang="en-US" sz="2400" dirty="0"/>
              <a:t>):</a:t>
            </a:r>
          </a:p>
          <a:p>
            <a:pPr marL="914400" lvl="1" indent="-457200">
              <a:spcBef>
                <a:spcPts val="600"/>
              </a:spcBef>
            </a:pPr>
            <a:r>
              <a:rPr lang="en-US" sz="2400" dirty="0"/>
              <a:t>Define two thresholds: low and high</a:t>
            </a:r>
          </a:p>
          <a:p>
            <a:pPr marL="914400" lvl="1" indent="-457200">
              <a:spcBef>
                <a:spcPts val="600"/>
              </a:spcBef>
            </a:pPr>
            <a:r>
              <a:rPr lang="en-US" sz="2400" dirty="0"/>
              <a:t>Use the high threshold to start edge curves and the low threshold to continue them</a:t>
            </a:r>
            <a:br>
              <a:rPr lang="en-US" sz="2400" dirty="0"/>
            </a:br>
            <a:endParaRPr lang="en-US" sz="800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23825" y="5334000"/>
            <a:ext cx="1161097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/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J. Canny, </a:t>
            </a:r>
            <a:r>
              <a:rPr lang="en-US" sz="20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3"/>
              </a:rPr>
              <a:t>A Computational Approach To Edge Detection</a:t>
            </a:r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IEEE Trans. Pattern Analysis and Machine Intelligence, 8:679-714, 1986.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78BB9B-0D1D-322C-5E6E-7F79727B3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The Canny Edge Detector</a:t>
            </a:r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09800" y="5791200"/>
            <a:ext cx="7772400" cy="6096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dirty="0"/>
              <a:t>original image</a:t>
            </a:r>
          </a:p>
        </p:txBody>
      </p:sp>
      <p:pic>
        <p:nvPicPr>
          <p:cNvPr id="125956" name="Picture 5" descr="lena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38600" y="1250950"/>
            <a:ext cx="4387850" cy="438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8534400" y="6553201"/>
            <a:ext cx="3048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kern="0" dirty="0">
                <a:solidFill>
                  <a:sysClr val="windowText" lastClr="000000"/>
                </a:solidFill>
              </a:rPr>
              <a:t>Slide credit: Steve Seitz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1F1DF6-0E99-BB8F-67EC-CAB15C479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B6091F-1D79-4D8F-AA52-BBC1BB2C256A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The Canny Edge Detector</a:t>
            </a:r>
          </a:p>
        </p:txBody>
      </p:sp>
      <p:pic>
        <p:nvPicPr>
          <p:cNvPr id="126979" name="Picture 5" descr="canny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38600" y="1219200"/>
            <a:ext cx="4387850" cy="438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6980" name="Rectangle 9"/>
          <p:cNvSpPr>
            <a:spLocks noChangeArrowheads="1"/>
          </p:cNvSpPr>
          <p:nvPr/>
        </p:nvSpPr>
        <p:spPr bwMode="auto">
          <a:xfrm>
            <a:off x="2209800" y="5791200"/>
            <a:ext cx="7772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ctr">
              <a:spcBef>
                <a:spcPct val="20000"/>
              </a:spcBef>
            </a:pPr>
            <a:r>
              <a:rPr lang="en-US">
                <a:solidFill>
                  <a:srgbClr val="000000"/>
                </a:solidFill>
                <a:latin typeface="Arial" pitchFamily="34" charset="0"/>
                <a:cs typeface="+mn-cs"/>
              </a:rPr>
              <a:t>norm of the gradient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944A15-9410-7F6C-BC05-DC4D93FA4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B6091F-1D79-4D8F-AA52-BBC1BB2C256A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The Canny Edge Detector</a:t>
            </a:r>
            <a:endParaRPr lang="en-US" dirty="0"/>
          </a:p>
        </p:txBody>
      </p:sp>
      <p:pic>
        <p:nvPicPr>
          <p:cNvPr id="128003" name="Picture 5" descr="canny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38601" y="1219201"/>
            <a:ext cx="4360863" cy="4360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8004" name="Rectangle 7"/>
          <p:cNvSpPr>
            <a:spLocks noChangeArrowheads="1"/>
          </p:cNvSpPr>
          <p:nvPr/>
        </p:nvSpPr>
        <p:spPr bwMode="auto">
          <a:xfrm>
            <a:off x="2209800" y="5791200"/>
            <a:ext cx="7772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ctr">
              <a:spcBef>
                <a:spcPct val="20000"/>
              </a:spcBef>
            </a:pPr>
            <a:r>
              <a:rPr lang="en-US" dirty="0" err="1">
                <a:solidFill>
                  <a:srgbClr val="000000"/>
                </a:solidFill>
                <a:latin typeface="Arial" pitchFamily="34" charset="0"/>
                <a:cs typeface="+mn-cs"/>
              </a:rPr>
              <a:t>thresholding</a:t>
            </a:r>
            <a:endParaRPr lang="en-US" dirty="0">
              <a:solidFill>
                <a:srgbClr val="000000"/>
              </a:solidFill>
              <a:latin typeface="Arial" pitchFamily="34" charset="0"/>
              <a:cs typeface="+mn-c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DB959E-049B-C49A-72F7-B15042DBC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B6091F-1D79-4D8F-AA52-BBC1BB2C256A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The Canny Edge Detector</a:t>
            </a:r>
            <a:endParaRPr lang="en-US" dirty="0"/>
          </a:p>
        </p:txBody>
      </p:sp>
      <p:pic>
        <p:nvPicPr>
          <p:cNvPr id="129027" name="Picture 5" descr="canny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38601" y="1219201"/>
            <a:ext cx="4360863" cy="4360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9028" name="Rectangle 7"/>
          <p:cNvSpPr>
            <a:spLocks noChangeArrowheads="1"/>
          </p:cNvSpPr>
          <p:nvPr/>
        </p:nvSpPr>
        <p:spPr bwMode="auto">
          <a:xfrm>
            <a:off x="2209800" y="5791200"/>
            <a:ext cx="7772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ctr">
              <a:spcBef>
                <a:spcPct val="20000"/>
              </a:spcBef>
            </a:pPr>
            <a:r>
              <a:rPr lang="en-US" dirty="0" err="1">
                <a:solidFill>
                  <a:srgbClr val="000000"/>
                </a:solidFill>
                <a:latin typeface="Arial" pitchFamily="34" charset="0"/>
                <a:cs typeface="+mn-cs"/>
              </a:rPr>
              <a:t>thresholding</a:t>
            </a:r>
            <a:endParaRPr lang="en-US" dirty="0">
              <a:solidFill>
                <a:srgbClr val="000000"/>
              </a:solidFill>
              <a:latin typeface="Arial" pitchFamily="34" charset="0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351589" y="3830639"/>
            <a:ext cx="949325" cy="1387475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b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031" name="TextBox 6"/>
          <p:cNvSpPr txBox="1">
            <a:spLocks noChangeArrowheads="1"/>
          </p:cNvSpPr>
          <p:nvPr/>
        </p:nvSpPr>
        <p:spPr bwMode="auto">
          <a:xfrm>
            <a:off x="8763001" y="1646238"/>
            <a:ext cx="1825625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cs typeface="+mn-cs"/>
              </a:rPr>
              <a:t>How to turn these thick regions of the gradient into curves?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rot="5400000">
            <a:off x="6819901" y="2743201"/>
            <a:ext cx="2095500" cy="1714501"/>
          </a:xfrm>
          <a:prstGeom prst="straightConnector1">
            <a:avLst/>
          </a:prstGeom>
          <a:ln w="381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9033" name="Picture 10" descr="http://www.owlnet.rice.edu/~elec539/Projects97/morphjrks/fig1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14501" y="1895476"/>
            <a:ext cx="1895475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9034" name="Picture 12" descr="http://www.owlnet.rice.edu/~elec539/Projects97/morphjrks/fig2.gif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677989" y="3538538"/>
            <a:ext cx="2105025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D2BF926-D88A-0BA7-7F6D-7AFD8356E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B6091F-1D79-4D8F-AA52-BBC1BB2C256A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Non-Maximum Suppression</a:t>
            </a:r>
          </a:p>
        </p:txBody>
      </p:sp>
      <p:sp>
        <p:nvSpPr>
          <p:cNvPr id="13005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09800" y="5029200"/>
            <a:ext cx="7772400" cy="1143000"/>
          </a:xfrm>
        </p:spPr>
        <p:txBody>
          <a:bodyPr/>
          <a:lstStyle/>
          <a:p>
            <a:pPr>
              <a:buFontTx/>
              <a:buNone/>
            </a:pPr>
            <a:r>
              <a:rPr lang="en-US" dirty="0"/>
              <a:t>Check if pixel is local maximum along gradient direction, select single max across width of the edge</a:t>
            </a:r>
          </a:p>
          <a:p>
            <a:pPr lvl="1"/>
            <a:r>
              <a:rPr lang="en-US" dirty="0"/>
              <a:t>requires checking interpolated pixels p and r</a:t>
            </a:r>
          </a:p>
        </p:txBody>
      </p:sp>
      <p:pic>
        <p:nvPicPr>
          <p:cNvPr id="13005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90800" y="1295400"/>
            <a:ext cx="3200400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0053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72200" y="1295400"/>
            <a:ext cx="3200400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8F7D51A-E71E-C7D9-1846-527EFE152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B6091F-1D79-4D8F-AA52-BBC1BB2C256A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074" name="Picture 2" descr="canny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38601" y="1219201"/>
            <a:ext cx="4397375" cy="439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1075" name="Rectangle 3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The Canny Edge Detector</a:t>
            </a:r>
            <a:endParaRPr lang="en-US" dirty="0"/>
          </a:p>
        </p:txBody>
      </p:sp>
      <p:sp>
        <p:nvSpPr>
          <p:cNvPr id="131076" name="Rectangle 4"/>
          <p:cNvSpPr>
            <a:spLocks noChangeArrowheads="1"/>
          </p:cNvSpPr>
          <p:nvPr/>
        </p:nvSpPr>
        <p:spPr bwMode="auto">
          <a:xfrm>
            <a:off x="2209800" y="5791200"/>
            <a:ext cx="7772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ctr">
              <a:spcBef>
                <a:spcPct val="20000"/>
              </a:spcBef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cs typeface="+mn-cs"/>
              </a:rPr>
              <a:t>thinning</a:t>
            </a:r>
          </a:p>
          <a:p>
            <a:pPr marL="342900" indent="-342900" algn="ctr">
              <a:spcBef>
                <a:spcPct val="20000"/>
              </a:spcBef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cs typeface="+mn-cs"/>
              </a:rPr>
              <a:t>(non-maximum suppression)</a:t>
            </a:r>
          </a:p>
        </p:txBody>
      </p:sp>
      <p:pic>
        <p:nvPicPr>
          <p:cNvPr id="5" name="Picture 5" descr="canny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038601" y="1219201"/>
            <a:ext cx="4360863" cy="4360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Oval 5"/>
          <p:cNvSpPr/>
          <p:nvPr/>
        </p:nvSpPr>
        <p:spPr>
          <a:xfrm>
            <a:off x="6132514" y="4378325"/>
            <a:ext cx="657225" cy="292100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b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8542338" y="3136900"/>
            <a:ext cx="1935162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cs typeface="+mn-cs"/>
              </a:rPr>
              <a:t>Problem: pixels along this edge didn’t survive the </a:t>
            </a:r>
            <a:r>
              <a:rPr lang="en-US" dirty="0" err="1">
                <a:solidFill>
                  <a:srgbClr val="000000"/>
                </a:solidFill>
                <a:latin typeface="Arial" pitchFamily="34" charset="0"/>
                <a:cs typeface="+mn-cs"/>
              </a:rPr>
              <a:t>thresholding</a:t>
            </a:r>
            <a:endParaRPr lang="en-US" dirty="0">
              <a:solidFill>
                <a:srgbClr val="000000"/>
              </a:solidFill>
              <a:latin typeface="Arial" pitchFamily="34" charset="0"/>
              <a:cs typeface="+mn-c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8B485B-D23C-B57F-2DD0-7AAE15713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B6091F-1D79-4D8F-AA52-BBC1BB2C256A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Hysteresis </a:t>
            </a:r>
            <a:r>
              <a:rPr lang="en-US" dirty="0" err="1">
                <a:solidFill>
                  <a:schemeClr val="tx1"/>
                </a:solidFill>
              </a:rPr>
              <a:t>Thresholding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20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a high threshold to start edge curves, and a low threshold to continue them.</a:t>
            </a:r>
            <a:endParaRPr lang="en-US" b="1" dirty="0"/>
          </a:p>
        </p:txBody>
      </p:sp>
      <p:sp>
        <p:nvSpPr>
          <p:cNvPr id="132100" name="Freeform 4"/>
          <p:cNvSpPr>
            <a:spLocks/>
          </p:cNvSpPr>
          <p:nvPr/>
        </p:nvSpPr>
        <p:spPr bwMode="auto">
          <a:xfrm>
            <a:off x="1835150" y="3960813"/>
            <a:ext cx="2743200" cy="774700"/>
          </a:xfrm>
          <a:custGeom>
            <a:avLst/>
            <a:gdLst>
              <a:gd name="T0" fmla="*/ 2147483647 w 1728"/>
              <a:gd name="T1" fmla="*/ 2147483647 h 488"/>
              <a:gd name="T2" fmla="*/ 2147483647 w 1728"/>
              <a:gd name="T3" fmla="*/ 2147483647 h 488"/>
              <a:gd name="T4" fmla="*/ 2147483647 w 1728"/>
              <a:gd name="T5" fmla="*/ 2147483647 h 488"/>
              <a:gd name="T6" fmla="*/ 2147483647 w 1728"/>
              <a:gd name="T7" fmla="*/ 2147483647 h 488"/>
              <a:gd name="T8" fmla="*/ 2147483647 w 1728"/>
              <a:gd name="T9" fmla="*/ 2147483647 h 4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728"/>
              <a:gd name="T16" fmla="*/ 0 h 488"/>
              <a:gd name="T17" fmla="*/ 1728 w 1728"/>
              <a:gd name="T18" fmla="*/ 488 h 48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728" h="488">
                <a:moveTo>
                  <a:pt x="96" y="464"/>
                </a:moveTo>
                <a:cubicBezTo>
                  <a:pt x="48" y="476"/>
                  <a:pt x="0" y="488"/>
                  <a:pt x="96" y="416"/>
                </a:cubicBezTo>
                <a:cubicBezTo>
                  <a:pt x="192" y="344"/>
                  <a:pt x="488" y="64"/>
                  <a:pt x="672" y="32"/>
                </a:cubicBezTo>
                <a:cubicBezTo>
                  <a:pt x="856" y="0"/>
                  <a:pt x="1024" y="184"/>
                  <a:pt x="1200" y="224"/>
                </a:cubicBezTo>
                <a:cubicBezTo>
                  <a:pt x="1376" y="264"/>
                  <a:pt x="1552" y="268"/>
                  <a:pt x="1728" y="272"/>
                </a:cubicBezTo>
              </a:path>
            </a:pathLst>
          </a:custGeom>
          <a:noFill/>
          <a:ln w="762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000000"/>
              </a:solidFill>
              <a:latin typeface="Arial" pitchFamily="34" charset="0"/>
              <a:cs typeface="+mn-cs"/>
            </a:endParaRPr>
          </a:p>
        </p:txBody>
      </p:sp>
      <p:sp>
        <p:nvSpPr>
          <p:cNvPr id="132101" name="Freeform 5"/>
          <p:cNvSpPr>
            <a:spLocks/>
          </p:cNvSpPr>
          <p:nvPr/>
        </p:nvSpPr>
        <p:spPr bwMode="auto">
          <a:xfrm>
            <a:off x="4502150" y="3998913"/>
            <a:ext cx="2590800" cy="698500"/>
          </a:xfrm>
          <a:custGeom>
            <a:avLst/>
            <a:gdLst>
              <a:gd name="T0" fmla="*/ 0 w 1632"/>
              <a:gd name="T1" fmla="*/ 2147483647 h 440"/>
              <a:gd name="T2" fmla="*/ 2147483647 w 1632"/>
              <a:gd name="T3" fmla="*/ 2147483647 h 440"/>
              <a:gd name="T4" fmla="*/ 2147483647 w 1632"/>
              <a:gd name="T5" fmla="*/ 2147483647 h 440"/>
              <a:gd name="T6" fmla="*/ 2147483647 w 1632"/>
              <a:gd name="T7" fmla="*/ 2147483647 h 440"/>
              <a:gd name="T8" fmla="*/ 2147483647 w 1632"/>
              <a:gd name="T9" fmla="*/ 2147483647 h 4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32"/>
              <a:gd name="T16" fmla="*/ 0 h 440"/>
              <a:gd name="T17" fmla="*/ 1632 w 1632"/>
              <a:gd name="T18" fmla="*/ 440 h 4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32" h="440">
                <a:moveTo>
                  <a:pt x="0" y="248"/>
                </a:moveTo>
                <a:cubicBezTo>
                  <a:pt x="72" y="268"/>
                  <a:pt x="144" y="288"/>
                  <a:pt x="288" y="248"/>
                </a:cubicBezTo>
                <a:cubicBezTo>
                  <a:pt x="432" y="208"/>
                  <a:pt x="664" y="0"/>
                  <a:pt x="864" y="8"/>
                </a:cubicBezTo>
                <a:cubicBezTo>
                  <a:pt x="1064" y="16"/>
                  <a:pt x="1360" y="224"/>
                  <a:pt x="1488" y="296"/>
                </a:cubicBezTo>
                <a:cubicBezTo>
                  <a:pt x="1616" y="368"/>
                  <a:pt x="1624" y="404"/>
                  <a:pt x="1632" y="440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000000"/>
              </a:solidFill>
              <a:latin typeface="Arial" pitchFamily="34" charset="0"/>
              <a:cs typeface="+mn-cs"/>
            </a:endParaRPr>
          </a:p>
        </p:txBody>
      </p:sp>
      <p:sp>
        <p:nvSpPr>
          <p:cNvPr id="132102" name="Freeform 6"/>
          <p:cNvSpPr>
            <a:spLocks/>
          </p:cNvSpPr>
          <p:nvPr/>
        </p:nvSpPr>
        <p:spPr bwMode="auto">
          <a:xfrm>
            <a:off x="6991350" y="4697413"/>
            <a:ext cx="711200" cy="609600"/>
          </a:xfrm>
          <a:custGeom>
            <a:avLst/>
            <a:gdLst>
              <a:gd name="T0" fmla="*/ 2147483647 w 448"/>
              <a:gd name="T1" fmla="*/ 0 h 384"/>
              <a:gd name="T2" fmla="*/ 2147483647 w 448"/>
              <a:gd name="T3" fmla="*/ 2147483647 h 384"/>
              <a:gd name="T4" fmla="*/ 2147483647 w 448"/>
              <a:gd name="T5" fmla="*/ 2147483647 h 384"/>
              <a:gd name="T6" fmla="*/ 0 60000 65536"/>
              <a:gd name="T7" fmla="*/ 0 60000 65536"/>
              <a:gd name="T8" fmla="*/ 0 60000 65536"/>
              <a:gd name="T9" fmla="*/ 0 w 448"/>
              <a:gd name="T10" fmla="*/ 0 h 384"/>
              <a:gd name="T11" fmla="*/ 448 w 448"/>
              <a:gd name="T12" fmla="*/ 384 h 3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48" h="384">
                <a:moveTo>
                  <a:pt x="64" y="0"/>
                </a:moveTo>
                <a:cubicBezTo>
                  <a:pt x="32" y="88"/>
                  <a:pt x="0" y="176"/>
                  <a:pt x="64" y="240"/>
                </a:cubicBezTo>
                <a:cubicBezTo>
                  <a:pt x="128" y="304"/>
                  <a:pt x="288" y="344"/>
                  <a:pt x="448" y="384"/>
                </a:cubicBezTo>
              </a:path>
            </a:pathLst>
          </a:cu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000000"/>
              </a:solidFill>
              <a:latin typeface="Arial" pitchFamily="34" charset="0"/>
              <a:cs typeface="+mn-cs"/>
            </a:endParaRPr>
          </a:p>
        </p:txBody>
      </p:sp>
      <p:sp>
        <p:nvSpPr>
          <p:cNvPr id="132103" name="Freeform 7"/>
          <p:cNvSpPr>
            <a:spLocks/>
          </p:cNvSpPr>
          <p:nvPr/>
        </p:nvSpPr>
        <p:spPr bwMode="auto">
          <a:xfrm>
            <a:off x="7702550" y="4545013"/>
            <a:ext cx="2286000" cy="965200"/>
          </a:xfrm>
          <a:custGeom>
            <a:avLst/>
            <a:gdLst>
              <a:gd name="T0" fmla="*/ 0 w 1440"/>
              <a:gd name="T1" fmla="*/ 2147483647 h 608"/>
              <a:gd name="T2" fmla="*/ 2147483647 w 1440"/>
              <a:gd name="T3" fmla="*/ 2147483647 h 608"/>
              <a:gd name="T4" fmla="*/ 2147483647 w 1440"/>
              <a:gd name="T5" fmla="*/ 2147483647 h 608"/>
              <a:gd name="T6" fmla="*/ 2147483647 w 1440"/>
              <a:gd name="T7" fmla="*/ 2147483647 h 608"/>
              <a:gd name="T8" fmla="*/ 2147483647 w 1440"/>
              <a:gd name="T9" fmla="*/ 0 h 60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0"/>
              <a:gd name="T16" fmla="*/ 0 h 608"/>
              <a:gd name="T17" fmla="*/ 1440 w 1440"/>
              <a:gd name="T18" fmla="*/ 608 h 60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0" h="608">
                <a:moveTo>
                  <a:pt x="0" y="480"/>
                </a:moveTo>
                <a:cubicBezTo>
                  <a:pt x="24" y="496"/>
                  <a:pt x="48" y="512"/>
                  <a:pt x="144" y="528"/>
                </a:cubicBezTo>
                <a:cubicBezTo>
                  <a:pt x="240" y="544"/>
                  <a:pt x="408" y="608"/>
                  <a:pt x="576" y="576"/>
                </a:cubicBezTo>
                <a:cubicBezTo>
                  <a:pt x="744" y="544"/>
                  <a:pt x="1008" y="432"/>
                  <a:pt x="1152" y="336"/>
                </a:cubicBezTo>
                <a:cubicBezTo>
                  <a:pt x="1296" y="240"/>
                  <a:pt x="1368" y="120"/>
                  <a:pt x="1440" y="0"/>
                </a:cubicBez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endParaRPr lang="en-US" b="1">
              <a:solidFill>
                <a:srgbClr val="000000"/>
              </a:solidFill>
              <a:latin typeface="Arial" pitchFamily="34" charset="0"/>
              <a:cs typeface="+mn-cs"/>
            </a:endParaRPr>
          </a:p>
        </p:txBody>
      </p:sp>
      <p:sp>
        <p:nvSpPr>
          <p:cNvPr id="132104" name="Text Box 8"/>
          <p:cNvSpPr txBox="1">
            <a:spLocks noChangeArrowheads="1"/>
          </p:cNvSpPr>
          <p:nvPr/>
        </p:nvSpPr>
        <p:spPr bwMode="auto">
          <a:xfrm>
            <a:off x="8832850" y="6553201"/>
            <a:ext cx="282575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rtl="0" fontAlgn="base">
              <a:spcBef>
                <a:spcPct val="50000"/>
              </a:spcBef>
              <a:spcAft>
                <a:spcPct val="0"/>
              </a:spcAft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cs typeface="+mn-cs"/>
              </a:rPr>
              <a:t>Source: Steve Seitz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9DD921-8B6F-A9E6-576B-0671DAC97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Hysteresis </a:t>
            </a:r>
            <a:r>
              <a:rPr lang="en-US" dirty="0" err="1">
                <a:solidFill>
                  <a:schemeClr val="tx1"/>
                </a:solidFill>
              </a:rPr>
              <a:t>Thresholding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33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5400000">
            <a:off x="4991100" y="647700"/>
            <a:ext cx="2209800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24" name="Text Box 4"/>
          <p:cNvSpPr txBox="1">
            <a:spLocks noChangeArrowheads="1"/>
          </p:cNvSpPr>
          <p:nvPr/>
        </p:nvSpPr>
        <p:spPr bwMode="auto">
          <a:xfrm>
            <a:off x="5319714" y="3200400"/>
            <a:ext cx="192071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original image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752600" y="3829051"/>
            <a:ext cx="2592388" cy="2746375"/>
            <a:chOff x="144" y="2412"/>
            <a:chExt cx="1633" cy="1730"/>
          </a:xfrm>
        </p:grpSpPr>
        <p:pic>
          <p:nvPicPr>
            <p:cNvPr id="133133" name="Picture 6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 rot="5400000">
              <a:off x="343" y="2213"/>
              <a:ext cx="1236" cy="16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3134" name="Text Box 7"/>
            <p:cNvSpPr txBox="1">
              <a:spLocks noChangeArrowheads="1"/>
            </p:cNvSpPr>
            <p:nvPr/>
          </p:nvSpPr>
          <p:spPr bwMode="auto">
            <a:xfrm>
              <a:off x="392" y="3696"/>
              <a:ext cx="1238" cy="4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000" b="1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high threshold</a:t>
              </a:r>
            </a:p>
            <a:p>
              <a:pPr algn="ct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000" b="1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(strong edges)</a:t>
              </a:r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4800600" y="3829051"/>
            <a:ext cx="2592388" cy="2746375"/>
            <a:chOff x="2064" y="2412"/>
            <a:chExt cx="1633" cy="1730"/>
          </a:xfrm>
        </p:grpSpPr>
        <p:pic>
          <p:nvPicPr>
            <p:cNvPr id="133131" name="Picture 9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 rot="5400000">
              <a:off x="2273" y="2203"/>
              <a:ext cx="1215" cy="16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3132" name="Text Box 10"/>
            <p:cNvSpPr txBox="1">
              <a:spLocks noChangeArrowheads="1"/>
            </p:cNvSpPr>
            <p:nvPr/>
          </p:nvSpPr>
          <p:spPr bwMode="auto">
            <a:xfrm>
              <a:off x="2300" y="3696"/>
              <a:ext cx="1165" cy="4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000" b="1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low threshold</a:t>
              </a:r>
            </a:p>
            <a:p>
              <a:pPr algn="ct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000" b="1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(weak edges)</a:t>
              </a:r>
            </a:p>
          </p:txBody>
        </p:sp>
      </p:grpSp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7816850" y="3829050"/>
            <a:ext cx="2692400" cy="2438400"/>
            <a:chOff x="3964" y="2412"/>
            <a:chExt cx="1696" cy="1536"/>
          </a:xfrm>
        </p:grpSpPr>
        <p:pic>
          <p:nvPicPr>
            <p:cNvPr id="133129" name="Picture 12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 rot="5400000">
              <a:off x="4198" y="2198"/>
              <a:ext cx="1203" cy="16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3130" name="Text Box 13"/>
            <p:cNvSpPr txBox="1">
              <a:spLocks noChangeArrowheads="1"/>
            </p:cNvSpPr>
            <p:nvPr/>
          </p:nvSpPr>
          <p:spPr bwMode="auto">
            <a:xfrm>
              <a:off x="3964" y="3696"/>
              <a:ext cx="169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000" b="1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hysteresis threshold</a:t>
              </a:r>
            </a:p>
          </p:txBody>
        </p:sp>
      </p:grpSp>
      <p:sp>
        <p:nvSpPr>
          <p:cNvPr id="133128" name="Text Box 14"/>
          <p:cNvSpPr txBox="1">
            <a:spLocks noChangeArrowheads="1"/>
          </p:cNvSpPr>
          <p:nvPr/>
        </p:nvSpPr>
        <p:spPr bwMode="auto">
          <a:xfrm>
            <a:off x="8999538" y="6553200"/>
            <a:ext cx="15922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Source: L. </a:t>
            </a:r>
            <a:r>
              <a:rPr lang="en-US" sz="1400" dirty="0" err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Fei-Fei</a:t>
            </a:r>
            <a:endParaRPr lang="en-US" sz="1400" dirty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EB34AF-FDF7-D223-CC1B-1CC8199EB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Recap: Canny Edge Detector</a:t>
            </a:r>
          </a:p>
        </p:txBody>
      </p:sp>
      <p:sp>
        <p:nvSpPr>
          <p:cNvPr id="1249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33400" indent="-533400">
              <a:spcBef>
                <a:spcPts val="600"/>
              </a:spcBef>
              <a:buFont typeface="+mj-lt"/>
              <a:buAutoNum type="arabicPeriod"/>
            </a:pPr>
            <a:r>
              <a:rPr lang="en-US" sz="2400" dirty="0"/>
              <a:t>Compute x and y gradient images </a:t>
            </a:r>
          </a:p>
          <a:p>
            <a:pPr marL="533400" indent="-533400">
              <a:spcBef>
                <a:spcPts val="600"/>
              </a:spcBef>
              <a:buFont typeface="+mj-lt"/>
              <a:buAutoNum type="arabicPeriod"/>
            </a:pPr>
            <a:r>
              <a:rPr lang="en-US" sz="2400" dirty="0"/>
              <a:t>Find magnitude and orientation of gradient</a:t>
            </a:r>
          </a:p>
          <a:p>
            <a:pPr marL="533400" indent="-533400">
              <a:spcBef>
                <a:spcPts val="600"/>
              </a:spcBef>
              <a:buFont typeface="+mj-lt"/>
              <a:buAutoNum type="arabicPeriod"/>
            </a:pPr>
            <a:r>
              <a:rPr lang="en-US" sz="2400" b="1" dirty="0"/>
              <a:t>Non-maximum suppression</a:t>
            </a:r>
            <a:r>
              <a:rPr lang="en-US" sz="2400" dirty="0"/>
              <a:t>:</a:t>
            </a:r>
          </a:p>
          <a:p>
            <a:pPr marL="914400" lvl="1" indent="-457200">
              <a:spcBef>
                <a:spcPts val="600"/>
              </a:spcBef>
            </a:pPr>
            <a:r>
              <a:rPr lang="en-US" sz="2400" dirty="0"/>
              <a:t>Thin wide “ridges” down to single pixel width</a:t>
            </a:r>
          </a:p>
          <a:p>
            <a:pPr marL="533400" indent="-533400">
              <a:spcBef>
                <a:spcPts val="600"/>
              </a:spcBef>
              <a:buFont typeface="+mj-lt"/>
              <a:buAutoNum type="arabicPeriod"/>
            </a:pPr>
            <a:r>
              <a:rPr lang="en-US" sz="2400" b="1" dirty="0"/>
              <a:t>Linking and </a:t>
            </a:r>
            <a:r>
              <a:rPr lang="en-US" sz="2400" b="1" dirty="0" err="1"/>
              <a:t>thresholding</a:t>
            </a:r>
            <a:r>
              <a:rPr lang="en-US" sz="2400" b="1" dirty="0"/>
              <a:t> </a:t>
            </a:r>
            <a:r>
              <a:rPr lang="en-US" sz="2400" dirty="0"/>
              <a:t>(</a:t>
            </a:r>
            <a:r>
              <a:rPr lang="en-US" sz="2400" b="1" dirty="0"/>
              <a:t>hysteresis</a:t>
            </a:r>
            <a:r>
              <a:rPr lang="en-US" sz="2400" dirty="0"/>
              <a:t>):</a:t>
            </a:r>
          </a:p>
          <a:p>
            <a:pPr marL="914400" lvl="1" indent="-457200">
              <a:spcBef>
                <a:spcPts val="600"/>
              </a:spcBef>
            </a:pPr>
            <a:r>
              <a:rPr lang="en-US" sz="2400" dirty="0"/>
              <a:t>Define two thresholds: low and high</a:t>
            </a:r>
          </a:p>
          <a:p>
            <a:pPr marL="914400" lvl="1" indent="-457200">
              <a:spcBef>
                <a:spcPts val="600"/>
              </a:spcBef>
            </a:pPr>
            <a:r>
              <a:rPr lang="en-US" sz="2400" dirty="0"/>
              <a:t>Use the high threshold to start edge curves and the low threshold to continue them</a:t>
            </a:r>
            <a:br>
              <a:rPr lang="en-US" sz="2400" dirty="0"/>
            </a:br>
            <a:endParaRPr lang="en-US" sz="800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23825" y="5818872"/>
            <a:ext cx="1176337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/>
            <a:r>
              <a:rPr lang="en-US" sz="1800" dirty="0"/>
              <a:t>J. Canny, </a:t>
            </a:r>
            <a:r>
              <a:rPr lang="en-US" sz="1800" b="1" i="1" dirty="0">
                <a:hlinkClick r:id="rId3"/>
              </a:rPr>
              <a:t>A Computational Approach To Edge Detection</a:t>
            </a:r>
            <a:r>
              <a:rPr lang="en-US" sz="1800" dirty="0"/>
              <a:t>, IEEE Trans. Pattern Analysis and Machine Intelligence, 8:679-714, 1986.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645E025-E249-1F1E-56AF-A5B25DAA7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427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1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Image Gradients vs. Meaningful Contours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114300" y="5612947"/>
            <a:ext cx="11772900" cy="657224"/>
          </a:xfrm>
        </p:spPr>
        <p:txBody>
          <a:bodyPr/>
          <a:lstStyle/>
          <a:p>
            <a:r>
              <a:rPr lang="en-US" sz="2400" dirty="0"/>
              <a:t>Berkeley segmentation database:</a:t>
            </a:r>
            <a:br>
              <a:rPr lang="en-US" sz="2400" dirty="0"/>
            </a:br>
            <a:r>
              <a:rPr lang="en-US" sz="1600" dirty="0">
                <a:hlinkClick r:id="rId3"/>
              </a:rPr>
              <a:t>http://www.eecs.berkeley.edu/Research/Projects/CS/vision/grouping/segbench/</a:t>
            </a:r>
            <a:endParaRPr lang="en-US" sz="1600" dirty="0"/>
          </a:p>
        </p:txBody>
      </p:sp>
      <p:pic>
        <p:nvPicPr>
          <p:cNvPr id="3174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985964" y="1603376"/>
            <a:ext cx="2662237" cy="177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74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800600" y="1603375"/>
            <a:ext cx="2667000" cy="177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750" name="Picture 6" descr="buffalo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613650" y="1603375"/>
            <a:ext cx="2673350" cy="17843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31751" name="Picture 8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981200" y="3557589"/>
            <a:ext cx="2667000" cy="177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752" name="Picture 9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800600" y="3557589"/>
            <a:ext cx="2667000" cy="177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753" name="Picture 10" descr="boys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7613650" y="3557589"/>
            <a:ext cx="2667000" cy="17795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31754" name="Text Box 11"/>
          <p:cNvSpPr txBox="1">
            <a:spLocks noChangeArrowheads="1"/>
          </p:cNvSpPr>
          <p:nvPr/>
        </p:nvSpPr>
        <p:spPr bwMode="auto">
          <a:xfrm>
            <a:off x="2870200" y="1146176"/>
            <a:ext cx="806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image</a:t>
            </a:r>
          </a:p>
        </p:txBody>
      </p:sp>
      <p:sp>
        <p:nvSpPr>
          <p:cNvPr id="31755" name="Text Box 12"/>
          <p:cNvSpPr txBox="1">
            <a:spLocks noChangeArrowheads="1"/>
          </p:cNvSpPr>
          <p:nvPr/>
        </p:nvSpPr>
        <p:spPr bwMode="auto">
          <a:xfrm>
            <a:off x="4997450" y="1143001"/>
            <a:ext cx="2317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human segmentation</a:t>
            </a:r>
          </a:p>
        </p:txBody>
      </p:sp>
      <p:sp>
        <p:nvSpPr>
          <p:cNvPr id="31756" name="Text Box 13"/>
          <p:cNvSpPr txBox="1">
            <a:spLocks noChangeArrowheads="1"/>
          </p:cNvSpPr>
          <p:nvPr/>
        </p:nvSpPr>
        <p:spPr bwMode="auto">
          <a:xfrm>
            <a:off x="7842250" y="1146176"/>
            <a:ext cx="2139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gradient magnitude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04A9F5-0F41-1571-2A6D-C74EA8A7F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Data-Driven Edge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57401" y="6324600"/>
            <a:ext cx="8028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P. Dollar and L. </a:t>
            </a:r>
            <a:r>
              <a:rPr lang="en-US" sz="1800" dirty="0" err="1"/>
              <a:t>Zitnick</a:t>
            </a:r>
            <a:r>
              <a:rPr lang="en-US" sz="1800" dirty="0"/>
              <a:t>, </a:t>
            </a:r>
            <a:r>
              <a:rPr lang="en-US" sz="1800" dirty="0">
                <a:hlinkClick r:id="rId2"/>
              </a:rPr>
              <a:t>Structured forests for fast edge detection</a:t>
            </a:r>
            <a:r>
              <a:rPr lang="en-US" sz="1800" dirty="0"/>
              <a:t>, ICCV 2013</a:t>
            </a:r>
          </a:p>
        </p:txBody>
      </p:sp>
      <p:grpSp>
        <p:nvGrpSpPr>
          <p:cNvPr id="70" name="Group 69"/>
          <p:cNvGrpSpPr/>
          <p:nvPr/>
        </p:nvGrpSpPr>
        <p:grpSpPr>
          <a:xfrm>
            <a:off x="1823469" y="1969528"/>
            <a:ext cx="3129531" cy="3669272"/>
            <a:chOff x="762000" y="1654654"/>
            <a:chExt cx="3723044" cy="4365146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2000" y="2127102"/>
              <a:ext cx="429768" cy="42976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32187" y="2127102"/>
              <a:ext cx="429768" cy="42976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02373" y="2127102"/>
              <a:ext cx="429768" cy="42976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72560" y="2127102"/>
              <a:ext cx="429768" cy="42976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12933" y="2127102"/>
              <a:ext cx="429768" cy="42976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83119" y="2127102"/>
              <a:ext cx="429768" cy="42976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53306" y="2127102"/>
              <a:ext cx="429768" cy="42976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2746" y="2127102"/>
              <a:ext cx="429768" cy="42976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2000" y="1654654"/>
              <a:ext cx="429768" cy="429768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32187" y="1654654"/>
              <a:ext cx="429768" cy="429768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02373" y="1654654"/>
              <a:ext cx="429768" cy="429768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72560" y="1654654"/>
              <a:ext cx="429768" cy="429768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2746" y="1654654"/>
              <a:ext cx="429768" cy="429768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12933" y="1654654"/>
              <a:ext cx="429768" cy="429768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83119" y="1654654"/>
              <a:ext cx="429768" cy="429768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53306" y="1654654"/>
              <a:ext cx="429768" cy="429768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2000" y="3285114"/>
              <a:ext cx="429768" cy="42976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32187" y="3285114"/>
              <a:ext cx="429768" cy="42976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02373" y="3285114"/>
              <a:ext cx="429768" cy="42976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72560" y="3285114"/>
              <a:ext cx="429768" cy="42976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2746" y="3285114"/>
              <a:ext cx="429768" cy="42976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26" name="Picture 25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12933" y="3285114"/>
              <a:ext cx="429768" cy="42976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83119" y="3285114"/>
              <a:ext cx="429768" cy="42976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53306" y="3285114"/>
              <a:ext cx="429768" cy="42976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29" name="Picture 28"/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2000" y="2812666"/>
              <a:ext cx="429768" cy="429768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0" name="Picture 29"/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32187" y="2812666"/>
              <a:ext cx="429768" cy="429768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1" name="Picture 30"/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02373" y="2812666"/>
              <a:ext cx="429768" cy="429768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2" name="Picture 31"/>
            <p:cNvPicPr>
              <a:picLocks noChangeAspect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72560" y="2812666"/>
              <a:ext cx="429768" cy="429768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3" name="Picture 32"/>
            <p:cNvPicPr>
              <a:picLocks noChangeAspect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2746" y="2812666"/>
              <a:ext cx="429768" cy="429768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4" name="Picture 33"/>
            <p:cNvPicPr>
              <a:picLocks noChangeAspect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12933" y="2812666"/>
              <a:ext cx="429768" cy="429768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5" name="Picture 34"/>
            <p:cNvPicPr>
              <a:picLocks noChangeAspect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83119" y="2812666"/>
              <a:ext cx="429768" cy="429768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6" name="Picture 35"/>
            <p:cNvPicPr>
              <a:picLocks noChangeAspect="1"/>
            </p:cNvPicPr>
            <p:nvPr/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53306" y="2812666"/>
              <a:ext cx="429768" cy="429768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7" name="Picture 36"/>
            <p:cNvPicPr>
              <a:picLocks noChangeAspect="1"/>
            </p:cNvPicPr>
            <p:nvPr/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2000" y="4475948"/>
              <a:ext cx="429768" cy="42976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38" name="Picture 37"/>
            <p:cNvPicPr>
              <a:picLocks noChangeAspect="1"/>
            </p:cNvPicPr>
            <p:nvPr/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32187" y="4475948"/>
              <a:ext cx="429768" cy="42976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39" name="Picture 38"/>
            <p:cNvPicPr>
              <a:picLocks noChangeAspect="1"/>
            </p:cNvPicPr>
            <p:nvPr/>
          </p:nvPicPr>
          <p:blipFill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02374" y="4475948"/>
              <a:ext cx="429768" cy="42976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40" name="Picture 39"/>
            <p:cNvPicPr>
              <a:picLocks noChangeAspect="1"/>
            </p:cNvPicPr>
            <p:nvPr/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72561" y="4475948"/>
              <a:ext cx="429768" cy="42976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41" name="Picture 40"/>
            <p:cNvPicPr>
              <a:picLocks noChangeAspect="1"/>
            </p:cNvPicPr>
            <p:nvPr/>
          </p:nvPicPr>
          <p:blipFill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2748" y="4475948"/>
              <a:ext cx="429768" cy="42976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42" name="Picture 41"/>
            <p:cNvPicPr>
              <a:picLocks noChangeAspect="1"/>
            </p:cNvPicPr>
            <p:nvPr/>
          </p:nvPicPr>
          <p:blipFill>
            <a:blip r:embed="rId3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12935" y="4475948"/>
              <a:ext cx="429768" cy="42976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43" name="Picture 42"/>
            <p:cNvPicPr>
              <a:picLocks noChangeAspect="1"/>
            </p:cNvPicPr>
            <p:nvPr/>
          </p:nvPicPr>
          <p:blipFill>
            <a:blip r:embed="rId3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83122" y="4475948"/>
              <a:ext cx="429768" cy="42976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44" name="Picture 43"/>
            <p:cNvPicPr>
              <a:picLocks noChangeAspect="1"/>
            </p:cNvPicPr>
            <p:nvPr/>
          </p:nvPicPr>
          <p:blipFill>
            <a:blip r:embed="rId3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53309" y="4475948"/>
              <a:ext cx="429768" cy="42976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45" name="Picture 44"/>
            <p:cNvPicPr>
              <a:picLocks noChangeAspect="1"/>
            </p:cNvPicPr>
            <p:nvPr/>
          </p:nvPicPr>
          <p:blipFill>
            <a:blip r:embed="rId4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2000" y="3994955"/>
              <a:ext cx="429768" cy="429768"/>
            </a:xfrm>
            <a:prstGeom prst="rect">
              <a:avLst/>
            </a:prstGeom>
            <a:ln>
              <a:noFill/>
            </a:ln>
          </p:spPr>
        </p:pic>
        <p:pic>
          <p:nvPicPr>
            <p:cNvPr id="46" name="Picture 45"/>
            <p:cNvPicPr>
              <a:picLocks noChangeAspect="1"/>
            </p:cNvPicPr>
            <p:nvPr/>
          </p:nvPicPr>
          <p:blipFill>
            <a:blip r:embed="rId4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32187" y="3994955"/>
              <a:ext cx="429768" cy="429768"/>
            </a:xfrm>
            <a:prstGeom prst="rect">
              <a:avLst/>
            </a:prstGeom>
            <a:ln>
              <a:noFill/>
            </a:ln>
          </p:spPr>
        </p:pic>
        <p:pic>
          <p:nvPicPr>
            <p:cNvPr id="47" name="Picture 46"/>
            <p:cNvPicPr>
              <a:picLocks noChangeAspect="1"/>
            </p:cNvPicPr>
            <p:nvPr/>
          </p:nvPicPr>
          <p:blipFill>
            <a:blip r:embed="rId4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02373" y="3994955"/>
              <a:ext cx="429768" cy="429768"/>
            </a:xfrm>
            <a:prstGeom prst="rect">
              <a:avLst/>
            </a:prstGeom>
            <a:ln>
              <a:noFill/>
            </a:ln>
          </p:spPr>
        </p:pic>
        <p:pic>
          <p:nvPicPr>
            <p:cNvPr id="48" name="Picture 47"/>
            <p:cNvPicPr>
              <a:picLocks noChangeAspect="1"/>
            </p:cNvPicPr>
            <p:nvPr/>
          </p:nvPicPr>
          <p:blipFill>
            <a:blip r:embed="rId4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72560" y="3994955"/>
              <a:ext cx="429768" cy="429768"/>
            </a:xfrm>
            <a:prstGeom prst="rect">
              <a:avLst/>
            </a:prstGeom>
            <a:ln>
              <a:noFill/>
            </a:ln>
          </p:spPr>
        </p:pic>
        <p:pic>
          <p:nvPicPr>
            <p:cNvPr id="49" name="Picture 48"/>
            <p:cNvPicPr>
              <a:picLocks noChangeAspect="1"/>
            </p:cNvPicPr>
            <p:nvPr/>
          </p:nvPicPr>
          <p:blipFill>
            <a:blip r:embed="rId4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2746" y="3994955"/>
              <a:ext cx="429768" cy="429768"/>
            </a:xfrm>
            <a:prstGeom prst="rect">
              <a:avLst/>
            </a:prstGeom>
            <a:ln>
              <a:noFill/>
            </a:ln>
          </p:spPr>
        </p:pic>
        <p:pic>
          <p:nvPicPr>
            <p:cNvPr id="50" name="Picture 49"/>
            <p:cNvPicPr>
              <a:picLocks noChangeAspect="1"/>
            </p:cNvPicPr>
            <p:nvPr/>
          </p:nvPicPr>
          <p:blipFill>
            <a:blip r:embed="rId4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12933" y="3994955"/>
              <a:ext cx="429768" cy="429768"/>
            </a:xfrm>
            <a:prstGeom prst="rect">
              <a:avLst/>
            </a:prstGeom>
            <a:ln>
              <a:noFill/>
            </a:ln>
          </p:spPr>
        </p:pic>
        <p:pic>
          <p:nvPicPr>
            <p:cNvPr id="51" name="Picture 50"/>
            <p:cNvPicPr>
              <a:picLocks noChangeAspect="1"/>
            </p:cNvPicPr>
            <p:nvPr/>
          </p:nvPicPr>
          <p:blipFill>
            <a:blip r:embed="rId4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83119" y="3994955"/>
              <a:ext cx="429768" cy="429768"/>
            </a:xfrm>
            <a:prstGeom prst="rect">
              <a:avLst/>
            </a:prstGeom>
            <a:ln>
              <a:noFill/>
            </a:ln>
          </p:spPr>
        </p:pic>
        <p:pic>
          <p:nvPicPr>
            <p:cNvPr id="52" name="Picture 51"/>
            <p:cNvPicPr>
              <a:picLocks noChangeAspect="1"/>
            </p:cNvPicPr>
            <p:nvPr/>
          </p:nvPicPr>
          <p:blipFill>
            <a:blip r:embed="rId4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53306" y="3994955"/>
              <a:ext cx="429768" cy="429768"/>
            </a:xfrm>
            <a:prstGeom prst="rect">
              <a:avLst/>
            </a:prstGeom>
            <a:ln>
              <a:noFill/>
            </a:ln>
          </p:spPr>
        </p:pic>
        <p:pic>
          <p:nvPicPr>
            <p:cNvPr id="53" name="Picture 52"/>
            <p:cNvPicPr>
              <a:picLocks noChangeAspect="1"/>
            </p:cNvPicPr>
            <p:nvPr/>
          </p:nvPicPr>
          <p:blipFill>
            <a:blip r:embed="rId4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2000" y="5590032"/>
              <a:ext cx="429768" cy="42976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54" name="Picture 53"/>
            <p:cNvPicPr>
              <a:picLocks noChangeAspect="1"/>
            </p:cNvPicPr>
            <p:nvPr/>
          </p:nvPicPr>
          <p:blipFill>
            <a:blip r:embed="rId4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32468" y="5590032"/>
              <a:ext cx="429768" cy="42976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55" name="Picture 54"/>
            <p:cNvPicPr>
              <a:picLocks noChangeAspect="1"/>
            </p:cNvPicPr>
            <p:nvPr/>
          </p:nvPicPr>
          <p:blipFill>
            <a:blip r:embed="rId5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02936" y="5590032"/>
              <a:ext cx="429768" cy="42976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56" name="Picture 55"/>
            <p:cNvPicPr>
              <a:picLocks noChangeAspect="1"/>
            </p:cNvPicPr>
            <p:nvPr/>
          </p:nvPicPr>
          <p:blipFill>
            <a:blip r:embed="rId5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73404" y="5590032"/>
              <a:ext cx="429768" cy="42976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57" name="Picture 56"/>
            <p:cNvPicPr>
              <a:picLocks noChangeAspect="1"/>
            </p:cNvPicPr>
            <p:nvPr/>
          </p:nvPicPr>
          <p:blipFill>
            <a:blip r:embed="rId5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3872" y="5590032"/>
              <a:ext cx="429768" cy="42976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58" name="Picture 57"/>
            <p:cNvPicPr>
              <a:picLocks noChangeAspect="1"/>
            </p:cNvPicPr>
            <p:nvPr/>
          </p:nvPicPr>
          <p:blipFill>
            <a:blip r:embed="rId5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14340" y="5590032"/>
              <a:ext cx="429768" cy="42976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59" name="Picture 58"/>
            <p:cNvPicPr>
              <a:picLocks noChangeAspect="1"/>
            </p:cNvPicPr>
            <p:nvPr/>
          </p:nvPicPr>
          <p:blipFill>
            <a:blip r:embed="rId5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84808" y="5590032"/>
              <a:ext cx="429768" cy="42976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60" name="Picture 59"/>
            <p:cNvPicPr>
              <a:picLocks noChangeAspect="1"/>
            </p:cNvPicPr>
            <p:nvPr/>
          </p:nvPicPr>
          <p:blipFill>
            <a:blip r:embed="rId5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55276" y="5590032"/>
              <a:ext cx="429768" cy="42976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61" name="Picture 60"/>
            <p:cNvPicPr>
              <a:picLocks noChangeAspect="1"/>
            </p:cNvPicPr>
            <p:nvPr/>
          </p:nvPicPr>
          <p:blipFill>
            <a:blip r:embed="rId5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2000" y="5109042"/>
              <a:ext cx="429768" cy="429768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2" name="Picture 61"/>
            <p:cNvPicPr>
              <a:picLocks noChangeAspect="1"/>
            </p:cNvPicPr>
            <p:nvPr/>
          </p:nvPicPr>
          <p:blipFill>
            <a:blip r:embed="rId5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32468" y="5109042"/>
              <a:ext cx="429768" cy="429768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3" name="Picture 62"/>
            <p:cNvPicPr>
              <a:picLocks noChangeAspect="1"/>
            </p:cNvPicPr>
            <p:nvPr/>
          </p:nvPicPr>
          <p:blipFill>
            <a:blip r:embed="rId5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02936" y="5109042"/>
              <a:ext cx="429768" cy="429768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4" name="Picture 63"/>
            <p:cNvPicPr>
              <a:picLocks noChangeAspect="1"/>
            </p:cNvPicPr>
            <p:nvPr/>
          </p:nvPicPr>
          <p:blipFill>
            <a:blip r:embed="rId5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73404" y="5109042"/>
              <a:ext cx="429768" cy="429768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5" name="Picture 64"/>
            <p:cNvPicPr>
              <a:picLocks noChangeAspect="1"/>
            </p:cNvPicPr>
            <p:nvPr/>
          </p:nvPicPr>
          <p:blipFill>
            <a:blip r:embed="rId6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3872" y="5109042"/>
              <a:ext cx="429768" cy="429768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6" name="Picture 65"/>
            <p:cNvPicPr>
              <a:picLocks noChangeAspect="1"/>
            </p:cNvPicPr>
            <p:nvPr/>
          </p:nvPicPr>
          <p:blipFill>
            <a:blip r:embed="rId6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14340" y="5109042"/>
              <a:ext cx="429768" cy="429768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7" name="Picture 66"/>
            <p:cNvPicPr>
              <a:picLocks noChangeAspect="1"/>
            </p:cNvPicPr>
            <p:nvPr/>
          </p:nvPicPr>
          <p:blipFill>
            <a:blip r:embed="rId6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84808" y="5109042"/>
              <a:ext cx="429768" cy="429768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8" name="Picture 67"/>
            <p:cNvPicPr>
              <a:picLocks noChangeAspect="1"/>
            </p:cNvPicPr>
            <p:nvPr/>
          </p:nvPicPr>
          <p:blipFill>
            <a:blip r:embed="rId6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55276" y="5109042"/>
              <a:ext cx="429768" cy="429768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69" name="TextBox 68"/>
          <p:cNvSpPr txBox="1"/>
          <p:nvPr/>
        </p:nvSpPr>
        <p:spPr>
          <a:xfrm>
            <a:off x="2362199" y="1443336"/>
            <a:ext cx="19718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Training data</a:t>
            </a:r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 rotWithShape="1">
          <a:blip r:embed="rId6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27" b="50901"/>
          <a:stretch/>
        </p:blipFill>
        <p:spPr bwMode="auto">
          <a:xfrm>
            <a:off x="5257799" y="1654654"/>
            <a:ext cx="5257800" cy="1188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39" name="Picture 3"/>
          <p:cNvPicPr>
            <a:picLocks noChangeAspect="1" noChangeArrowheads="1"/>
          </p:cNvPicPr>
          <p:nvPr/>
        </p:nvPicPr>
        <p:blipFill rotWithShape="1">
          <a:blip r:embed="rId6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86"/>
          <a:stretch/>
        </p:blipFill>
        <p:spPr bwMode="auto">
          <a:xfrm>
            <a:off x="5257800" y="4878732"/>
            <a:ext cx="5276088" cy="1217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" name="Picture 2"/>
          <p:cNvPicPr>
            <a:picLocks noChangeAspect="1" noChangeArrowheads="1"/>
          </p:cNvPicPr>
          <p:nvPr/>
        </p:nvPicPr>
        <p:blipFill rotWithShape="1">
          <a:blip r:embed="rId6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904" b="-3"/>
          <a:stretch/>
        </p:blipFill>
        <p:spPr bwMode="auto">
          <a:xfrm>
            <a:off x="5257800" y="3276600"/>
            <a:ext cx="5334000" cy="1188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" name="TextBox 73"/>
          <p:cNvSpPr txBox="1"/>
          <p:nvPr/>
        </p:nvSpPr>
        <p:spPr>
          <a:xfrm>
            <a:off x="6891231" y="1143001"/>
            <a:ext cx="19479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images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934200" y="2814936"/>
            <a:ext cx="19127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Ground truth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50203" y="441960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90EEF2-273F-D778-BC6C-0BE46F456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1869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4800" dirty="0"/>
              <a:t>Corners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Slides are from Svetlana </a:t>
            </a:r>
            <a:r>
              <a:rPr lang="en-US" dirty="0" err="1"/>
              <a:t>Lazebnik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1D318C-9EF3-3B57-A346-BB89D1D25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8ED516-33F9-4DD9-AFFA-667B71F1A011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3395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Extraction: Corners</a:t>
            </a:r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2971801" y="1219200"/>
          <a:ext cx="6290595" cy="502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8761905" imgH="7009524" progId="Photoshop.Image.10">
                  <p:embed/>
                </p:oleObj>
              </mc:Choice>
              <mc:Fallback>
                <p:oleObj name="Image" r:id="rId3" imgW="8761905" imgH="7009524" progId="Photoshop.Image.10">
                  <p:embed/>
                  <p:pic>
                    <p:nvPicPr>
                      <p:cNvPr id="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1" y="1219200"/>
                        <a:ext cx="6290595" cy="502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2971801" y="1257300"/>
            <a:ext cx="629060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</a:rPr>
              <a:t>9300 Harris Corners Pkwy, Charlotte, NC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43FB9D-595E-E677-9CDD-59B91FDD6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0903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Extract Features?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/>
              <a:t>Motivation: panorama stitching</a:t>
            </a:r>
          </a:p>
          <a:p>
            <a:pPr lvl="1"/>
            <a:r>
              <a:rPr lang="en-US"/>
              <a:t>We have two images – how do we combine them?</a:t>
            </a:r>
          </a:p>
        </p:txBody>
      </p:sp>
      <p:pic>
        <p:nvPicPr>
          <p:cNvPr id="27652" name="Picture 4" descr="image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62200" y="2133600"/>
            <a:ext cx="3676650" cy="266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653" name="Picture 5" descr="image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72200" y="2133600"/>
            <a:ext cx="3676650" cy="266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DEC1430-C6C2-9E88-2E15-8A71273CE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4417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6" descr="SIFT2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72201" y="2133600"/>
            <a:ext cx="3675063" cy="266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75" name="Picture 7" descr="SIFT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362201" y="2133601"/>
            <a:ext cx="3675063" cy="266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6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Extract Features?</a:t>
            </a:r>
          </a:p>
        </p:txBody>
      </p:sp>
      <p:sp>
        <p:nvSpPr>
          <p:cNvPr id="2867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/>
              <a:t>Motivation: panorama stitching</a:t>
            </a:r>
          </a:p>
          <a:p>
            <a:pPr lvl="1"/>
            <a:r>
              <a:rPr lang="en-US"/>
              <a:t>We have two images – how do we combine them?</a:t>
            </a:r>
          </a:p>
        </p:txBody>
      </p:sp>
      <p:sp>
        <p:nvSpPr>
          <p:cNvPr id="28678" name="Text Box 14"/>
          <p:cNvSpPr txBox="1">
            <a:spLocks noChangeArrowheads="1"/>
          </p:cNvSpPr>
          <p:nvPr/>
        </p:nvSpPr>
        <p:spPr bwMode="auto">
          <a:xfrm>
            <a:off x="2727326" y="5094288"/>
            <a:ext cx="386397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Step 1: extract features</a:t>
            </a:r>
          </a:p>
        </p:txBody>
      </p:sp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2743201" y="3054351"/>
            <a:ext cx="4829175" cy="3027363"/>
            <a:chOff x="768" y="1924"/>
            <a:chExt cx="3042" cy="1907"/>
          </a:xfrm>
        </p:grpSpPr>
        <p:sp>
          <p:nvSpPr>
            <p:cNvPr id="28680" name="Text Box 15"/>
            <p:cNvSpPr txBox="1">
              <a:spLocks noChangeArrowheads="1"/>
            </p:cNvSpPr>
            <p:nvPr/>
          </p:nvSpPr>
          <p:spPr bwMode="auto">
            <a:xfrm>
              <a:off x="768" y="3504"/>
              <a:ext cx="237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Step 2: match features</a:t>
              </a:r>
            </a:p>
          </p:txBody>
        </p:sp>
        <p:grpSp>
          <p:nvGrpSpPr>
            <p:cNvPr id="28681" name="Group 18"/>
            <p:cNvGrpSpPr>
              <a:grpSpLocks/>
            </p:cNvGrpSpPr>
            <p:nvPr/>
          </p:nvGrpSpPr>
          <p:grpSpPr bwMode="auto">
            <a:xfrm>
              <a:off x="2072" y="1924"/>
              <a:ext cx="1738" cy="954"/>
              <a:chOff x="2072" y="1924"/>
              <a:chExt cx="1738" cy="954"/>
            </a:xfrm>
          </p:grpSpPr>
          <p:sp>
            <p:nvSpPr>
              <p:cNvPr id="28682" name="Line 8"/>
              <p:cNvSpPr>
                <a:spLocks noChangeShapeType="1"/>
              </p:cNvSpPr>
              <p:nvPr/>
            </p:nvSpPr>
            <p:spPr bwMode="auto">
              <a:xfrm flipV="1">
                <a:off x="2072" y="1924"/>
                <a:ext cx="1200" cy="96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 type="triangle" w="med" len="med"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683" name="Line 9"/>
              <p:cNvSpPr>
                <a:spLocks noChangeShapeType="1"/>
              </p:cNvSpPr>
              <p:nvPr/>
            </p:nvSpPr>
            <p:spPr bwMode="auto">
              <a:xfrm>
                <a:off x="2666" y="2094"/>
                <a:ext cx="1144" cy="9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 type="triangle" w="med" len="med"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684" name="Line 10"/>
              <p:cNvSpPr>
                <a:spLocks noChangeShapeType="1"/>
              </p:cNvSpPr>
              <p:nvPr/>
            </p:nvSpPr>
            <p:spPr bwMode="auto">
              <a:xfrm flipV="1">
                <a:off x="2346" y="2788"/>
                <a:ext cx="1070" cy="9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 type="triangle" w="med" len="med"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685" name="Freeform 11"/>
              <p:cNvSpPr>
                <a:spLocks/>
              </p:cNvSpPr>
              <p:nvPr/>
            </p:nvSpPr>
            <p:spPr bwMode="auto">
              <a:xfrm>
                <a:off x="2617" y="2415"/>
                <a:ext cx="1092" cy="30"/>
              </a:xfrm>
              <a:custGeom>
                <a:avLst/>
                <a:gdLst>
                  <a:gd name="T0" fmla="*/ 0 w 1092"/>
                  <a:gd name="T1" fmla="*/ 30 h 30"/>
                  <a:gd name="T2" fmla="*/ 1092 w 1092"/>
                  <a:gd name="T3" fmla="*/ 0 h 30"/>
                  <a:gd name="T4" fmla="*/ 0 60000 65536"/>
                  <a:gd name="T5" fmla="*/ 0 60000 65536"/>
                  <a:gd name="T6" fmla="*/ 0 w 1092"/>
                  <a:gd name="T7" fmla="*/ 0 h 30"/>
                  <a:gd name="T8" fmla="*/ 1092 w 1092"/>
                  <a:gd name="T9" fmla="*/ 30 h 3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092" h="30">
                    <a:moveTo>
                      <a:pt x="0" y="30"/>
                    </a:moveTo>
                    <a:lnTo>
                      <a:pt x="1092" y="0"/>
                    </a:ln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 type="triangle" w="med" len="med"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686" name="Line 12"/>
              <p:cNvSpPr>
                <a:spLocks noChangeShapeType="1"/>
              </p:cNvSpPr>
              <p:nvPr/>
            </p:nvSpPr>
            <p:spPr bwMode="auto">
              <a:xfrm flipV="1">
                <a:off x="2170" y="2236"/>
                <a:ext cx="1150" cy="8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 type="triangle" w="med" len="med"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687" name="Freeform 17"/>
              <p:cNvSpPr>
                <a:spLocks/>
              </p:cNvSpPr>
              <p:nvPr/>
            </p:nvSpPr>
            <p:spPr bwMode="auto">
              <a:xfrm>
                <a:off x="2530" y="2617"/>
                <a:ext cx="1017" cy="65"/>
              </a:xfrm>
              <a:custGeom>
                <a:avLst/>
                <a:gdLst>
                  <a:gd name="T0" fmla="*/ 0 w 1017"/>
                  <a:gd name="T1" fmla="*/ 65 h 65"/>
                  <a:gd name="T2" fmla="*/ 1017 w 1017"/>
                  <a:gd name="T3" fmla="*/ 0 h 65"/>
                  <a:gd name="T4" fmla="*/ 0 60000 65536"/>
                  <a:gd name="T5" fmla="*/ 0 60000 65536"/>
                  <a:gd name="T6" fmla="*/ 0 w 1017"/>
                  <a:gd name="T7" fmla="*/ 0 h 65"/>
                  <a:gd name="T8" fmla="*/ 1017 w 1017"/>
                  <a:gd name="T9" fmla="*/ 65 h 6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017" h="65">
                    <a:moveTo>
                      <a:pt x="0" y="65"/>
                    </a:moveTo>
                    <a:lnTo>
                      <a:pt x="1017" y="0"/>
                    </a:ln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 type="triangle" w="med" len="med"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EAE0A0-34BB-0C10-32CD-1F82731F8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291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Extract Features?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/>
              <a:t>Motivation: panorama stitching</a:t>
            </a:r>
          </a:p>
          <a:p>
            <a:pPr lvl="1"/>
            <a:r>
              <a:rPr lang="en-US"/>
              <a:t>We have two images – how do we combine them?</a:t>
            </a:r>
          </a:p>
        </p:txBody>
      </p:sp>
      <p:sp>
        <p:nvSpPr>
          <p:cNvPr id="29700" name="Text Box 13"/>
          <p:cNvSpPr txBox="1">
            <a:spLocks noChangeArrowheads="1"/>
          </p:cNvSpPr>
          <p:nvPr/>
        </p:nvSpPr>
        <p:spPr bwMode="auto">
          <a:xfrm>
            <a:off x="2727326" y="5094288"/>
            <a:ext cx="386397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Step 1: extract features</a:t>
            </a:r>
          </a:p>
        </p:txBody>
      </p:sp>
      <p:sp>
        <p:nvSpPr>
          <p:cNvPr id="29701" name="Text Box 14"/>
          <p:cNvSpPr txBox="1">
            <a:spLocks noChangeArrowheads="1"/>
          </p:cNvSpPr>
          <p:nvPr/>
        </p:nvSpPr>
        <p:spPr bwMode="auto">
          <a:xfrm>
            <a:off x="2743200" y="5562601"/>
            <a:ext cx="37655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Step 2: match features</a:t>
            </a:r>
          </a:p>
        </p:txBody>
      </p:sp>
      <p:sp>
        <p:nvSpPr>
          <p:cNvPr id="29702" name="Text Box 15"/>
          <p:cNvSpPr txBox="1">
            <a:spLocks noChangeArrowheads="1"/>
          </p:cNvSpPr>
          <p:nvPr/>
        </p:nvSpPr>
        <p:spPr bwMode="auto">
          <a:xfrm>
            <a:off x="2743200" y="6034088"/>
            <a:ext cx="341153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Step 3: align images</a:t>
            </a:r>
          </a:p>
        </p:txBody>
      </p:sp>
      <p:pic>
        <p:nvPicPr>
          <p:cNvPr id="29703" name="Picture 16" descr="homography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62314" y="2133600"/>
            <a:ext cx="5691187" cy="2846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22F1F9-6FBF-CCFF-F67E-9ED6963D2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026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of Good Features</a:t>
            </a:r>
          </a:p>
        </p:txBody>
      </p:sp>
      <p:sp>
        <p:nvSpPr>
          <p:cNvPr id="1220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3276600"/>
            <a:ext cx="8001000" cy="358140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Char char="•"/>
            </a:pPr>
            <a:r>
              <a:rPr lang="en-US" sz="2400" dirty="0"/>
              <a:t>Repeatability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The same feature can be found in several images despite geometric and photometric transformations </a:t>
            </a:r>
          </a:p>
          <a:p>
            <a:pPr>
              <a:lnSpc>
                <a:spcPct val="90000"/>
              </a:lnSpc>
              <a:buFontTx/>
              <a:buChar char="•"/>
            </a:pPr>
            <a:r>
              <a:rPr lang="en-US" sz="2400" dirty="0"/>
              <a:t>Saliency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Each feature is distinctive</a:t>
            </a:r>
          </a:p>
          <a:p>
            <a:pPr>
              <a:lnSpc>
                <a:spcPct val="90000"/>
              </a:lnSpc>
              <a:buFontTx/>
              <a:buChar char="•"/>
            </a:pPr>
            <a:r>
              <a:rPr lang="en-US" sz="2400" dirty="0"/>
              <a:t>Compactness and efficiency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Many fewer features than image pixels</a:t>
            </a:r>
          </a:p>
          <a:p>
            <a:pPr>
              <a:lnSpc>
                <a:spcPct val="90000"/>
              </a:lnSpc>
              <a:buFontTx/>
              <a:buChar char="•"/>
            </a:pPr>
            <a:r>
              <a:rPr lang="en-US" sz="2400" dirty="0"/>
              <a:t>Locality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A feature occupies a relatively small area of the image; robust to clutter and occlusion</a:t>
            </a:r>
          </a:p>
        </p:txBody>
      </p:sp>
      <p:grpSp>
        <p:nvGrpSpPr>
          <p:cNvPr id="30724" name="Group 11"/>
          <p:cNvGrpSpPr>
            <a:grpSpLocks/>
          </p:cNvGrpSpPr>
          <p:nvPr/>
        </p:nvGrpSpPr>
        <p:grpSpPr bwMode="auto">
          <a:xfrm>
            <a:off x="3124200" y="990600"/>
            <a:ext cx="5791200" cy="2133600"/>
            <a:chOff x="528" y="624"/>
            <a:chExt cx="4715" cy="1678"/>
          </a:xfrm>
        </p:grpSpPr>
        <p:pic>
          <p:nvPicPr>
            <p:cNvPr id="30725" name="Picture 9" descr="SIFT2"/>
            <p:cNvPicPr>
              <a:picLocks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928" y="624"/>
              <a:ext cx="2315" cy="16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0726" name="Picture 10" descr="SIFT1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528" y="624"/>
              <a:ext cx="2315" cy="16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7AC901-F87A-4C44-DB46-B08490EF3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5246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Applications  </a:t>
            </a:r>
            <a:endParaRPr lang="ru-RU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914400"/>
            <a:ext cx="8001000" cy="5257800"/>
          </a:xfrm>
        </p:spPr>
        <p:txBody>
          <a:bodyPr/>
          <a:lstStyle/>
          <a:p>
            <a:r>
              <a:rPr lang="en-US" sz="3200" dirty="0"/>
              <a:t>Feature points are used for:</a:t>
            </a:r>
          </a:p>
          <a:p>
            <a:pPr lvl="1"/>
            <a:r>
              <a:rPr lang="en-US" sz="2400" dirty="0"/>
              <a:t>Image alignment </a:t>
            </a:r>
          </a:p>
          <a:p>
            <a:pPr lvl="1"/>
            <a:r>
              <a:rPr lang="en-US" sz="2400" dirty="0"/>
              <a:t>3D reconstruction</a:t>
            </a:r>
          </a:p>
          <a:p>
            <a:pPr lvl="1"/>
            <a:r>
              <a:rPr lang="en-US" sz="2400" dirty="0"/>
              <a:t>Motion tracking</a:t>
            </a:r>
          </a:p>
          <a:p>
            <a:pPr lvl="1"/>
            <a:r>
              <a:rPr lang="en-US" sz="2400" dirty="0"/>
              <a:t>Robot navigation</a:t>
            </a:r>
          </a:p>
          <a:p>
            <a:pPr lvl="1"/>
            <a:r>
              <a:rPr lang="en-US" sz="2400" dirty="0"/>
              <a:t>Indexing and database retrieval</a:t>
            </a:r>
          </a:p>
          <a:p>
            <a:pPr lvl="1"/>
            <a:r>
              <a:rPr lang="en-US" sz="2400" dirty="0"/>
              <a:t>Object recognition</a:t>
            </a:r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18426" y="1143000"/>
            <a:ext cx="2339975" cy="239262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</p:pic>
      <p:pic>
        <p:nvPicPr>
          <p:cNvPr id="5" name="Picture 4" descr="Inliers_im1_a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602557" y="4267200"/>
            <a:ext cx="3645578" cy="2360887"/>
          </a:xfrm>
          <a:prstGeom prst="rect">
            <a:avLst/>
          </a:prstGeom>
        </p:spPr>
      </p:pic>
      <p:pic>
        <p:nvPicPr>
          <p:cNvPr id="6" name="Picture 5" descr="Inliers_im2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324600" y="4266526"/>
            <a:ext cx="3286996" cy="236287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AD74380-5A23-8937-5DE5-6BEC6E767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0672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447800"/>
            <a:ext cx="44196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447800"/>
            <a:ext cx="44196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8" name="Rectangle 4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 vert="horz" wrap="square" lIns="91440" tIns="45720" rIns="13208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dirty="0"/>
              <a:t>A Hard Feature Matching Problem</a:t>
            </a:r>
          </a:p>
        </p:txBody>
      </p:sp>
      <p:sp>
        <p:nvSpPr>
          <p:cNvPr id="6149" name="Rectangle 5"/>
          <p:cNvSpPr>
            <a:spLocks/>
          </p:cNvSpPr>
          <p:nvPr/>
        </p:nvSpPr>
        <p:spPr bwMode="auto">
          <a:xfrm>
            <a:off x="4305300" y="5910263"/>
            <a:ext cx="36322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40639" bIns="0"/>
          <a:lstStyle/>
          <a:p>
            <a:pPr marL="39688" algn="ctr"/>
            <a:r>
              <a:rPr lang="en-US" sz="1600">
                <a:latin typeface="Arial" charset="0"/>
                <a:cs typeface="Arial" charset="0"/>
                <a:sym typeface="Arial" charset="0"/>
              </a:rPr>
              <a:t>NASA Mars Rover images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D16E199-450D-C17A-6CCC-3DF4884DB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4284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447800"/>
            <a:ext cx="44196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447800"/>
            <a:ext cx="44196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2" name="Rectangle 4"/>
          <p:cNvSpPr>
            <a:spLocks/>
          </p:cNvSpPr>
          <p:nvPr/>
        </p:nvSpPr>
        <p:spPr bwMode="auto">
          <a:xfrm>
            <a:off x="4305300" y="5910263"/>
            <a:ext cx="3632200" cy="77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40639" bIns="0"/>
          <a:lstStyle/>
          <a:p>
            <a:pPr marL="39688" algn="ctr"/>
            <a:r>
              <a:rPr lang="en-US" sz="1600">
                <a:latin typeface="Arial" charset="0"/>
                <a:cs typeface="Arial" charset="0"/>
                <a:sym typeface="Arial" charset="0"/>
              </a:rPr>
              <a:t>NASA Mars Rover images</a:t>
            </a:r>
          </a:p>
          <a:p>
            <a:pPr marL="39688" algn="ctr"/>
            <a:r>
              <a:rPr lang="en-US" sz="1600">
                <a:latin typeface="Arial" charset="0"/>
                <a:cs typeface="Arial" charset="0"/>
                <a:sym typeface="Arial" charset="0"/>
              </a:rPr>
              <a:t>with SIFT feature matches</a:t>
            </a:r>
            <a:br>
              <a:rPr lang="en-US" sz="1600">
                <a:latin typeface="Arial" charset="0"/>
                <a:cs typeface="Arial" charset="0"/>
                <a:sym typeface="Arial" charset="0"/>
              </a:rPr>
            </a:br>
            <a:r>
              <a:rPr lang="en-US" sz="1600">
                <a:latin typeface="Arial" charset="0"/>
                <a:cs typeface="Arial" charset="0"/>
                <a:sym typeface="Arial" charset="0"/>
              </a:rPr>
              <a:t>Figure by Noah Snavely</a:t>
            </a:r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 vert="horz" wrap="square" lIns="91440" tIns="45720" rIns="13208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dirty="0"/>
              <a:t>Answer Below (Look for Tiny Colored Squares …)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24602E-0FAA-5C42-718A-940D3C4CA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470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11811000" cy="533400"/>
          </a:xfrm>
        </p:spPr>
        <p:txBody>
          <a:bodyPr/>
          <a:lstStyle/>
          <a:p>
            <a:r>
              <a:rPr lang="en-US" dirty="0"/>
              <a:t>Corner Detection: Basic Idea</a:t>
            </a:r>
            <a:endParaRPr lang="ru-RU" dirty="0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990600"/>
            <a:ext cx="11925300" cy="1828800"/>
          </a:xfrm>
        </p:spPr>
        <p:txBody>
          <a:bodyPr/>
          <a:lstStyle/>
          <a:p>
            <a:pPr marL="0" indent="0">
              <a:lnSpc>
                <a:spcPct val="90000"/>
              </a:lnSpc>
            </a:pPr>
            <a:r>
              <a:rPr lang="en-US" sz="2400" dirty="0"/>
              <a:t>We should easily recognize the point by looking through a small window</a:t>
            </a:r>
          </a:p>
          <a:p>
            <a:pPr marL="0" indent="0">
              <a:lnSpc>
                <a:spcPct val="90000"/>
              </a:lnSpc>
            </a:pPr>
            <a:r>
              <a:rPr lang="en-US" sz="2400" dirty="0"/>
              <a:t>Shifting a window in </a:t>
            </a:r>
            <a:r>
              <a:rPr lang="en-US" sz="2400" i="1" dirty="0"/>
              <a:t>any</a:t>
            </a:r>
            <a:r>
              <a:rPr lang="en-US" sz="2400" dirty="0"/>
              <a:t> </a:t>
            </a:r>
            <a:r>
              <a:rPr lang="en-US" sz="2400" i="1" dirty="0"/>
              <a:t>direction</a:t>
            </a:r>
            <a:r>
              <a:rPr lang="en-US" sz="2400" dirty="0"/>
              <a:t> should give </a:t>
            </a:r>
            <a:r>
              <a:rPr lang="en-US" sz="2400" i="1" dirty="0"/>
              <a:t>a large change</a:t>
            </a:r>
            <a:r>
              <a:rPr lang="en-US" sz="2400" dirty="0"/>
              <a:t> in intensity</a:t>
            </a:r>
            <a:endParaRPr lang="ru-RU" sz="2400" dirty="0"/>
          </a:p>
        </p:txBody>
      </p:sp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4572000" y="2247106"/>
            <a:ext cx="3048000" cy="3517900"/>
            <a:chOff x="1920" y="1824"/>
            <a:chExt cx="1920" cy="2216"/>
          </a:xfrm>
        </p:grpSpPr>
        <p:pic>
          <p:nvPicPr>
            <p:cNvPr id="32790" name="Picture 8" descr="corner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160" y="1824"/>
              <a:ext cx="1440" cy="14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</p:pic>
        <p:sp>
          <p:nvSpPr>
            <p:cNvPr id="32791" name="Text Box 11"/>
            <p:cNvSpPr txBox="1">
              <a:spLocks noChangeArrowheads="1"/>
            </p:cNvSpPr>
            <p:nvPr/>
          </p:nvSpPr>
          <p:spPr bwMode="auto">
            <a:xfrm>
              <a:off x="1920" y="3284"/>
              <a:ext cx="1920" cy="7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 eaLnBrk="1" hangingPunct="1"/>
              <a:r>
                <a:rPr lang="en-US" sz="2400" dirty="0">
                  <a:solidFill>
                    <a:srgbClr val="C00000"/>
                  </a:solidFill>
                  <a:latin typeface="Arial Unicode MS" pitchFamily="34" charset="-128"/>
                  <a:cs typeface="Times New Roman" pitchFamily="18" charset="0"/>
                </a:rPr>
                <a:t>“edge”:</a:t>
              </a:r>
              <a:br>
                <a:rPr lang="en-US" sz="2400" dirty="0">
                  <a:latin typeface="Arial Unicode MS" pitchFamily="34" charset="-128"/>
                  <a:cs typeface="Times New Roman" pitchFamily="18" charset="0"/>
                </a:rPr>
              </a:br>
              <a:r>
                <a:rPr lang="en-US" sz="2400" dirty="0">
                  <a:latin typeface="Arial Unicode MS" pitchFamily="34" charset="-128"/>
                  <a:cs typeface="Times New Roman" pitchFamily="18" charset="0"/>
                </a:rPr>
                <a:t>no change along the edge direction</a:t>
              </a:r>
              <a:endParaRPr lang="ru-RU" sz="2400" dirty="0">
                <a:latin typeface="Arial Unicode MS" pitchFamily="34" charset="-128"/>
                <a:cs typeface="Times New Roman" pitchFamily="18" charset="0"/>
              </a:endParaRPr>
            </a:p>
          </p:txBody>
        </p:sp>
        <p:sp>
          <p:nvSpPr>
            <p:cNvPr id="32792" name="Rectangle 14"/>
            <p:cNvSpPr>
              <a:spLocks noChangeArrowheads="1"/>
            </p:cNvSpPr>
            <p:nvPr/>
          </p:nvSpPr>
          <p:spPr bwMode="auto">
            <a:xfrm>
              <a:off x="2496" y="2496"/>
              <a:ext cx="432" cy="432"/>
            </a:xfrm>
            <a:prstGeom prst="rect">
              <a:avLst/>
            </a:prstGeom>
            <a:solidFill>
              <a:srgbClr val="FFCC99">
                <a:alpha val="39999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93" name="Line 16"/>
            <p:cNvSpPr>
              <a:spLocks noChangeShapeType="1"/>
            </p:cNvSpPr>
            <p:nvPr/>
          </p:nvSpPr>
          <p:spPr bwMode="auto">
            <a:xfrm flipV="1">
              <a:off x="2352" y="254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30"/>
          <p:cNvGrpSpPr>
            <a:grpSpLocks/>
          </p:cNvGrpSpPr>
          <p:nvPr/>
        </p:nvGrpSpPr>
        <p:grpSpPr bwMode="auto">
          <a:xfrm>
            <a:off x="9163050" y="2247106"/>
            <a:ext cx="2781300" cy="3517900"/>
            <a:chOff x="3636" y="1824"/>
            <a:chExt cx="1752" cy="2216"/>
          </a:xfrm>
        </p:grpSpPr>
        <p:pic>
          <p:nvPicPr>
            <p:cNvPr id="32783" name="Picture 9" descr="corner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792" y="1824"/>
              <a:ext cx="1440" cy="14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</p:pic>
        <p:sp>
          <p:nvSpPr>
            <p:cNvPr id="32784" name="Text Box 12"/>
            <p:cNvSpPr txBox="1">
              <a:spLocks noChangeArrowheads="1"/>
            </p:cNvSpPr>
            <p:nvPr/>
          </p:nvSpPr>
          <p:spPr bwMode="auto">
            <a:xfrm>
              <a:off x="3636" y="3284"/>
              <a:ext cx="1752" cy="7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 eaLnBrk="1" hangingPunct="1"/>
              <a:r>
                <a:rPr lang="en-US" sz="2400" dirty="0">
                  <a:solidFill>
                    <a:srgbClr val="C00000"/>
                  </a:solidFill>
                  <a:latin typeface="Arial Unicode MS" pitchFamily="34" charset="-128"/>
                  <a:cs typeface="Times New Roman" pitchFamily="18" charset="0"/>
                </a:rPr>
                <a:t>“corner”:</a:t>
              </a:r>
              <a:br>
                <a:rPr lang="en-US" sz="2400" dirty="0">
                  <a:latin typeface="Arial Unicode MS" pitchFamily="34" charset="-128"/>
                  <a:cs typeface="Times New Roman" pitchFamily="18" charset="0"/>
                </a:rPr>
              </a:br>
              <a:r>
                <a:rPr lang="en-US" sz="2400" dirty="0">
                  <a:latin typeface="Arial Unicode MS" pitchFamily="34" charset="-128"/>
                  <a:cs typeface="Times New Roman" pitchFamily="18" charset="0"/>
                </a:rPr>
                <a:t>significant change in all directions</a:t>
              </a:r>
              <a:endParaRPr lang="ru-RU" sz="2400" dirty="0">
                <a:latin typeface="Arial Unicode MS" pitchFamily="34" charset="-128"/>
                <a:cs typeface="Times New Roman" pitchFamily="18" charset="0"/>
              </a:endParaRPr>
            </a:p>
          </p:txBody>
        </p:sp>
        <p:sp>
          <p:nvSpPr>
            <p:cNvPr id="32785" name="Rectangle 17"/>
            <p:cNvSpPr>
              <a:spLocks noChangeArrowheads="1"/>
            </p:cNvSpPr>
            <p:nvPr/>
          </p:nvSpPr>
          <p:spPr bwMode="auto">
            <a:xfrm>
              <a:off x="4224" y="2016"/>
              <a:ext cx="432" cy="432"/>
            </a:xfrm>
            <a:prstGeom prst="rect">
              <a:avLst/>
            </a:prstGeom>
            <a:solidFill>
              <a:srgbClr val="FFCC99">
                <a:alpha val="39999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86" name="Line 18"/>
            <p:cNvSpPr>
              <a:spLocks noChangeShapeType="1"/>
            </p:cNvSpPr>
            <p:nvPr/>
          </p:nvSpPr>
          <p:spPr bwMode="auto">
            <a:xfrm flipH="1">
              <a:off x="4080" y="2448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787" name="Line 20"/>
            <p:cNvSpPr>
              <a:spLocks noChangeShapeType="1"/>
            </p:cNvSpPr>
            <p:nvPr/>
          </p:nvSpPr>
          <p:spPr bwMode="auto">
            <a:xfrm flipH="1" flipV="1">
              <a:off x="4080" y="1872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788" name="Line 21"/>
            <p:cNvSpPr>
              <a:spLocks noChangeShapeType="1"/>
            </p:cNvSpPr>
            <p:nvPr/>
          </p:nvSpPr>
          <p:spPr bwMode="auto">
            <a:xfrm>
              <a:off x="4656" y="2448"/>
              <a:ext cx="144" cy="14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789" name="Line 22"/>
            <p:cNvSpPr>
              <a:spLocks noChangeShapeType="1"/>
            </p:cNvSpPr>
            <p:nvPr/>
          </p:nvSpPr>
          <p:spPr bwMode="auto">
            <a:xfrm flipV="1">
              <a:off x="4656" y="1872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28"/>
          <p:cNvGrpSpPr>
            <a:grpSpLocks/>
          </p:cNvGrpSpPr>
          <p:nvPr/>
        </p:nvGrpSpPr>
        <p:grpSpPr bwMode="auto">
          <a:xfrm>
            <a:off x="381000" y="2247106"/>
            <a:ext cx="2476500" cy="3541713"/>
            <a:chOff x="528" y="1824"/>
            <a:chExt cx="1560" cy="2231"/>
          </a:xfrm>
        </p:grpSpPr>
        <p:pic>
          <p:nvPicPr>
            <p:cNvPr id="32776" name="Picture 7" descr="corner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28" y="1824"/>
              <a:ext cx="1440" cy="14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</p:pic>
        <p:sp>
          <p:nvSpPr>
            <p:cNvPr id="32777" name="Text Box 10"/>
            <p:cNvSpPr txBox="1">
              <a:spLocks noChangeArrowheads="1"/>
            </p:cNvSpPr>
            <p:nvPr/>
          </p:nvSpPr>
          <p:spPr bwMode="auto">
            <a:xfrm>
              <a:off x="600" y="3299"/>
              <a:ext cx="1488" cy="7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 eaLnBrk="1" hangingPunct="1"/>
              <a:r>
                <a:rPr lang="en-US" sz="2400" dirty="0">
                  <a:solidFill>
                    <a:srgbClr val="C00000"/>
                  </a:solidFill>
                  <a:latin typeface="Arial Unicode MS" pitchFamily="34" charset="-128"/>
                  <a:cs typeface="Times New Roman" pitchFamily="18" charset="0"/>
                </a:rPr>
                <a:t>“flat” </a:t>
              </a:r>
              <a:r>
                <a:rPr lang="en-US" sz="2400" dirty="0">
                  <a:latin typeface="Arial Unicode MS" pitchFamily="34" charset="-128"/>
                  <a:cs typeface="Times New Roman" pitchFamily="18" charset="0"/>
                </a:rPr>
                <a:t>region:</a:t>
              </a:r>
              <a:br>
                <a:rPr lang="en-US" sz="2400" dirty="0">
                  <a:latin typeface="Arial Unicode MS" pitchFamily="34" charset="-128"/>
                  <a:cs typeface="Times New Roman" pitchFamily="18" charset="0"/>
                </a:rPr>
              </a:br>
              <a:r>
                <a:rPr lang="en-US" sz="2400" dirty="0">
                  <a:latin typeface="Arial Unicode MS" pitchFamily="34" charset="-128"/>
                  <a:cs typeface="Times New Roman" pitchFamily="18" charset="0"/>
                </a:rPr>
                <a:t>no change in all directions</a:t>
              </a:r>
              <a:endParaRPr lang="ru-RU" sz="2400" dirty="0">
                <a:latin typeface="Arial Unicode MS" pitchFamily="34" charset="-128"/>
                <a:cs typeface="Times New Roman" pitchFamily="18" charset="0"/>
              </a:endParaRPr>
            </a:p>
          </p:txBody>
        </p:sp>
        <p:sp>
          <p:nvSpPr>
            <p:cNvPr id="32778" name="Rectangle 13"/>
            <p:cNvSpPr>
              <a:spLocks noChangeArrowheads="1"/>
            </p:cNvSpPr>
            <p:nvPr/>
          </p:nvSpPr>
          <p:spPr bwMode="auto">
            <a:xfrm>
              <a:off x="1344" y="2496"/>
              <a:ext cx="432" cy="432"/>
            </a:xfrm>
            <a:prstGeom prst="rect">
              <a:avLst/>
            </a:prstGeom>
            <a:solidFill>
              <a:srgbClr val="FFCC99">
                <a:alpha val="39999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79" name="Line 23"/>
            <p:cNvSpPr>
              <a:spLocks noChangeShapeType="1"/>
            </p:cNvSpPr>
            <p:nvPr/>
          </p:nvSpPr>
          <p:spPr bwMode="auto">
            <a:xfrm>
              <a:off x="1776" y="2928"/>
              <a:ext cx="144" cy="14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780" name="Line 24"/>
            <p:cNvSpPr>
              <a:spLocks noChangeShapeType="1"/>
            </p:cNvSpPr>
            <p:nvPr/>
          </p:nvSpPr>
          <p:spPr bwMode="auto">
            <a:xfrm flipH="1">
              <a:off x="1200" y="2928"/>
              <a:ext cx="144" cy="14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781" name="Line 25"/>
            <p:cNvSpPr>
              <a:spLocks noChangeShapeType="1"/>
            </p:cNvSpPr>
            <p:nvPr/>
          </p:nvSpPr>
          <p:spPr bwMode="auto">
            <a:xfrm flipH="1" flipV="1">
              <a:off x="1200" y="2352"/>
              <a:ext cx="144" cy="14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782" name="Line 26"/>
            <p:cNvSpPr>
              <a:spLocks noChangeShapeType="1"/>
            </p:cNvSpPr>
            <p:nvPr/>
          </p:nvSpPr>
          <p:spPr bwMode="auto">
            <a:xfrm flipV="1">
              <a:off x="1776" y="2352"/>
              <a:ext cx="144" cy="14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915D18-19CD-782D-17D5-CDA8EDC09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856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Corner Detection: Mathematics</a:t>
            </a:r>
            <a:endParaRPr lang="ru-RU"/>
          </a:p>
        </p:txBody>
      </p:sp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1828800" y="1153180"/>
            <a:ext cx="8991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Change in appearance of window </a:t>
            </a:r>
            <a:r>
              <a:rPr lang="en-US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for the shift [</a:t>
            </a:r>
            <a:r>
              <a:rPr lang="en-US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u,v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]:</a:t>
            </a:r>
            <a:endParaRPr lang="ru-RU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3077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24200" y="3810000"/>
            <a:ext cx="2781300" cy="278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8" name="Picture 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239001" y="4191000"/>
            <a:ext cx="1971675" cy="19812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</p:spPr>
      </p:pic>
      <p:sp>
        <p:nvSpPr>
          <p:cNvPr id="3079" name="Rectangle 10"/>
          <p:cNvSpPr>
            <a:spLocks noChangeArrowheads="1"/>
          </p:cNvSpPr>
          <p:nvPr/>
        </p:nvSpPr>
        <p:spPr bwMode="auto">
          <a:xfrm>
            <a:off x="3789364" y="4452939"/>
            <a:ext cx="1462087" cy="1463675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80" name="TextBox 11"/>
          <p:cNvSpPr txBox="1">
            <a:spLocks noChangeArrowheads="1"/>
          </p:cNvSpPr>
          <p:nvPr/>
        </p:nvSpPr>
        <p:spPr bwMode="auto">
          <a:xfrm>
            <a:off x="4038600" y="3276601"/>
            <a:ext cx="104298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3081" name="TextBox 12"/>
          <p:cNvSpPr txBox="1">
            <a:spLocks noChangeArrowheads="1"/>
          </p:cNvSpPr>
          <p:nvPr/>
        </p:nvSpPr>
        <p:spPr bwMode="auto">
          <a:xfrm>
            <a:off x="7720014" y="3590926"/>
            <a:ext cx="1163637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4175126" y="4191001"/>
            <a:ext cx="1463675" cy="1463675"/>
          </a:xfrm>
          <a:prstGeom prst="rect">
            <a:avLst/>
          </a:prstGeom>
          <a:noFill/>
          <a:ln w="25400" algn="ctr">
            <a:solidFill>
              <a:srgbClr val="00FF00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8683626" y="4745039"/>
            <a:ext cx="174625" cy="174625"/>
          </a:xfrm>
          <a:prstGeom prst="rect">
            <a:avLst/>
          </a:prstGeom>
          <a:noFill/>
          <a:ln w="25400" algn="ctr">
            <a:solidFill>
              <a:srgbClr val="00FF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8382001" y="4876800"/>
            <a:ext cx="715963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 i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16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(3,2)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1"/>
              <p:cNvSpPr txBox="1"/>
              <p:nvPr/>
            </p:nvSpPr>
            <p:spPr>
              <a:xfrm>
                <a:off x="2438400" y="1905000"/>
                <a:ext cx="7200900" cy="10668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)∈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  <m:sup/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)−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Object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0" y="1905000"/>
                <a:ext cx="7200900" cy="10668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75A037-7669-AD47-85EA-8740D3476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645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8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Corner Detection: Mathematics</a:t>
            </a:r>
            <a:endParaRPr lang="ru-RU"/>
          </a:p>
        </p:txBody>
      </p:sp>
      <p:pic>
        <p:nvPicPr>
          <p:cNvPr id="3077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24200" y="3810000"/>
            <a:ext cx="2781300" cy="278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8" name="Picture 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239001" y="4191000"/>
            <a:ext cx="1971675" cy="19812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</p:spPr>
      </p:pic>
      <p:sp>
        <p:nvSpPr>
          <p:cNvPr id="3079" name="Rectangle 10"/>
          <p:cNvSpPr>
            <a:spLocks noChangeArrowheads="1"/>
          </p:cNvSpPr>
          <p:nvPr/>
        </p:nvSpPr>
        <p:spPr bwMode="auto">
          <a:xfrm>
            <a:off x="3789364" y="4452939"/>
            <a:ext cx="1462087" cy="1463675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80" name="TextBox 11"/>
          <p:cNvSpPr txBox="1">
            <a:spLocks noChangeArrowheads="1"/>
          </p:cNvSpPr>
          <p:nvPr/>
        </p:nvSpPr>
        <p:spPr bwMode="auto">
          <a:xfrm>
            <a:off x="4038600" y="3276601"/>
            <a:ext cx="104298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3081" name="TextBox 12"/>
          <p:cNvSpPr txBox="1">
            <a:spLocks noChangeArrowheads="1"/>
          </p:cNvSpPr>
          <p:nvPr/>
        </p:nvSpPr>
        <p:spPr bwMode="auto">
          <a:xfrm>
            <a:off x="7720014" y="3590926"/>
            <a:ext cx="1163637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i="1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8153400" y="5084764"/>
            <a:ext cx="173038" cy="173037"/>
          </a:xfrm>
          <a:prstGeom prst="rect">
            <a:avLst/>
          </a:prstGeom>
          <a:noFill/>
          <a:ln w="25400" algn="ctr">
            <a:solidFill>
              <a:srgbClr val="00FF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7848601" y="5224464"/>
            <a:ext cx="715963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b="1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16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(0,0)</a:t>
            </a:r>
          </a:p>
        </p:txBody>
      </p: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1828800" y="1153180"/>
            <a:ext cx="8991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Change in appearance of window </a:t>
            </a:r>
            <a:r>
              <a:rPr lang="en-US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for the shift [</a:t>
            </a:r>
            <a:r>
              <a:rPr lang="en-US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u,v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]:</a:t>
            </a:r>
            <a:endParaRPr lang="ru-RU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13"/>
              <p:cNvSpPr txBox="1"/>
              <p:nvPr/>
            </p:nvSpPr>
            <p:spPr>
              <a:xfrm>
                <a:off x="2438400" y="1905000"/>
                <a:ext cx="7200900" cy="10668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)∈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  <m:sup/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)−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0" y="1905000"/>
                <a:ext cx="7200900" cy="10668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49EF02-DF13-AF25-B51E-DBFB60EC0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48777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Corner Detection: Mathematics</a:t>
            </a:r>
            <a:endParaRPr lang="ru-RU" dirty="0"/>
          </a:p>
        </p:txBody>
      </p:sp>
      <p:sp>
        <p:nvSpPr>
          <p:cNvPr id="4103" name="Text Box 4"/>
          <p:cNvSpPr txBox="1">
            <a:spLocks noChangeArrowheads="1"/>
          </p:cNvSpPr>
          <p:nvPr/>
        </p:nvSpPr>
        <p:spPr bwMode="auto">
          <a:xfrm>
            <a:off x="1851026" y="3133725"/>
            <a:ext cx="828357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 want to find out how this function behaves for small shifts</a:t>
            </a:r>
            <a:endParaRPr lang="ru-RU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0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1" y="4495800"/>
            <a:ext cx="1971675" cy="19812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</p:spPr>
      </p:pic>
      <p:sp>
        <p:nvSpPr>
          <p:cNvPr id="11" name="TextBox 12"/>
          <p:cNvSpPr txBox="1">
            <a:spLocks noChangeArrowheads="1"/>
          </p:cNvSpPr>
          <p:nvPr/>
        </p:nvSpPr>
        <p:spPr bwMode="auto">
          <a:xfrm>
            <a:off x="5815014" y="3895726"/>
            <a:ext cx="1163637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i="1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1828800" y="1153180"/>
            <a:ext cx="8991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Change in appearance of window </a:t>
            </a:r>
            <a:r>
              <a:rPr lang="en-US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for the shift [</a:t>
            </a:r>
            <a:r>
              <a:rPr lang="en-US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u,v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]:</a:t>
            </a:r>
            <a:endParaRPr lang="ru-RU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1"/>
              <p:cNvSpPr txBox="1"/>
              <p:nvPr/>
            </p:nvSpPr>
            <p:spPr>
              <a:xfrm>
                <a:off x="2438400" y="1905000"/>
                <a:ext cx="7200900" cy="10668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)∈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  <m:sup/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)−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0" y="1905000"/>
                <a:ext cx="7200900" cy="10668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0889D63-A6E7-BE09-656D-F3CC1C563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5833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Corner Detection: Mathematics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itchFamily="34" charset="0"/>
              <a:buChar char="•"/>
            </a:pPr>
            <a:r>
              <a:rPr lang="en-US" dirty="0"/>
              <a:t>First-order Taylor approximation for small motions [</a:t>
            </a:r>
            <a:r>
              <a:rPr lang="en-US" i="1" dirty="0"/>
              <a:t>u</a:t>
            </a:r>
            <a:r>
              <a:rPr lang="en-US" dirty="0"/>
              <a:t>, </a:t>
            </a:r>
            <a:r>
              <a:rPr lang="en-US" i="1" dirty="0"/>
              <a:t>v</a:t>
            </a:r>
            <a:r>
              <a:rPr lang="en-US" dirty="0"/>
              <a:t>]:</a:t>
            </a:r>
          </a:p>
          <a:p>
            <a:pPr marL="457200" indent="-457200">
              <a:buFont typeface="Arial" pitchFamily="34" charset="0"/>
              <a:buChar char="•"/>
            </a:pPr>
            <a:endParaRPr lang="en-US" dirty="0"/>
          </a:p>
          <a:p>
            <a:pPr marL="0" indent="0"/>
            <a:endParaRPr lang="en-US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dirty="0"/>
              <a:t>Let’s plug this into </a:t>
            </a:r>
            <a:r>
              <a:rPr lang="en-US" i="1" dirty="0"/>
              <a:t>E</a:t>
            </a:r>
            <a:r>
              <a:rPr lang="en-US" dirty="0"/>
              <a:t>(</a:t>
            </a:r>
            <a:r>
              <a:rPr lang="en-US" i="1" dirty="0" err="1"/>
              <a:t>u</a:t>
            </a:r>
            <a:r>
              <a:rPr lang="en-US" dirty="0" err="1"/>
              <a:t>,</a:t>
            </a:r>
            <a:r>
              <a:rPr lang="en-US" i="1" dirty="0" err="1"/>
              <a:t>v</a:t>
            </a:r>
            <a:r>
              <a:rPr lang="en-US" dirty="0"/>
              <a:t>):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9856263"/>
              </p:ext>
            </p:extLst>
          </p:nvPr>
        </p:nvGraphicFramePr>
        <p:xfrm>
          <a:off x="2743200" y="1676400"/>
          <a:ext cx="655955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82600" imgH="241200" progId="Equation.3">
                  <p:embed/>
                </p:oleObj>
              </mc:Choice>
              <mc:Fallback>
                <p:oleObj name="Equation" r:id="rId2" imgW="2082600" imgH="241200" progId="Equation.3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743200" y="1676400"/>
                        <a:ext cx="6559550" cy="76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5"/>
              <p:cNvSpPr txBox="1"/>
              <p:nvPr/>
            </p:nvSpPr>
            <p:spPr bwMode="auto">
              <a:xfrm>
                <a:off x="1905000" y="3733800"/>
                <a:ext cx="8408988" cy="28686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aln/>
                        </m:rP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)∈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  <m:sup/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)−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)∈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  <m:sup/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)+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)∈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  <m:sup/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)∈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𝑢𝑣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05000" y="3733800"/>
                <a:ext cx="8408988" cy="28686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 bwMode="auto">
          <a:xfrm>
            <a:off x="1298575" y="4686300"/>
            <a:ext cx="9448800" cy="9144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156156" y="5481986"/>
            <a:ext cx="9448800" cy="9144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2B55CF9-4649-43F6-2298-AB4CC15AF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330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7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Corner Detection: Mathematics</a:t>
            </a:r>
            <a:endParaRPr lang="ru-RU"/>
          </a:p>
        </p:txBody>
      </p:sp>
      <p:sp>
        <p:nvSpPr>
          <p:cNvPr id="8198" name="Text Box 4"/>
          <p:cNvSpPr txBox="1">
            <a:spLocks noChangeArrowheads="1"/>
          </p:cNvSpPr>
          <p:nvPr/>
        </p:nvSpPr>
        <p:spPr bwMode="auto">
          <a:xfrm>
            <a:off x="123825" y="914400"/>
            <a:ext cx="103155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quadratic approximation can be written as</a:t>
            </a:r>
            <a:endParaRPr lang="ru-RU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199" name="Text Box 6"/>
          <p:cNvSpPr txBox="1">
            <a:spLocks noChangeArrowheads="1"/>
          </p:cNvSpPr>
          <p:nvPr/>
        </p:nvSpPr>
        <p:spPr bwMode="auto">
          <a:xfrm>
            <a:off x="123825" y="3208338"/>
            <a:ext cx="103155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where </a:t>
            </a:r>
            <a:r>
              <a:rPr lang="en-US" sz="24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</a:t>
            </a: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is a </a:t>
            </a:r>
            <a:r>
              <a:rPr lang="en-US" sz="2400" dirty="0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second moment matrix </a:t>
            </a: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Symbol" pitchFamily="18" charset="2"/>
              </a:rPr>
              <a:t>computed from image derivatives:</a:t>
            </a:r>
            <a:endParaRPr lang="ru-RU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3"/>
              <p:cNvSpPr txBox="1"/>
              <p:nvPr/>
            </p:nvSpPr>
            <p:spPr bwMode="auto">
              <a:xfrm>
                <a:off x="3668713" y="1524000"/>
                <a:ext cx="4637087" cy="15319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)≈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68713" y="1524000"/>
                <a:ext cx="4637087" cy="15319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4"/>
              <p:cNvSpPr txBox="1"/>
              <p:nvPr/>
            </p:nvSpPr>
            <p:spPr bwMode="auto">
              <a:xfrm>
                <a:off x="4033838" y="4195763"/>
                <a:ext cx="4008437" cy="18240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  <m:sup/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</m:nary>
                              </m:e>
                              <m:e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mr>
                            <m:mr>
                              <m:e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  <m:e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  <m:sup/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</m:nary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33838" y="4195763"/>
                <a:ext cx="4008437" cy="18240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123826" y="6248401"/>
            <a:ext cx="99129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(the sums are over all the pixels in the window </a:t>
            </a:r>
            <a:r>
              <a:rPr lang="en-US" sz="24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</a:t>
            </a: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B1FC40-5090-5DDF-6AB1-3BE89502B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76505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Text Box 3"/>
          <p:cNvSpPr txBox="1">
            <a:spLocks noChangeArrowheads="1"/>
          </p:cNvSpPr>
          <p:nvPr/>
        </p:nvSpPr>
        <p:spPr bwMode="auto">
          <a:xfrm>
            <a:off x="1752600" y="1066801"/>
            <a:ext cx="8305800" cy="2123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surface </a:t>
            </a:r>
            <a:r>
              <a:rPr lang="en-US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</a:t>
            </a:r>
            <a:r>
              <a:rPr lang="en-US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</a:t>
            </a:r>
            <a:r>
              <a:rPr lang="en-US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 is locally approximated by a quadratic form. Let’s try to understand its shape.</a:t>
            </a:r>
          </a:p>
          <a:p>
            <a:pPr marL="914400" lvl="1" indent="-457200"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Specifically, in which directions </a:t>
            </a:r>
            <a:b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does it have the smallest/greatest</a:t>
            </a:r>
            <a:b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change?</a:t>
            </a:r>
          </a:p>
        </p:txBody>
      </p:sp>
      <p:sp>
        <p:nvSpPr>
          <p:cNvPr id="9221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Interpreting the Second Moment Matrix</a:t>
            </a:r>
          </a:p>
        </p:txBody>
      </p:sp>
      <p:pic>
        <p:nvPicPr>
          <p:cNvPr id="9222" name="Picture 1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58201" y="4800600"/>
            <a:ext cx="1955799" cy="18685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218" name="Object 8"/>
              <p:cNvSpPr txBox="1"/>
              <p:nvPr/>
            </p:nvSpPr>
            <p:spPr bwMode="auto">
              <a:xfrm>
                <a:off x="2819400" y="3581400"/>
                <a:ext cx="4038600" cy="1201738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)  ≈  [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]  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218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9400" y="3581400"/>
                <a:ext cx="4038600" cy="12017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8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771716" y="2898100"/>
            <a:ext cx="1286684" cy="12929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</p:spPr>
      </p:pic>
      <p:sp>
        <p:nvSpPr>
          <p:cNvPr id="8" name="TextBox 12"/>
          <p:cNvSpPr txBox="1">
            <a:spLocks noChangeArrowheads="1"/>
          </p:cNvSpPr>
          <p:nvPr/>
        </p:nvSpPr>
        <p:spPr bwMode="auto">
          <a:xfrm>
            <a:off x="8839201" y="2298026"/>
            <a:ext cx="1163637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12" name="Oval 11"/>
          <p:cNvSpPr>
            <a:spLocks/>
          </p:cNvSpPr>
          <p:nvPr/>
        </p:nvSpPr>
        <p:spPr bwMode="auto">
          <a:xfrm>
            <a:off x="8915400" y="3048000"/>
            <a:ext cx="990600" cy="990600"/>
          </a:xfrm>
          <a:prstGeom prst="ellipse">
            <a:avLst/>
          </a:prstGeom>
          <a:noFill/>
          <a:ln w="28575" cap="flat">
            <a:solidFill>
              <a:srgbClr val="0066FF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000000"/>
                </a:solidFill>
                <a:latin typeface="Times New Roman Bold" charset="0"/>
                <a:ea typeface="ヒラギノ明朝 ProN W6" charset="0"/>
                <a:cs typeface="ヒラギノ明朝 ProN W6" charset="0"/>
                <a:sym typeface="Times New Roman Bold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000000"/>
                </a:solidFill>
                <a:latin typeface="Times New Roman Bold" charset="0"/>
                <a:ea typeface="ヒラギノ明朝 ProN W6" charset="0"/>
                <a:cs typeface="ヒラギノ明朝 ProN W6" charset="0"/>
                <a:sym typeface="Times New Roman Bold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000000"/>
                </a:solidFill>
                <a:latin typeface="Times New Roman Bold" charset="0"/>
                <a:ea typeface="ヒラギノ明朝 ProN W6" charset="0"/>
                <a:cs typeface="ヒラギノ明朝 ProN W6" charset="0"/>
                <a:sym typeface="Times New Roman Bold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000000"/>
                </a:solidFill>
                <a:latin typeface="Times New Roman Bold" charset="0"/>
                <a:ea typeface="ヒラギノ明朝 ProN W6" charset="0"/>
                <a:cs typeface="ヒラギノ明朝 ProN W6" charset="0"/>
                <a:sym typeface="Times New Roman Bold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000000"/>
                </a:solidFill>
                <a:latin typeface="Times New Roman Bold" charset="0"/>
                <a:ea typeface="ヒラギノ明朝 ProN W6" charset="0"/>
                <a:cs typeface="ヒラギノ明朝 ProN W6" charset="0"/>
                <a:sym typeface="Times New Roman Bold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rgbClr val="000000"/>
                </a:solidFill>
                <a:latin typeface="Times New Roman Bold" charset="0"/>
                <a:ea typeface="ヒラギノ明朝 ProN W6" charset="0"/>
                <a:cs typeface="ヒラギノ明朝 ProN W6" charset="0"/>
                <a:sym typeface="Times New Roman Bold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rgbClr val="000000"/>
                </a:solidFill>
                <a:latin typeface="Times New Roman Bold" charset="0"/>
                <a:ea typeface="ヒラギノ明朝 ProN W6" charset="0"/>
                <a:cs typeface="ヒラギノ明朝 ProN W6" charset="0"/>
                <a:sym typeface="Times New Roman Bold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rgbClr val="000000"/>
                </a:solidFill>
                <a:latin typeface="Times New Roman Bold" charset="0"/>
                <a:ea typeface="ヒラギノ明朝 ProN W6" charset="0"/>
                <a:cs typeface="ヒラギノ明朝 ProN W6" charset="0"/>
                <a:sym typeface="Times New Roman Bold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rgbClr val="000000"/>
                </a:solidFill>
                <a:latin typeface="Times New Roman Bold" charset="0"/>
                <a:ea typeface="ヒラギノ明朝 ProN W6" charset="0"/>
                <a:cs typeface="ヒラギノ明朝 ProN W6" charset="0"/>
                <a:sym typeface="Times New Roman Bold" charset="0"/>
              </a:defRPr>
            </a:lvl9pPr>
          </a:lstStyle>
          <a:p>
            <a:endParaRPr lang="en-US"/>
          </a:p>
        </p:txBody>
      </p:sp>
      <p:sp>
        <p:nvSpPr>
          <p:cNvPr id="13" name="Line 11"/>
          <p:cNvSpPr>
            <a:spLocks noChangeShapeType="1"/>
          </p:cNvSpPr>
          <p:nvPr/>
        </p:nvSpPr>
        <p:spPr bwMode="auto">
          <a:xfrm rot="10800000">
            <a:off x="9048751" y="3176589"/>
            <a:ext cx="377825" cy="376237"/>
          </a:xfrm>
          <a:prstGeom prst="line">
            <a:avLst/>
          </a:prstGeom>
          <a:noFill/>
          <a:ln w="57150" cap="flat">
            <a:solidFill>
              <a:srgbClr val="0066FF"/>
            </a:solidFill>
            <a:prstDash val="solid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000000"/>
                </a:solidFill>
                <a:latin typeface="Times New Roman Bold" charset="0"/>
                <a:ea typeface="ヒラギノ明朝 ProN W6" charset="0"/>
                <a:cs typeface="ヒラギノ明朝 ProN W6" charset="0"/>
                <a:sym typeface="Times New Roman Bold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000000"/>
                </a:solidFill>
                <a:latin typeface="Times New Roman Bold" charset="0"/>
                <a:ea typeface="ヒラギノ明朝 ProN W6" charset="0"/>
                <a:cs typeface="ヒラギノ明朝 ProN W6" charset="0"/>
                <a:sym typeface="Times New Roman Bold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000000"/>
                </a:solidFill>
                <a:latin typeface="Times New Roman Bold" charset="0"/>
                <a:ea typeface="ヒラギノ明朝 ProN W6" charset="0"/>
                <a:cs typeface="ヒラギノ明朝 ProN W6" charset="0"/>
                <a:sym typeface="Times New Roman Bold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000000"/>
                </a:solidFill>
                <a:latin typeface="Times New Roman Bold" charset="0"/>
                <a:ea typeface="ヒラギノ明朝 ProN W6" charset="0"/>
                <a:cs typeface="ヒラギノ明朝 ProN W6" charset="0"/>
                <a:sym typeface="Times New Roman Bold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000000"/>
                </a:solidFill>
                <a:latin typeface="Times New Roman Bold" charset="0"/>
                <a:ea typeface="ヒラギノ明朝 ProN W6" charset="0"/>
                <a:cs typeface="ヒラギノ明朝 ProN W6" charset="0"/>
                <a:sym typeface="Times New Roman Bold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rgbClr val="000000"/>
                </a:solidFill>
                <a:latin typeface="Times New Roman Bold" charset="0"/>
                <a:ea typeface="ヒラギノ明朝 ProN W6" charset="0"/>
                <a:cs typeface="ヒラギノ明朝 ProN W6" charset="0"/>
                <a:sym typeface="Times New Roman Bold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rgbClr val="000000"/>
                </a:solidFill>
                <a:latin typeface="Times New Roman Bold" charset="0"/>
                <a:ea typeface="ヒラギノ明朝 ProN W6" charset="0"/>
                <a:cs typeface="ヒラギノ明朝 ProN W6" charset="0"/>
                <a:sym typeface="Times New Roman Bold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rgbClr val="000000"/>
                </a:solidFill>
                <a:latin typeface="Times New Roman Bold" charset="0"/>
                <a:ea typeface="ヒラギノ明朝 ProN W6" charset="0"/>
                <a:cs typeface="ヒラギノ明朝 ProN W6" charset="0"/>
                <a:sym typeface="Times New Roman Bold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rgbClr val="000000"/>
                </a:solidFill>
                <a:latin typeface="Times New Roman Bold" charset="0"/>
                <a:ea typeface="ヒラギノ明朝 ProN W6" charset="0"/>
                <a:cs typeface="ヒラギノ明朝 ProN W6" charset="0"/>
                <a:sym typeface="Times New Roman Bold" charset="0"/>
              </a:defRPr>
            </a:lvl9pPr>
          </a:lstStyle>
          <a:p>
            <a:endParaRPr lang="en-US"/>
          </a:p>
        </p:txBody>
      </p:sp>
      <p:sp>
        <p:nvSpPr>
          <p:cNvPr id="14" name="Oval 13"/>
          <p:cNvSpPr>
            <a:spLocks/>
          </p:cNvSpPr>
          <p:nvPr/>
        </p:nvSpPr>
        <p:spPr bwMode="auto">
          <a:xfrm>
            <a:off x="9372600" y="3505200"/>
            <a:ext cx="76200" cy="76200"/>
          </a:xfrm>
          <a:prstGeom prst="ellipse">
            <a:avLst/>
          </a:prstGeom>
          <a:solidFill>
            <a:srgbClr val="FF0000"/>
          </a:solidFill>
          <a:ln w="9525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000000"/>
                </a:solidFill>
                <a:latin typeface="Times New Roman Bold" charset="0"/>
                <a:ea typeface="ヒラギノ明朝 ProN W6" charset="0"/>
                <a:cs typeface="ヒラギノ明朝 ProN W6" charset="0"/>
                <a:sym typeface="Times New Roman Bold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000000"/>
                </a:solidFill>
                <a:latin typeface="Times New Roman Bold" charset="0"/>
                <a:ea typeface="ヒラギノ明朝 ProN W6" charset="0"/>
                <a:cs typeface="ヒラギノ明朝 ProN W6" charset="0"/>
                <a:sym typeface="Times New Roman Bold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000000"/>
                </a:solidFill>
                <a:latin typeface="Times New Roman Bold" charset="0"/>
                <a:ea typeface="ヒラギノ明朝 ProN W6" charset="0"/>
                <a:cs typeface="ヒラギノ明朝 ProN W6" charset="0"/>
                <a:sym typeface="Times New Roman Bold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000000"/>
                </a:solidFill>
                <a:latin typeface="Times New Roman Bold" charset="0"/>
                <a:ea typeface="ヒラギノ明朝 ProN W6" charset="0"/>
                <a:cs typeface="ヒラギノ明朝 ProN W6" charset="0"/>
                <a:sym typeface="Times New Roman Bold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000000"/>
                </a:solidFill>
                <a:latin typeface="Times New Roman Bold" charset="0"/>
                <a:ea typeface="ヒラギノ明朝 ProN W6" charset="0"/>
                <a:cs typeface="ヒラギノ明朝 ProN W6" charset="0"/>
                <a:sym typeface="Times New Roman Bold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rgbClr val="000000"/>
                </a:solidFill>
                <a:latin typeface="Times New Roman Bold" charset="0"/>
                <a:ea typeface="ヒラギノ明朝 ProN W6" charset="0"/>
                <a:cs typeface="ヒラギノ明朝 ProN W6" charset="0"/>
                <a:sym typeface="Times New Roman Bold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rgbClr val="000000"/>
                </a:solidFill>
                <a:latin typeface="Times New Roman Bold" charset="0"/>
                <a:ea typeface="ヒラギノ明朝 ProN W6" charset="0"/>
                <a:cs typeface="ヒラギノ明朝 ProN W6" charset="0"/>
                <a:sym typeface="Times New Roman Bold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rgbClr val="000000"/>
                </a:solidFill>
                <a:latin typeface="Times New Roman Bold" charset="0"/>
                <a:ea typeface="ヒラギノ明朝 ProN W6" charset="0"/>
                <a:cs typeface="ヒラギノ明朝 ProN W6" charset="0"/>
                <a:sym typeface="Times New Roman Bold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rgbClr val="000000"/>
                </a:solidFill>
                <a:latin typeface="Times New Roman Bold" charset="0"/>
                <a:ea typeface="ヒラギノ明朝 ProN W6" charset="0"/>
                <a:cs typeface="ヒラギノ明朝 ProN W6" charset="0"/>
                <a:sym typeface="Times New Roman Bold" charset="0"/>
              </a:defRPr>
            </a:lvl9pPr>
          </a:lstStyle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1"/>
              <p:cNvSpPr txBox="1"/>
              <p:nvPr/>
            </p:nvSpPr>
            <p:spPr bwMode="auto">
              <a:xfrm>
                <a:off x="2743200" y="5029200"/>
                <a:ext cx="3851275" cy="17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  <m:sup/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</m:nary>
                              </m:e>
                              <m:e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mr>
                            <m:mr>
                              <m:e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  <m:e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  <m:sup/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</m:nary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Object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43200" y="5029200"/>
                <a:ext cx="3851275" cy="17526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79C1FF-1AF8-F443-2590-73A9DAEA0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30378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2209800" y="1143000"/>
            <a:ext cx="68580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First, consider the axis-aligned case (gradients are either horizontal or vertical)</a:t>
            </a:r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1981200" y="4343401"/>
            <a:ext cx="8534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 eaLnBrk="1" hangingPunct="1">
              <a:spcBef>
                <a:spcPct val="50000"/>
              </a:spcBef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If either </a:t>
            </a:r>
            <a:r>
              <a:rPr lang="en-US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or </a:t>
            </a:r>
            <a:r>
              <a:rPr lang="en-US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is close to 0, then this is </a:t>
            </a:r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not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 corner, so look for locations where both are large.</a:t>
            </a:r>
            <a:endParaRPr lang="en-US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245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Interpreting the Second Moment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2"/>
              <p:cNvSpPr txBox="1"/>
              <p:nvPr/>
            </p:nvSpPr>
            <p:spPr>
              <a:xfrm>
                <a:off x="6553200" y="2598738"/>
                <a:ext cx="1978025" cy="1516062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4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4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n-US" sz="4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4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4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200" y="2598738"/>
                <a:ext cx="1978025" cy="1516062"/>
              </a:xfrm>
              <a:prstGeom prst="rect">
                <a:avLst/>
              </a:prstGeom>
              <a:blipFill>
                <a:blip r:embed="rId3"/>
                <a:stretch>
                  <a:fillRect r="-24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3"/>
              <p:cNvSpPr txBox="1"/>
              <p:nvPr/>
            </p:nvSpPr>
            <p:spPr bwMode="auto">
              <a:xfrm>
                <a:off x="3052763" y="2209800"/>
                <a:ext cx="4186237" cy="19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  <m:sup/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</m:nary>
                              </m:e>
                              <m:e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mr>
                            <m:mr>
                              <m:e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  <m:e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  <m:sup/>
                                  <m:e>
                                    <m:sSubSup>
                                      <m:sSubSupPr>
                                        <m:ctrlP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</m:nary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52763" y="2209800"/>
                <a:ext cx="4186237" cy="1905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D88813-FC5E-4A26-3AF9-E91DFD9C2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29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Text Box 20"/>
          <p:cNvSpPr txBox="1">
            <a:spLocks noChangeArrowheads="1"/>
          </p:cNvSpPr>
          <p:nvPr/>
        </p:nvSpPr>
        <p:spPr bwMode="auto">
          <a:xfrm>
            <a:off x="1905001" y="1138238"/>
            <a:ext cx="767556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Consider a horizontal “slice” of </a:t>
            </a:r>
            <a:r>
              <a:rPr lang="en-US" sz="24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</a:t>
            </a: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</a:t>
            </a:r>
            <a:r>
              <a:rPr lang="en-US" sz="24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</a:t>
            </a: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24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</a:t>
            </a: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):</a:t>
            </a:r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Interpreting the Second Moment Matrix</a:t>
            </a:r>
          </a:p>
        </p:txBody>
      </p:sp>
      <p:sp>
        <p:nvSpPr>
          <p:cNvPr id="8197" name="Text Box 3"/>
          <p:cNvSpPr txBox="1">
            <a:spLocks noChangeArrowheads="1"/>
          </p:cNvSpPr>
          <p:nvPr/>
        </p:nvSpPr>
        <p:spPr bwMode="auto">
          <a:xfrm>
            <a:off x="1905000" y="1752601"/>
            <a:ext cx="5486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is the equation of an ellipse.</a:t>
            </a:r>
          </a:p>
        </p:txBody>
      </p:sp>
      <p:graphicFrame>
        <p:nvGraphicFramePr>
          <p:cNvPr id="11266" name="Object 18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2966805"/>
              </p:ext>
            </p:extLst>
          </p:nvPr>
        </p:nvGraphicFramePr>
        <p:xfrm>
          <a:off x="7467600" y="914400"/>
          <a:ext cx="2743200" cy="92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58640" imgH="457200" progId="Equation.3">
                  <p:embed/>
                </p:oleObj>
              </mc:Choice>
              <mc:Fallback>
                <p:oleObj name="Equation" r:id="rId3" imgW="1358640" imgH="457200" progId="Equation.3">
                  <p:embed/>
                  <p:pic>
                    <p:nvPicPr>
                      <p:cNvPr id="11266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914400"/>
                        <a:ext cx="2743200" cy="922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270" name="Picture 19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819400" y="2667000"/>
            <a:ext cx="6699250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979689-BF99-B101-4E1F-B799875C0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475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7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Text Box 20"/>
          <p:cNvSpPr txBox="1">
            <a:spLocks noChangeArrowheads="1"/>
          </p:cNvSpPr>
          <p:nvPr/>
        </p:nvSpPr>
        <p:spPr bwMode="auto">
          <a:xfrm>
            <a:off x="1905001" y="1138238"/>
            <a:ext cx="767556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Consider a horizontal “slice” of </a:t>
            </a:r>
            <a:r>
              <a:rPr lang="en-US" sz="24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</a:t>
            </a: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</a:t>
            </a:r>
            <a:r>
              <a:rPr lang="en-US" sz="24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</a:t>
            </a: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240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</a:t>
            </a: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):</a:t>
            </a:r>
          </a:p>
        </p:txBody>
      </p:sp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Interpreting the Second Moment Matrix</a:t>
            </a:r>
          </a:p>
        </p:txBody>
      </p:sp>
      <p:sp>
        <p:nvSpPr>
          <p:cNvPr id="12294" name="Text Box 3"/>
          <p:cNvSpPr txBox="1">
            <a:spLocks noChangeArrowheads="1"/>
          </p:cNvSpPr>
          <p:nvPr/>
        </p:nvSpPr>
        <p:spPr bwMode="auto">
          <a:xfrm>
            <a:off x="1905000" y="1752601"/>
            <a:ext cx="5486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is the equation of an ellipse.</a:t>
            </a:r>
          </a:p>
        </p:txBody>
      </p:sp>
      <p:graphicFrame>
        <p:nvGraphicFramePr>
          <p:cNvPr id="1229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4651914"/>
              </p:ext>
            </p:extLst>
          </p:nvPr>
        </p:nvGraphicFramePr>
        <p:xfrm>
          <a:off x="5867400" y="2117726"/>
          <a:ext cx="2514600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06360" imgH="482400" progId="Equation.3">
                  <p:embed/>
                </p:oleObj>
              </mc:Choice>
              <mc:Fallback>
                <p:oleObj name="Equation" r:id="rId3" imgW="1206360" imgH="482400" progId="Equation.3">
                  <p:embed/>
                  <p:pic>
                    <p:nvPicPr>
                      <p:cNvPr id="1229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2117726"/>
                        <a:ext cx="2514600" cy="1006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5" name="Text Box 5"/>
          <p:cNvSpPr txBox="1">
            <a:spLocks noChangeArrowheads="1"/>
          </p:cNvSpPr>
          <p:nvPr/>
        </p:nvSpPr>
        <p:spPr bwMode="auto">
          <a:xfrm>
            <a:off x="1905000" y="3048001"/>
            <a:ext cx="7315200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axis lengths of the ellipse are determined by the eigenvalues and the orientation is determined by </a:t>
            </a:r>
            <a:r>
              <a:rPr lang="en-US" sz="2400" i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</a:t>
            </a:r>
          </a:p>
          <a:p>
            <a:pPr eaLnBrk="1" hangingPunct="1">
              <a:spcBef>
                <a:spcPct val="50000"/>
              </a:spcBef>
            </a:pPr>
            <a:endParaRPr lang="en-US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12296" name="Group 21"/>
          <p:cNvGrpSpPr>
            <a:grpSpLocks/>
          </p:cNvGrpSpPr>
          <p:nvPr/>
        </p:nvGrpSpPr>
        <p:grpSpPr bwMode="auto">
          <a:xfrm>
            <a:off x="3962401" y="3979864"/>
            <a:ext cx="5413375" cy="2878137"/>
            <a:chOff x="2254" y="2352"/>
            <a:chExt cx="3410" cy="1813"/>
          </a:xfrm>
        </p:grpSpPr>
        <p:sp>
          <p:nvSpPr>
            <p:cNvPr id="12298" name="Text Box 8"/>
            <p:cNvSpPr txBox="1">
              <a:spLocks noChangeArrowheads="1"/>
            </p:cNvSpPr>
            <p:nvPr/>
          </p:nvSpPr>
          <p:spPr bwMode="auto">
            <a:xfrm>
              <a:off x="4656" y="2736"/>
              <a:ext cx="1008" cy="3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1" hangingPunct="1"/>
              <a:r>
                <a:rPr lang="en-US" sz="1600">
                  <a:solidFill>
                    <a:srgbClr val="FF3300"/>
                  </a:solidFill>
                  <a:cs typeface="Times New Roman" pitchFamily="18" charset="0"/>
                </a:rPr>
                <a:t>direction of the slowest change</a:t>
              </a:r>
              <a:endParaRPr lang="ru-RU" sz="1600">
                <a:solidFill>
                  <a:srgbClr val="FF3300"/>
                </a:solidFill>
                <a:cs typeface="Times New Roman" pitchFamily="18" charset="0"/>
              </a:endParaRPr>
            </a:p>
          </p:txBody>
        </p:sp>
        <p:sp>
          <p:nvSpPr>
            <p:cNvPr id="12299" name="Text Box 9"/>
            <p:cNvSpPr txBox="1">
              <a:spLocks noChangeArrowheads="1"/>
            </p:cNvSpPr>
            <p:nvPr/>
          </p:nvSpPr>
          <p:spPr bwMode="auto">
            <a:xfrm>
              <a:off x="2640" y="2352"/>
              <a:ext cx="1056" cy="3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1" hangingPunct="1"/>
              <a:r>
                <a:rPr lang="en-US" sz="1600" dirty="0">
                  <a:solidFill>
                    <a:srgbClr val="0033CC"/>
                  </a:solidFill>
                  <a:cs typeface="Times New Roman" pitchFamily="18" charset="0"/>
                </a:rPr>
                <a:t>direction of the fastest change</a:t>
              </a:r>
              <a:endParaRPr lang="ru-RU" sz="1600" dirty="0">
                <a:solidFill>
                  <a:srgbClr val="0033CC"/>
                </a:solidFill>
                <a:cs typeface="Times New Roman" pitchFamily="18" charset="0"/>
              </a:endParaRPr>
            </a:p>
          </p:txBody>
        </p:sp>
        <p:sp>
          <p:nvSpPr>
            <p:cNvPr id="12300" name="Oval 11"/>
            <p:cNvSpPr>
              <a:spLocks noChangeArrowheads="1"/>
            </p:cNvSpPr>
            <p:nvPr/>
          </p:nvSpPr>
          <p:spPr bwMode="auto">
            <a:xfrm rot="-1106879">
              <a:off x="2254" y="2771"/>
              <a:ext cx="2448" cy="1217"/>
            </a:xfrm>
            <a:prstGeom prst="ellipse">
              <a:avLst/>
            </a:prstGeom>
            <a:solidFill>
              <a:srgbClr val="7CF6D3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1" name="Line 12"/>
            <p:cNvSpPr>
              <a:spLocks noChangeShapeType="1"/>
            </p:cNvSpPr>
            <p:nvPr/>
          </p:nvSpPr>
          <p:spPr bwMode="auto">
            <a:xfrm rot="1280297" flipV="1">
              <a:off x="2555" y="2597"/>
              <a:ext cx="1875" cy="1568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02" name="Line 13"/>
            <p:cNvSpPr>
              <a:spLocks noChangeShapeType="1"/>
            </p:cNvSpPr>
            <p:nvPr/>
          </p:nvSpPr>
          <p:spPr bwMode="auto">
            <a:xfrm rot="1280297" flipH="1" flipV="1">
              <a:off x="3094" y="2904"/>
              <a:ext cx="798" cy="94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03" name="AutoShape 14"/>
            <p:cNvSpPr>
              <a:spLocks/>
            </p:cNvSpPr>
            <p:nvPr/>
          </p:nvSpPr>
          <p:spPr bwMode="auto">
            <a:xfrm rot="-6496486">
              <a:off x="4037" y="2756"/>
              <a:ext cx="116" cy="1095"/>
            </a:xfrm>
            <a:prstGeom prst="leftBrace">
              <a:avLst>
                <a:gd name="adj1" fmla="val 78664"/>
                <a:gd name="adj2" fmla="val 49065"/>
              </a:avLst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4" name="AutoShape 15"/>
            <p:cNvSpPr>
              <a:spLocks/>
            </p:cNvSpPr>
            <p:nvPr/>
          </p:nvSpPr>
          <p:spPr bwMode="auto">
            <a:xfrm rot="-1178674">
              <a:off x="3212" y="2864"/>
              <a:ext cx="140" cy="513"/>
            </a:xfrm>
            <a:prstGeom prst="leftBrace">
              <a:avLst>
                <a:gd name="adj1" fmla="val 30536"/>
                <a:gd name="adj2" fmla="val 49065"/>
              </a:avLst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5" name="Rectangle 16"/>
            <p:cNvSpPr>
              <a:spLocks noChangeArrowheads="1"/>
            </p:cNvSpPr>
            <p:nvPr/>
          </p:nvSpPr>
          <p:spPr bwMode="auto">
            <a:xfrm>
              <a:off x="2400" y="3168"/>
              <a:ext cx="110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1" hangingPunct="1"/>
              <a:r>
                <a:rPr lang="en-US" sz="2400">
                  <a:solidFill>
                    <a:srgbClr val="0033CC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(</a:t>
              </a:r>
              <a:r>
                <a:rPr lang="ru-RU" sz="2400">
                  <a:solidFill>
                    <a:srgbClr val="0033CC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</a:t>
              </a:r>
              <a:r>
                <a:rPr lang="en-US" sz="2400" baseline="-25000">
                  <a:solidFill>
                    <a:srgbClr val="0033CC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max</a:t>
              </a:r>
              <a:r>
                <a:rPr lang="en-US" sz="2400">
                  <a:solidFill>
                    <a:srgbClr val="0033CC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)</a:t>
              </a:r>
              <a:r>
                <a:rPr lang="en-US" sz="2400" baseline="30000">
                  <a:solidFill>
                    <a:srgbClr val="0033CC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-1/2</a:t>
              </a:r>
              <a:endParaRPr lang="ru-RU" sz="2400" baseline="3000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12306" name="Rectangle 17"/>
            <p:cNvSpPr>
              <a:spLocks noChangeArrowheads="1"/>
            </p:cNvSpPr>
            <p:nvPr/>
          </p:nvSpPr>
          <p:spPr bwMode="auto">
            <a:xfrm>
              <a:off x="3552" y="3360"/>
              <a:ext cx="110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1" hangingPunct="1"/>
              <a:r>
                <a:rPr lang="en-US" sz="2400">
                  <a:solidFill>
                    <a:srgbClr val="FF3300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(</a:t>
              </a:r>
              <a:r>
                <a:rPr lang="ru-RU" sz="2400">
                  <a:solidFill>
                    <a:srgbClr val="FF3300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</a:t>
              </a:r>
              <a:r>
                <a:rPr lang="en-US" sz="2400" baseline="-25000">
                  <a:solidFill>
                    <a:srgbClr val="FF3300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min</a:t>
              </a:r>
              <a:r>
                <a:rPr lang="en-US" sz="2400">
                  <a:solidFill>
                    <a:srgbClr val="FF3300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)</a:t>
              </a:r>
              <a:r>
                <a:rPr lang="en-US" sz="2400" baseline="30000">
                  <a:solidFill>
                    <a:srgbClr val="FF3300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-1/2</a:t>
              </a:r>
              <a:endParaRPr lang="ru-RU" sz="2400" baseline="30000">
                <a:solidFill>
                  <a:srgbClr val="FF33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endParaRPr>
            </a:p>
          </p:txBody>
        </p:sp>
      </p:grpSp>
      <p:graphicFrame>
        <p:nvGraphicFramePr>
          <p:cNvPr id="12291" name="Object 18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2835231"/>
              </p:ext>
            </p:extLst>
          </p:nvPr>
        </p:nvGraphicFramePr>
        <p:xfrm>
          <a:off x="7467600" y="914400"/>
          <a:ext cx="2743200" cy="92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58640" imgH="457200" progId="Equation.3">
                  <p:embed/>
                </p:oleObj>
              </mc:Choice>
              <mc:Fallback>
                <p:oleObj name="Equation" r:id="rId5" imgW="1358640" imgH="457200" progId="Equation.3">
                  <p:embed/>
                  <p:pic>
                    <p:nvPicPr>
                      <p:cNvPr id="12291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914400"/>
                        <a:ext cx="2743200" cy="922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7" name="Text Box 3"/>
          <p:cNvSpPr txBox="1">
            <a:spLocks noChangeArrowheads="1"/>
          </p:cNvSpPr>
          <p:nvPr/>
        </p:nvSpPr>
        <p:spPr bwMode="auto">
          <a:xfrm>
            <a:off x="1905000" y="2373313"/>
            <a:ext cx="73914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Diagonalization of M: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791688-3E28-36E3-7A71-864B48944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93439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6"/>
          <p:cNvSpPr>
            <a:spLocks noGrp="1" noChangeArrowheads="1"/>
          </p:cNvSpPr>
          <p:nvPr>
            <p:ph type="title"/>
          </p:nvPr>
        </p:nvSpPr>
        <p:spPr>
          <a:xfrm>
            <a:off x="76200" y="76200"/>
            <a:ext cx="12001500" cy="838200"/>
          </a:xfrm>
        </p:spPr>
        <p:txBody>
          <a:bodyPr/>
          <a:lstStyle/>
          <a:p>
            <a:r>
              <a:rPr lang="en-US" dirty="0"/>
              <a:t>Visualization of Second Moment Matrices</a:t>
            </a:r>
          </a:p>
        </p:txBody>
      </p:sp>
      <p:graphicFrame>
        <p:nvGraphicFramePr>
          <p:cNvPr id="13314" name="Object 5"/>
          <p:cNvGraphicFramePr>
            <a:graphicFrameLocks noGrp="1" noChangeAspect="1"/>
          </p:cNvGraphicFramePr>
          <p:nvPr>
            <p:ph idx="1"/>
          </p:nvPr>
        </p:nvGraphicFramePr>
        <p:xfrm>
          <a:off x="3282951" y="1143000"/>
          <a:ext cx="5624513" cy="525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5650794" imgH="5282540" progId="Photoshop.Image.10">
                  <p:embed/>
                </p:oleObj>
              </mc:Choice>
              <mc:Fallback>
                <p:oleObj name="Image" r:id="rId3" imgW="5650794" imgH="5282540" progId="Photoshop.Image.10">
                  <p:embed/>
                  <p:pic>
                    <p:nvPicPr>
                      <p:cNvPr id="1331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2951" y="1143000"/>
                        <a:ext cx="5624513" cy="525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C11CB2-005A-8763-AE8A-2994BB2F2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32089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8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3282951" y="1143000"/>
          <a:ext cx="5624513" cy="525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5650794" imgH="5282540" progId="Photoshop.Image.10">
                  <p:embed/>
                </p:oleObj>
              </mc:Choice>
              <mc:Fallback>
                <p:oleObj name="Image" r:id="rId3" imgW="5650794" imgH="5282540" progId="Photoshop.Image.10">
                  <p:embed/>
                  <p:pic>
                    <p:nvPicPr>
                      <p:cNvPr id="14338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2951" y="1143000"/>
                        <a:ext cx="5624513" cy="525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340" name="Picture 4" descr="second_moment_vis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276600" y="1139826"/>
            <a:ext cx="5638800" cy="526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DFDCDD-A852-7BEC-C2F4-84ED62866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52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6939EA6-45C3-60D7-6613-1F516888B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 of Second Moment Matrices</a:t>
            </a:r>
          </a:p>
        </p:txBody>
      </p:sp>
    </p:spTree>
    <p:extLst>
      <p:ext uri="{BB962C8B-B14F-4D97-AF65-F5344CB8AC3E}">
        <p14:creationId xmlns:p14="http://schemas.microsoft.com/office/powerpoint/2010/main" val="253412913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AutoShape 2"/>
          <p:cNvSpPr>
            <a:spLocks noChangeArrowheads="1"/>
          </p:cNvSpPr>
          <p:nvPr/>
        </p:nvSpPr>
        <p:spPr bwMode="auto">
          <a:xfrm>
            <a:off x="2362200" y="4800600"/>
            <a:ext cx="3124200" cy="1219200"/>
          </a:xfrm>
          <a:prstGeom prst="rightArrowCallout">
            <a:avLst>
              <a:gd name="adj1" fmla="val 25000"/>
              <a:gd name="adj2" fmla="val 24093"/>
              <a:gd name="adj3" fmla="val 41581"/>
              <a:gd name="adj4" fmla="val 75662"/>
            </a:avLst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Interpreting the Eigenvalues</a:t>
            </a:r>
            <a:endParaRPr lang="ru-RU" dirty="0"/>
          </a:p>
        </p:txBody>
      </p:sp>
      <p:sp>
        <p:nvSpPr>
          <p:cNvPr id="33796" name="Rectangle 4"/>
          <p:cNvSpPr>
            <a:spLocks noChangeArrowheads="1"/>
          </p:cNvSpPr>
          <p:nvPr/>
        </p:nvSpPr>
        <p:spPr bwMode="auto">
          <a:xfrm>
            <a:off x="5562600" y="1752600"/>
            <a:ext cx="4343400" cy="4343400"/>
          </a:xfrm>
          <a:prstGeom prst="rect">
            <a:avLst/>
          </a:prstGeom>
          <a:solidFill>
            <a:srgbClr val="F38F67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797" name="Rectangle 5"/>
          <p:cNvSpPr>
            <a:spLocks noChangeArrowheads="1"/>
          </p:cNvSpPr>
          <p:nvPr/>
        </p:nvSpPr>
        <p:spPr bwMode="auto">
          <a:xfrm>
            <a:off x="9296400" y="6096000"/>
            <a:ext cx="76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ru-RU" sz="240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</a:t>
            </a:r>
            <a:r>
              <a:rPr lang="en-US" sz="2400" baseline="-2500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1</a:t>
            </a:r>
            <a:endParaRPr lang="ru-RU" sz="2400" baseline="-2500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33798" name="Rectangle 6"/>
          <p:cNvSpPr>
            <a:spLocks noChangeArrowheads="1"/>
          </p:cNvSpPr>
          <p:nvPr/>
        </p:nvSpPr>
        <p:spPr bwMode="auto">
          <a:xfrm>
            <a:off x="4648200" y="1828800"/>
            <a:ext cx="106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ru-RU" sz="240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</a:t>
            </a:r>
            <a:r>
              <a:rPr lang="en-US" sz="2400" baseline="-2500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2</a:t>
            </a:r>
            <a:endParaRPr lang="ru-RU" sz="2400" baseline="-2500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33799" name="Freeform 7"/>
          <p:cNvSpPr>
            <a:spLocks/>
          </p:cNvSpPr>
          <p:nvPr/>
        </p:nvSpPr>
        <p:spPr bwMode="auto">
          <a:xfrm>
            <a:off x="6019800" y="1752600"/>
            <a:ext cx="3886200" cy="3937000"/>
          </a:xfrm>
          <a:custGeom>
            <a:avLst/>
            <a:gdLst>
              <a:gd name="T0" fmla="*/ 0 w 2448"/>
              <a:gd name="T1" fmla="*/ 2147483647 h 2480"/>
              <a:gd name="T2" fmla="*/ 2147483647 w 2448"/>
              <a:gd name="T3" fmla="*/ 0 h 2480"/>
              <a:gd name="T4" fmla="*/ 2147483647 w 2448"/>
              <a:gd name="T5" fmla="*/ 0 h 2480"/>
              <a:gd name="T6" fmla="*/ 2147483647 w 2448"/>
              <a:gd name="T7" fmla="*/ 2147483647 h 2480"/>
              <a:gd name="T8" fmla="*/ 2147483647 w 2448"/>
              <a:gd name="T9" fmla="*/ 2147483647 h 2480"/>
              <a:gd name="T10" fmla="*/ 0 w 2448"/>
              <a:gd name="T11" fmla="*/ 2147483647 h 248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448"/>
              <a:gd name="T19" fmla="*/ 0 h 2480"/>
              <a:gd name="T20" fmla="*/ 2448 w 2448"/>
              <a:gd name="T21" fmla="*/ 2480 h 248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448" h="2480">
                <a:moveTo>
                  <a:pt x="0" y="1920"/>
                </a:moveTo>
                <a:lnTo>
                  <a:pt x="672" y="0"/>
                </a:lnTo>
                <a:lnTo>
                  <a:pt x="2448" y="0"/>
                </a:lnTo>
                <a:lnTo>
                  <a:pt x="2448" y="1872"/>
                </a:lnTo>
                <a:lnTo>
                  <a:pt x="555" y="2480"/>
                </a:lnTo>
                <a:lnTo>
                  <a:pt x="0" y="192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800" name="AutoShape 8"/>
          <p:cNvSpPr>
            <a:spLocks noChangeArrowheads="1"/>
          </p:cNvSpPr>
          <p:nvPr/>
        </p:nvSpPr>
        <p:spPr bwMode="auto">
          <a:xfrm>
            <a:off x="5562601" y="4343400"/>
            <a:ext cx="1749425" cy="1752600"/>
          </a:xfrm>
          <a:prstGeom prst="rtTriangle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01" name="Rectangle 9"/>
          <p:cNvSpPr>
            <a:spLocks noChangeArrowheads="1"/>
          </p:cNvSpPr>
          <p:nvPr/>
        </p:nvSpPr>
        <p:spPr bwMode="auto">
          <a:xfrm>
            <a:off x="7086600" y="2362201"/>
            <a:ext cx="2667000" cy="1877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sz="240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“Corner”</a:t>
            </a:r>
            <a:br>
              <a:rPr lang="en-US" sz="2400">
                <a:latin typeface="Times New Roman" pitchFamily="18" charset="0"/>
                <a:cs typeface="Times New Roman" pitchFamily="18" charset="0"/>
                <a:sym typeface="Symbol" pitchFamily="18" charset="2"/>
              </a:rPr>
            </a:br>
            <a:r>
              <a:rPr lang="ru-RU" sz="240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</a:t>
            </a:r>
            <a:r>
              <a:rPr lang="en-US" sz="2400" baseline="-2500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1</a:t>
            </a:r>
            <a:r>
              <a:rPr lang="en-US" sz="200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and </a:t>
            </a:r>
            <a:r>
              <a:rPr lang="ru-RU" sz="240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</a:t>
            </a:r>
            <a:r>
              <a:rPr lang="en-US" sz="2400" baseline="-2500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2</a:t>
            </a:r>
            <a:r>
              <a:rPr lang="en-US" sz="200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are large,</a:t>
            </a:r>
            <a:br>
              <a:rPr lang="en-US" sz="2000">
                <a:latin typeface="Times New Roman" pitchFamily="18" charset="0"/>
                <a:cs typeface="Times New Roman" pitchFamily="18" charset="0"/>
                <a:sym typeface="Symbol" pitchFamily="18" charset="2"/>
              </a:rPr>
            </a:br>
            <a:r>
              <a:rPr lang="en-US" sz="200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ru-RU" sz="240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</a:t>
            </a:r>
            <a:r>
              <a:rPr lang="en-US" sz="2400" baseline="-2500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1 </a:t>
            </a:r>
            <a:r>
              <a:rPr lang="en-US" sz="240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~ </a:t>
            </a:r>
            <a:r>
              <a:rPr lang="ru-RU" sz="240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</a:t>
            </a:r>
            <a:r>
              <a:rPr lang="en-US" sz="2400" baseline="-2500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2</a:t>
            </a:r>
            <a:r>
              <a:rPr lang="en-US" sz="200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;</a:t>
            </a:r>
            <a:br>
              <a:rPr lang="en-US" sz="2000">
                <a:latin typeface="Times New Roman" pitchFamily="18" charset="0"/>
                <a:cs typeface="Times New Roman" pitchFamily="18" charset="0"/>
                <a:sym typeface="Symbol" pitchFamily="18" charset="2"/>
              </a:rPr>
            </a:br>
            <a:r>
              <a:rPr lang="en-US" sz="2400" i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E</a:t>
            </a:r>
            <a:r>
              <a:rPr lang="en-US" sz="200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increases in all directions</a:t>
            </a:r>
            <a:endParaRPr lang="ru-RU" sz="200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33802" name="Rectangle 10"/>
          <p:cNvSpPr>
            <a:spLocks noChangeArrowheads="1"/>
          </p:cNvSpPr>
          <p:nvPr/>
        </p:nvSpPr>
        <p:spPr bwMode="auto">
          <a:xfrm>
            <a:off x="2438400" y="4800601"/>
            <a:ext cx="2362200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ru-RU" sz="240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</a:t>
            </a:r>
            <a:r>
              <a:rPr lang="en-US" sz="2400" baseline="-2500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1</a:t>
            </a:r>
            <a:r>
              <a:rPr lang="en-US" sz="200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and </a:t>
            </a:r>
            <a:r>
              <a:rPr lang="ru-RU" sz="240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</a:t>
            </a:r>
            <a:r>
              <a:rPr lang="en-US" sz="2400" baseline="-2500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2</a:t>
            </a:r>
            <a:r>
              <a:rPr lang="en-US" sz="200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are small;</a:t>
            </a:r>
            <a:br>
              <a:rPr lang="en-US" sz="2000">
                <a:latin typeface="Times New Roman" pitchFamily="18" charset="0"/>
                <a:cs typeface="Times New Roman" pitchFamily="18" charset="0"/>
                <a:sym typeface="Symbol" pitchFamily="18" charset="2"/>
              </a:rPr>
            </a:br>
            <a:r>
              <a:rPr lang="en-US" sz="2400" i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E</a:t>
            </a:r>
            <a:r>
              <a:rPr lang="en-US" sz="200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is almost constant in all directions</a:t>
            </a:r>
            <a:endParaRPr lang="ru-RU" sz="200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33803" name="Rectangle 11"/>
          <p:cNvSpPr>
            <a:spLocks noChangeArrowheads="1"/>
          </p:cNvSpPr>
          <p:nvPr/>
        </p:nvSpPr>
        <p:spPr bwMode="auto">
          <a:xfrm>
            <a:off x="8686800" y="5105401"/>
            <a:ext cx="1295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sz="240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“Edge” </a:t>
            </a:r>
            <a:br>
              <a:rPr lang="en-US" sz="2400">
                <a:latin typeface="Times New Roman" pitchFamily="18" charset="0"/>
                <a:cs typeface="Times New Roman" pitchFamily="18" charset="0"/>
                <a:sym typeface="Symbol" pitchFamily="18" charset="2"/>
              </a:rPr>
            </a:br>
            <a:r>
              <a:rPr lang="ru-RU" sz="240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</a:t>
            </a:r>
            <a:r>
              <a:rPr lang="en-US" sz="2400" baseline="-2500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1</a:t>
            </a:r>
            <a:r>
              <a:rPr lang="en-US" sz="200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&gt;&gt; </a:t>
            </a:r>
            <a:r>
              <a:rPr lang="ru-RU" sz="240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</a:t>
            </a:r>
            <a:r>
              <a:rPr lang="en-US" sz="2400" baseline="-2500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2</a:t>
            </a:r>
            <a:endParaRPr lang="ru-RU" sz="200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33804" name="Rectangle 12"/>
          <p:cNvSpPr>
            <a:spLocks noChangeArrowheads="1"/>
          </p:cNvSpPr>
          <p:nvPr/>
        </p:nvSpPr>
        <p:spPr bwMode="auto">
          <a:xfrm>
            <a:off x="5638800" y="1905001"/>
            <a:ext cx="1295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sz="240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“Edge” </a:t>
            </a:r>
            <a:br>
              <a:rPr lang="en-US" sz="2400">
                <a:latin typeface="Times New Roman" pitchFamily="18" charset="0"/>
                <a:cs typeface="Times New Roman" pitchFamily="18" charset="0"/>
                <a:sym typeface="Symbol" pitchFamily="18" charset="2"/>
              </a:rPr>
            </a:br>
            <a:r>
              <a:rPr lang="ru-RU" sz="240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</a:t>
            </a:r>
            <a:r>
              <a:rPr lang="en-US" sz="2400" baseline="-2500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2</a:t>
            </a:r>
            <a:r>
              <a:rPr lang="en-US" sz="200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&gt;&gt; </a:t>
            </a:r>
            <a:r>
              <a:rPr lang="ru-RU" sz="240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</a:t>
            </a:r>
            <a:r>
              <a:rPr lang="en-US" sz="2400" baseline="-2500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1</a:t>
            </a:r>
            <a:endParaRPr lang="ru-RU" sz="200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33805" name="Rectangle 13"/>
          <p:cNvSpPr>
            <a:spLocks noChangeArrowheads="1"/>
          </p:cNvSpPr>
          <p:nvPr/>
        </p:nvSpPr>
        <p:spPr bwMode="auto">
          <a:xfrm>
            <a:off x="5486400" y="5181601"/>
            <a:ext cx="1219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en-US" sz="240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“Flat” region</a:t>
            </a:r>
            <a:endParaRPr lang="ru-RU" sz="2400">
              <a:solidFill>
                <a:srgbClr val="0033CC"/>
              </a:solidFill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33806" name="Text Box 14"/>
          <p:cNvSpPr txBox="1">
            <a:spLocks noChangeArrowheads="1"/>
          </p:cNvSpPr>
          <p:nvPr/>
        </p:nvSpPr>
        <p:spPr bwMode="auto">
          <a:xfrm>
            <a:off x="123825" y="975565"/>
            <a:ext cx="8001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Classification of image points using eigenvalues of </a:t>
            </a:r>
            <a:r>
              <a:rPr lang="en-US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  <a:endParaRPr lang="ru-RU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3807" name="Oval 15"/>
          <p:cNvSpPr>
            <a:spLocks noChangeArrowheads="1"/>
          </p:cNvSpPr>
          <p:nvPr/>
        </p:nvSpPr>
        <p:spPr bwMode="auto">
          <a:xfrm>
            <a:off x="8458200" y="2133601"/>
            <a:ext cx="609600" cy="638175"/>
          </a:xfrm>
          <a:prstGeom prst="ellipse">
            <a:avLst/>
          </a:prstGeom>
          <a:solidFill>
            <a:srgbClr val="0000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08" name="Oval 16"/>
          <p:cNvSpPr>
            <a:spLocks noChangeArrowheads="1"/>
          </p:cNvSpPr>
          <p:nvPr/>
        </p:nvSpPr>
        <p:spPr bwMode="auto">
          <a:xfrm>
            <a:off x="5708650" y="1828801"/>
            <a:ext cx="927100" cy="125413"/>
          </a:xfrm>
          <a:prstGeom prst="ellipse">
            <a:avLst/>
          </a:prstGeom>
          <a:solidFill>
            <a:srgbClr val="0000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09" name="Oval 17"/>
          <p:cNvSpPr>
            <a:spLocks noChangeArrowheads="1"/>
          </p:cNvSpPr>
          <p:nvPr/>
        </p:nvSpPr>
        <p:spPr bwMode="auto">
          <a:xfrm>
            <a:off x="5791200" y="4953000"/>
            <a:ext cx="152400" cy="152400"/>
          </a:xfrm>
          <a:prstGeom prst="ellipse">
            <a:avLst/>
          </a:prstGeom>
          <a:solidFill>
            <a:srgbClr val="0000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10" name="Oval 18"/>
          <p:cNvSpPr>
            <a:spLocks noChangeArrowheads="1"/>
          </p:cNvSpPr>
          <p:nvPr/>
        </p:nvSpPr>
        <p:spPr bwMode="auto">
          <a:xfrm rot="5542000">
            <a:off x="8174832" y="5557044"/>
            <a:ext cx="927100" cy="125413"/>
          </a:xfrm>
          <a:prstGeom prst="ellipse">
            <a:avLst/>
          </a:prstGeom>
          <a:solidFill>
            <a:srgbClr val="0000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8A9902-3E93-CC75-CA87-88C696D31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21533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Corner Response Function</a:t>
            </a:r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5562600" y="1752600"/>
            <a:ext cx="4343400" cy="4343400"/>
          </a:xfrm>
          <a:prstGeom prst="rect">
            <a:avLst/>
          </a:prstGeom>
          <a:solidFill>
            <a:srgbClr val="F38F67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65" name="Freeform 5"/>
          <p:cNvSpPr>
            <a:spLocks/>
          </p:cNvSpPr>
          <p:nvPr/>
        </p:nvSpPr>
        <p:spPr bwMode="auto">
          <a:xfrm>
            <a:off x="6019800" y="1752600"/>
            <a:ext cx="3886200" cy="3937000"/>
          </a:xfrm>
          <a:custGeom>
            <a:avLst/>
            <a:gdLst>
              <a:gd name="T0" fmla="*/ 0 w 2448"/>
              <a:gd name="T1" fmla="*/ 2147483647 h 2480"/>
              <a:gd name="T2" fmla="*/ 2147483647 w 2448"/>
              <a:gd name="T3" fmla="*/ 0 h 2480"/>
              <a:gd name="T4" fmla="*/ 2147483647 w 2448"/>
              <a:gd name="T5" fmla="*/ 0 h 2480"/>
              <a:gd name="T6" fmla="*/ 2147483647 w 2448"/>
              <a:gd name="T7" fmla="*/ 2147483647 h 2480"/>
              <a:gd name="T8" fmla="*/ 2147483647 w 2448"/>
              <a:gd name="T9" fmla="*/ 2147483647 h 2480"/>
              <a:gd name="T10" fmla="*/ 0 w 2448"/>
              <a:gd name="T11" fmla="*/ 2147483647 h 248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448"/>
              <a:gd name="T19" fmla="*/ 0 h 2480"/>
              <a:gd name="T20" fmla="*/ 2448 w 2448"/>
              <a:gd name="T21" fmla="*/ 2480 h 248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448" h="2480">
                <a:moveTo>
                  <a:pt x="0" y="1920"/>
                </a:moveTo>
                <a:lnTo>
                  <a:pt x="672" y="0"/>
                </a:lnTo>
                <a:lnTo>
                  <a:pt x="2448" y="0"/>
                </a:lnTo>
                <a:lnTo>
                  <a:pt x="2448" y="1872"/>
                </a:lnTo>
                <a:lnTo>
                  <a:pt x="555" y="2480"/>
                </a:lnTo>
                <a:lnTo>
                  <a:pt x="0" y="192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66" name="AutoShape 6"/>
          <p:cNvSpPr>
            <a:spLocks noChangeArrowheads="1"/>
          </p:cNvSpPr>
          <p:nvPr/>
        </p:nvSpPr>
        <p:spPr bwMode="auto">
          <a:xfrm>
            <a:off x="5562601" y="4343400"/>
            <a:ext cx="1749425" cy="1752600"/>
          </a:xfrm>
          <a:prstGeom prst="rtTriangle">
            <a:avLst/>
          </a:prstGeom>
          <a:solidFill>
            <a:srgbClr val="B2B2B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67" name="Rectangle 7"/>
          <p:cNvSpPr>
            <a:spLocks noChangeArrowheads="1"/>
          </p:cNvSpPr>
          <p:nvPr/>
        </p:nvSpPr>
        <p:spPr bwMode="auto">
          <a:xfrm>
            <a:off x="7086600" y="2362201"/>
            <a:ext cx="26670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sz="240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“Corner”</a:t>
            </a:r>
            <a:br>
              <a:rPr lang="en-US" sz="2400">
                <a:latin typeface="Times New Roman" pitchFamily="18" charset="0"/>
                <a:cs typeface="Times New Roman" pitchFamily="18" charset="0"/>
                <a:sym typeface="Symbol" pitchFamily="18" charset="2"/>
              </a:rPr>
            </a:br>
            <a:r>
              <a:rPr lang="en-US" sz="240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 &gt; 0</a:t>
            </a:r>
            <a:endParaRPr lang="ru-RU" sz="200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15368" name="Rectangle 8"/>
          <p:cNvSpPr>
            <a:spLocks noChangeArrowheads="1"/>
          </p:cNvSpPr>
          <p:nvPr/>
        </p:nvSpPr>
        <p:spPr bwMode="auto">
          <a:xfrm>
            <a:off x="8686800" y="5105401"/>
            <a:ext cx="1295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sz="240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“Edge” </a:t>
            </a:r>
            <a:br>
              <a:rPr lang="en-US" sz="2400">
                <a:latin typeface="Times New Roman" pitchFamily="18" charset="0"/>
                <a:cs typeface="Times New Roman" pitchFamily="18" charset="0"/>
                <a:sym typeface="Symbol" pitchFamily="18" charset="2"/>
              </a:rPr>
            </a:br>
            <a:r>
              <a:rPr lang="en-US" sz="240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 &lt; 0</a:t>
            </a:r>
            <a:endParaRPr lang="ru-RU" sz="200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15369" name="Rectangle 9"/>
          <p:cNvSpPr>
            <a:spLocks noChangeArrowheads="1"/>
          </p:cNvSpPr>
          <p:nvPr/>
        </p:nvSpPr>
        <p:spPr bwMode="auto">
          <a:xfrm>
            <a:off x="5638800" y="1905001"/>
            <a:ext cx="1295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sz="240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“Edge” </a:t>
            </a:r>
            <a:br>
              <a:rPr lang="en-US" sz="2400">
                <a:latin typeface="Times New Roman" pitchFamily="18" charset="0"/>
                <a:cs typeface="Times New Roman" pitchFamily="18" charset="0"/>
                <a:sym typeface="Symbol" pitchFamily="18" charset="2"/>
              </a:rPr>
            </a:br>
            <a:r>
              <a:rPr lang="en-US" sz="2400" i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</a:t>
            </a:r>
            <a:r>
              <a:rPr lang="en-US" sz="240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&lt; 0</a:t>
            </a:r>
            <a:endParaRPr lang="ru-RU" sz="200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15370" name="Rectangle 10"/>
          <p:cNvSpPr>
            <a:spLocks noChangeArrowheads="1"/>
          </p:cNvSpPr>
          <p:nvPr/>
        </p:nvSpPr>
        <p:spPr bwMode="auto">
          <a:xfrm>
            <a:off x="5486400" y="5181601"/>
            <a:ext cx="1219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en-US" sz="240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“Flat” region</a:t>
            </a:r>
            <a:endParaRPr lang="ru-RU" sz="2400">
              <a:solidFill>
                <a:srgbClr val="0033CC"/>
              </a:solidFill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15371" name="Oval 11"/>
          <p:cNvSpPr>
            <a:spLocks noChangeArrowheads="1"/>
          </p:cNvSpPr>
          <p:nvPr/>
        </p:nvSpPr>
        <p:spPr bwMode="auto">
          <a:xfrm>
            <a:off x="8458200" y="2133601"/>
            <a:ext cx="609600" cy="638175"/>
          </a:xfrm>
          <a:prstGeom prst="ellipse">
            <a:avLst/>
          </a:prstGeom>
          <a:solidFill>
            <a:srgbClr val="0000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72" name="Oval 12"/>
          <p:cNvSpPr>
            <a:spLocks noChangeArrowheads="1"/>
          </p:cNvSpPr>
          <p:nvPr/>
        </p:nvSpPr>
        <p:spPr bwMode="auto">
          <a:xfrm>
            <a:off x="5708650" y="1828801"/>
            <a:ext cx="927100" cy="125413"/>
          </a:xfrm>
          <a:prstGeom prst="ellipse">
            <a:avLst/>
          </a:prstGeom>
          <a:solidFill>
            <a:srgbClr val="0000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73" name="Oval 13"/>
          <p:cNvSpPr>
            <a:spLocks noChangeArrowheads="1"/>
          </p:cNvSpPr>
          <p:nvPr/>
        </p:nvSpPr>
        <p:spPr bwMode="auto">
          <a:xfrm>
            <a:off x="5791200" y="4953000"/>
            <a:ext cx="152400" cy="152400"/>
          </a:xfrm>
          <a:prstGeom prst="ellipse">
            <a:avLst/>
          </a:prstGeom>
          <a:solidFill>
            <a:srgbClr val="0000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74" name="Oval 14"/>
          <p:cNvSpPr>
            <a:spLocks noChangeArrowheads="1"/>
          </p:cNvSpPr>
          <p:nvPr/>
        </p:nvSpPr>
        <p:spPr bwMode="auto">
          <a:xfrm rot="5542000">
            <a:off x="8174832" y="5557044"/>
            <a:ext cx="927100" cy="125413"/>
          </a:xfrm>
          <a:prstGeom prst="ellipse">
            <a:avLst/>
          </a:prstGeom>
          <a:solidFill>
            <a:srgbClr val="0000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75" name="Rectangle 15"/>
          <p:cNvSpPr>
            <a:spLocks noChangeArrowheads="1"/>
          </p:cNvSpPr>
          <p:nvPr/>
        </p:nvSpPr>
        <p:spPr bwMode="auto">
          <a:xfrm>
            <a:off x="6423026" y="4714875"/>
            <a:ext cx="12747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i="1">
                <a:latin typeface="Times New Roman" pitchFamily="18" charset="0"/>
                <a:sym typeface="Symbol" pitchFamily="18" charset="2"/>
              </a:rPr>
              <a:t>|R| </a:t>
            </a:r>
            <a:r>
              <a:rPr lang="en-US" sz="2400">
                <a:latin typeface="Times New Roman" pitchFamily="18" charset="0"/>
                <a:sym typeface="Symbol" pitchFamily="18" charset="2"/>
              </a:rPr>
              <a:t>small</a:t>
            </a:r>
          </a:p>
        </p:txBody>
      </p:sp>
      <p:sp>
        <p:nvSpPr>
          <p:cNvPr id="15376" name="Line 16"/>
          <p:cNvSpPr>
            <a:spLocks noChangeShapeType="1"/>
          </p:cNvSpPr>
          <p:nvPr/>
        </p:nvSpPr>
        <p:spPr bwMode="auto">
          <a:xfrm flipH="1">
            <a:off x="6553200" y="5181600"/>
            <a:ext cx="533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62" name="Object 17"/>
              <p:cNvSpPr txBox="1"/>
              <p:nvPr/>
            </p:nvSpPr>
            <p:spPr bwMode="auto">
              <a:xfrm>
                <a:off x="2514600" y="990600"/>
                <a:ext cx="7123113" cy="5715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det</m:t>
                          </m:r>
                        </m:fName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func>
                        <m:func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trace</m:t>
                          </m:r>
                        </m:fName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362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4600" y="990600"/>
                <a:ext cx="7123113" cy="571500"/>
              </a:xfrm>
              <a:prstGeom prst="rect">
                <a:avLst/>
              </a:prstGeom>
              <a:blipFill>
                <a:blip r:embed="rId3"/>
                <a:stretch>
                  <a:fillRect l="-2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77" name="Text Box 18"/>
          <p:cNvSpPr txBox="1">
            <a:spLocks noChangeArrowheads="1"/>
          </p:cNvSpPr>
          <p:nvPr/>
        </p:nvSpPr>
        <p:spPr bwMode="auto">
          <a:xfrm>
            <a:off x="2530476" y="1828801"/>
            <a:ext cx="27273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l-GR" sz="1800" i="1" dirty="0">
                <a:latin typeface="Times New Roman" pitchFamily="18" charset="0"/>
              </a:rPr>
              <a:t>α</a:t>
            </a:r>
            <a:r>
              <a:rPr lang="en-US" sz="1800" dirty="0"/>
              <a:t>: constant (0.04 to 0.06)</a:t>
            </a:r>
            <a:endParaRPr lang="el-GR" sz="1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8918A8-4FF2-2451-DE65-93136970B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38806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Harris Corner Detector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5000" y="1143000"/>
            <a:ext cx="8458200" cy="5181600"/>
          </a:xfrm>
        </p:spPr>
        <p:txBody>
          <a:bodyPr/>
          <a:lstStyle/>
          <a:p>
            <a:pPr marL="533400" indent="-533400">
              <a:buFontTx/>
              <a:buAutoNum type="arabicPeriod"/>
            </a:pPr>
            <a:r>
              <a:rPr lang="en-US" dirty="0"/>
              <a:t>Compute partial derivatives at each pixel</a:t>
            </a:r>
          </a:p>
          <a:p>
            <a:pPr marL="533400" indent="-533400">
              <a:buFontTx/>
              <a:buAutoNum type="arabicPeriod"/>
            </a:pPr>
            <a:r>
              <a:rPr lang="en-US" dirty="0"/>
              <a:t>Compute second moment matrix </a:t>
            </a:r>
            <a:r>
              <a:rPr lang="en-US" i="1" dirty="0"/>
              <a:t>M</a:t>
            </a:r>
            <a:r>
              <a:rPr lang="en-US" dirty="0"/>
              <a:t> in a Gaussian window around each pixel: </a:t>
            </a:r>
          </a:p>
        </p:txBody>
      </p:sp>
      <p:sp>
        <p:nvSpPr>
          <p:cNvPr id="34820" name="Rectangle 14"/>
          <p:cNvSpPr>
            <a:spLocks noChangeArrowheads="1"/>
          </p:cNvSpPr>
          <p:nvPr/>
        </p:nvSpPr>
        <p:spPr bwMode="auto">
          <a:xfrm>
            <a:off x="1905000" y="5759451"/>
            <a:ext cx="845820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2000" dirty="0" err="1"/>
              <a:t>C.Harris</a:t>
            </a:r>
            <a:r>
              <a:rPr lang="en-US" sz="2000" dirty="0"/>
              <a:t> and </a:t>
            </a:r>
            <a:r>
              <a:rPr lang="en-US" sz="2000" dirty="0" err="1"/>
              <a:t>M.Stephens</a:t>
            </a:r>
            <a:r>
              <a:rPr lang="en-US" sz="2000" dirty="0"/>
              <a:t>. </a:t>
            </a:r>
            <a:r>
              <a:rPr lang="en-US" sz="2000" dirty="0">
                <a:solidFill>
                  <a:srgbClr val="0070C0"/>
                </a:solidFill>
                <a:hlinkClick r:id="rId3"/>
              </a:rPr>
              <a:t>“A Combined Corner and Edge Detector.” </a:t>
            </a:r>
            <a:r>
              <a:rPr lang="en-US" sz="2000" i="1" dirty="0"/>
              <a:t>Proceedings of the 4th </a:t>
            </a:r>
            <a:r>
              <a:rPr lang="en-US" sz="2000" i="1" dirty="0" err="1"/>
              <a:t>Alvey</a:t>
            </a:r>
            <a:r>
              <a:rPr lang="en-US" sz="2000" i="1" dirty="0"/>
              <a:t> Vision Conference</a:t>
            </a:r>
            <a:r>
              <a:rPr lang="en-US" sz="2000" dirty="0"/>
              <a:t>: pages 147—151, 1988. 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1"/>
              <p:cNvSpPr txBox="1"/>
              <p:nvPr/>
            </p:nvSpPr>
            <p:spPr bwMode="auto">
              <a:xfrm>
                <a:off x="2719388" y="3048000"/>
                <a:ext cx="6500812" cy="2209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  <m:sup/>
                                  <m:e>
                                    <m: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  <m:sSubSup>
                                      <m:sSubSupPr>
                                        <m:ctrlPr>
                                          <a:rPr lang="en-US" sz="2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2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en-US" sz="2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  <m:sup>
                                        <m:r>
                                          <a:rPr lang="en-US" sz="2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</m:nary>
                              </m:e>
                              <m:e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  <m:sup/>
                                  <m:e>
                                    <m: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  <m:sSub>
                                      <m:sSubPr>
                                        <m:ctrlPr>
                                          <a:rPr lang="en-US" sz="2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en-US" sz="2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2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en-US" sz="2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mr>
                            <m:mr>
                              <m:e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  <m:sup/>
                                  <m:e>
                                    <m: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  <m:sSub>
                                      <m:sSubPr>
                                        <m:ctrlPr>
                                          <a:rPr lang="en-US" sz="2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en-US" sz="2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2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en-US" sz="2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  <m:e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  <m:sup/>
                                  <m:e>
                                    <m: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  <m:sSubSup>
                                      <m:sSubSupPr>
                                        <m:ctrlPr>
                                          <a:rPr lang="en-US" sz="2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2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  <m:sub>
                                        <m:r>
                                          <a:rPr lang="en-US" sz="2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  <m:sup>
                                        <m:r>
                                          <a:rPr lang="en-US" sz="2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</m:nary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Object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19388" y="3048000"/>
                <a:ext cx="6500812" cy="22098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7C45DCB-E012-F60B-7BC4-3196DF3E7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80454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Harris Corner Detector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5000" y="1143000"/>
            <a:ext cx="8458200" cy="5181600"/>
          </a:xfrm>
        </p:spPr>
        <p:txBody>
          <a:bodyPr/>
          <a:lstStyle/>
          <a:p>
            <a:pPr marL="533400" indent="-533400">
              <a:buFontTx/>
              <a:buAutoNum type="arabicPeriod"/>
            </a:pPr>
            <a:r>
              <a:rPr lang="en-US" dirty="0"/>
              <a:t>Compute partial derivatives at each pixel</a:t>
            </a:r>
          </a:p>
          <a:p>
            <a:pPr marL="533400" indent="-533400">
              <a:buFontTx/>
              <a:buAutoNum type="arabicPeriod"/>
            </a:pPr>
            <a:r>
              <a:rPr lang="en-US" dirty="0"/>
              <a:t>Compute second moment matrix </a:t>
            </a:r>
            <a:r>
              <a:rPr lang="en-US" i="1" dirty="0"/>
              <a:t>M</a:t>
            </a:r>
            <a:r>
              <a:rPr lang="en-US" dirty="0"/>
              <a:t> in a Gaussian window around each pixel </a:t>
            </a:r>
          </a:p>
          <a:p>
            <a:pPr marL="533400" indent="-533400">
              <a:buFontTx/>
              <a:buAutoNum type="arabicPeriod"/>
            </a:pPr>
            <a:r>
              <a:rPr lang="en-US" dirty="0"/>
              <a:t>Compute corner response function </a:t>
            </a:r>
            <a:r>
              <a:rPr lang="en-US" i="1" dirty="0"/>
              <a:t>R</a:t>
            </a:r>
          </a:p>
        </p:txBody>
      </p:sp>
      <p:sp>
        <p:nvSpPr>
          <p:cNvPr id="34820" name="Rectangle 14"/>
          <p:cNvSpPr>
            <a:spLocks noChangeArrowheads="1"/>
          </p:cNvSpPr>
          <p:nvPr/>
        </p:nvSpPr>
        <p:spPr bwMode="auto">
          <a:xfrm>
            <a:off x="0" y="6211887"/>
            <a:ext cx="11953875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2000" dirty="0"/>
              <a:t>C. Harris and M. Stephens. </a:t>
            </a:r>
            <a:r>
              <a:rPr lang="en-US" sz="2000" dirty="0">
                <a:hlinkClick r:id="rId3"/>
              </a:rPr>
              <a:t>“A Combined Corner and Edge Detector.” </a:t>
            </a:r>
            <a:r>
              <a:rPr lang="en-US" sz="2000" i="1" dirty="0"/>
              <a:t>Proceedings of the 4th </a:t>
            </a:r>
            <a:r>
              <a:rPr lang="en-US" sz="2000" i="1" dirty="0" err="1"/>
              <a:t>Alvey</a:t>
            </a:r>
            <a:r>
              <a:rPr lang="en-US" sz="2000" i="1" dirty="0"/>
              <a:t> Vision Conference</a:t>
            </a:r>
            <a:r>
              <a:rPr lang="en-US" sz="2000" dirty="0"/>
              <a:t>: pages 147—151, 1988. 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558F62-38C5-789F-E9E5-6862C4049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11268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/>
              <a:t>Harris Detector: Steps</a:t>
            </a:r>
            <a:endParaRPr lang="ru-RU" sz="3200"/>
          </a:p>
        </p:txBody>
      </p:sp>
      <p:pic>
        <p:nvPicPr>
          <p:cNvPr id="35843" name="Picture 3" descr="cows_step0"/>
          <p:cNvPicPr>
            <a:picLocks noChangeAspect="1" noChangeArrowheads="1"/>
          </p:cNvPicPr>
          <p:nvPr/>
        </p:nvPicPr>
        <p:blipFill>
          <a:blip r:embed="rId3" cstate="print">
            <a:lum bright="12000" contrast="18000"/>
          </a:blip>
          <a:srcRect/>
          <a:stretch>
            <a:fillRect/>
          </a:stretch>
        </p:blipFill>
        <p:spPr bwMode="auto">
          <a:xfrm>
            <a:off x="2057400" y="1295400"/>
            <a:ext cx="8153400" cy="527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B74C72-3F56-2204-202C-1C779B842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F1AF85-3975-4929-AB73-015B79339920}" type="slidenum">
              <a:rPr lang="en-US" smtClean="0"/>
              <a:pPr>
                <a:defRPr/>
              </a:pPr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76932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/>
              <a:t>Harris Detector: Steps</a:t>
            </a:r>
            <a:endParaRPr lang="ru-RU" sz="3200"/>
          </a:p>
        </p:txBody>
      </p:sp>
      <p:pic>
        <p:nvPicPr>
          <p:cNvPr id="36867" name="Picture 3" descr="cows_step1_corner_respons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57400" y="1295401"/>
            <a:ext cx="8153400" cy="5268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868" name="Text Box 4"/>
          <p:cNvSpPr txBox="1">
            <a:spLocks noChangeArrowheads="1"/>
          </p:cNvSpPr>
          <p:nvPr/>
        </p:nvSpPr>
        <p:spPr bwMode="auto">
          <a:xfrm>
            <a:off x="2352675" y="774701"/>
            <a:ext cx="40528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2400">
                <a:cs typeface="Times New Roman" pitchFamily="18" charset="0"/>
              </a:rPr>
              <a:t>Compute corner response </a:t>
            </a:r>
            <a:r>
              <a:rPr lang="en-US" i="1">
                <a:cs typeface="Times New Roman" pitchFamily="18" charset="0"/>
              </a:rPr>
              <a:t>R</a:t>
            </a:r>
            <a:endParaRPr lang="ru-RU" i="1">
              <a:cs typeface="Times New Roman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074699-DC63-ED44-B70E-2AC632262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F1AF85-3975-4929-AB73-015B79339920}" type="slidenum">
              <a:rPr lang="en-US" smtClean="0"/>
              <a:pPr>
                <a:defRPr/>
              </a:pPr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07224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Harris Corner Detector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5000" y="1143000"/>
            <a:ext cx="8458200" cy="5181600"/>
          </a:xfrm>
        </p:spPr>
        <p:txBody>
          <a:bodyPr/>
          <a:lstStyle/>
          <a:p>
            <a:pPr marL="533400" indent="-533400">
              <a:buFontTx/>
              <a:buAutoNum type="arabicPeriod"/>
            </a:pPr>
            <a:r>
              <a:rPr lang="en-US" dirty="0"/>
              <a:t>Compute partial derivatives at each pixel</a:t>
            </a:r>
          </a:p>
          <a:p>
            <a:pPr marL="533400" indent="-533400">
              <a:buFontTx/>
              <a:buAutoNum type="arabicPeriod"/>
            </a:pPr>
            <a:r>
              <a:rPr lang="en-US" dirty="0"/>
              <a:t>Compute second moment matrix </a:t>
            </a:r>
            <a:r>
              <a:rPr lang="en-US" i="1" dirty="0"/>
              <a:t>M</a:t>
            </a:r>
            <a:r>
              <a:rPr lang="en-US" dirty="0"/>
              <a:t> in a Gaussian window around each pixel </a:t>
            </a:r>
          </a:p>
          <a:p>
            <a:pPr marL="533400" indent="-533400">
              <a:buFontTx/>
              <a:buAutoNum type="arabicPeriod"/>
            </a:pPr>
            <a:r>
              <a:rPr lang="en-US" dirty="0"/>
              <a:t>Compute corner response function </a:t>
            </a:r>
            <a:r>
              <a:rPr lang="en-US" i="1" dirty="0"/>
              <a:t>R</a:t>
            </a:r>
          </a:p>
          <a:p>
            <a:pPr marL="533400" indent="-533400">
              <a:buFontTx/>
              <a:buAutoNum type="arabicPeriod"/>
            </a:pPr>
            <a:r>
              <a:rPr lang="en-US" dirty="0"/>
              <a:t>Threshold </a:t>
            </a:r>
            <a:r>
              <a:rPr lang="en-US" i="1" dirty="0"/>
              <a:t>R</a:t>
            </a:r>
            <a:endParaRPr lang="en-US" i="1" dirty="0">
              <a:latin typeface="Symbol" pitchFamily="18" charset="2"/>
            </a:endParaRPr>
          </a:p>
          <a:p>
            <a:pPr marL="533400" indent="-533400">
              <a:buFontTx/>
              <a:buAutoNum type="arabicPeriod"/>
            </a:pPr>
            <a:r>
              <a:rPr lang="en-US" dirty="0"/>
              <a:t>Find local maxima of response function (</a:t>
            </a:r>
            <a:r>
              <a:rPr lang="en-US" dirty="0" err="1"/>
              <a:t>nonmaximum</a:t>
            </a:r>
            <a:r>
              <a:rPr lang="en-US" dirty="0"/>
              <a:t> suppression)</a:t>
            </a:r>
          </a:p>
        </p:txBody>
      </p:sp>
      <p:sp>
        <p:nvSpPr>
          <p:cNvPr id="34820" name="Rectangle 14"/>
          <p:cNvSpPr>
            <a:spLocks noChangeArrowheads="1"/>
          </p:cNvSpPr>
          <p:nvPr/>
        </p:nvSpPr>
        <p:spPr bwMode="auto">
          <a:xfrm>
            <a:off x="1905000" y="5759451"/>
            <a:ext cx="845820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2000" dirty="0" err="1"/>
              <a:t>C.Harris</a:t>
            </a:r>
            <a:r>
              <a:rPr lang="en-US" sz="2000" dirty="0"/>
              <a:t> and </a:t>
            </a:r>
            <a:r>
              <a:rPr lang="en-US" sz="2000" dirty="0" err="1"/>
              <a:t>M.Stephens</a:t>
            </a:r>
            <a:r>
              <a:rPr lang="en-US" sz="2000" dirty="0"/>
              <a:t>. </a:t>
            </a:r>
            <a:r>
              <a:rPr lang="en-US" sz="2000" dirty="0">
                <a:hlinkClick r:id="rId3"/>
              </a:rPr>
              <a:t>“A Combined Corner and Edge Detector.” </a:t>
            </a:r>
            <a:r>
              <a:rPr lang="en-US" sz="2000" i="1" dirty="0"/>
              <a:t>Proceedings of the 4th </a:t>
            </a:r>
            <a:r>
              <a:rPr lang="en-US" sz="2000" i="1" dirty="0" err="1"/>
              <a:t>Alvey</a:t>
            </a:r>
            <a:r>
              <a:rPr lang="en-US" sz="2000" i="1" dirty="0"/>
              <a:t> Vision Conference</a:t>
            </a:r>
            <a:r>
              <a:rPr lang="en-US" sz="2000" dirty="0"/>
              <a:t>: pages 147—151, 1988. 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26EC86-694E-A3BF-0A5D-8106E5EDC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42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uiExpand="1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/>
              <a:t>Harris Detector: Steps</a:t>
            </a:r>
            <a:endParaRPr lang="ru-RU" sz="3200"/>
          </a:p>
        </p:txBody>
      </p:sp>
      <p:sp>
        <p:nvSpPr>
          <p:cNvPr id="37891" name="Text Box 3"/>
          <p:cNvSpPr txBox="1">
            <a:spLocks noChangeArrowheads="1"/>
          </p:cNvSpPr>
          <p:nvPr/>
        </p:nvSpPr>
        <p:spPr bwMode="auto">
          <a:xfrm>
            <a:off x="2362201" y="774700"/>
            <a:ext cx="772679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2400" dirty="0">
                <a:cs typeface="Times New Roman" pitchFamily="18" charset="0"/>
              </a:rPr>
              <a:t>Find points with large corner response: </a:t>
            </a:r>
            <a:r>
              <a:rPr lang="en-US" i="1" dirty="0">
                <a:cs typeface="Times New Roman" pitchFamily="18" charset="0"/>
              </a:rPr>
              <a:t>R &gt; </a:t>
            </a:r>
            <a:r>
              <a:rPr lang="en-US" dirty="0">
                <a:cs typeface="Times New Roman" pitchFamily="18" charset="0"/>
              </a:rPr>
              <a:t>threshold</a:t>
            </a:r>
            <a:endParaRPr lang="ru-RU" dirty="0">
              <a:cs typeface="Times New Roman" pitchFamily="18" charset="0"/>
            </a:endParaRPr>
          </a:p>
        </p:txBody>
      </p:sp>
      <p:pic>
        <p:nvPicPr>
          <p:cNvPr id="37892" name="Picture 4" descr="cows_step2_thresh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57400" y="1295401"/>
            <a:ext cx="8153400" cy="5268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E43385-00E8-47B3-049C-F66B6ABF4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F1AF85-3975-4929-AB73-015B79339920}" type="slidenum">
              <a:rPr lang="en-US" smtClean="0"/>
              <a:pPr>
                <a:defRPr/>
              </a:pPr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85252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/>
              <a:t>Harris Detector: Steps</a:t>
            </a:r>
            <a:endParaRPr lang="ru-RU" sz="3200"/>
          </a:p>
        </p:txBody>
      </p:sp>
      <p:sp>
        <p:nvSpPr>
          <p:cNvPr id="38915" name="Text Box 3"/>
          <p:cNvSpPr txBox="1">
            <a:spLocks noChangeArrowheads="1"/>
          </p:cNvSpPr>
          <p:nvPr/>
        </p:nvSpPr>
        <p:spPr bwMode="auto">
          <a:xfrm>
            <a:off x="2362201" y="774701"/>
            <a:ext cx="579596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2400">
                <a:cs typeface="Times New Roman" pitchFamily="18" charset="0"/>
              </a:rPr>
              <a:t>Take only the points of local maxima of </a:t>
            </a:r>
            <a:r>
              <a:rPr lang="en-US" i="1">
                <a:cs typeface="Times New Roman" pitchFamily="18" charset="0"/>
              </a:rPr>
              <a:t>R</a:t>
            </a:r>
            <a:endParaRPr lang="ru-RU" i="1">
              <a:cs typeface="Times New Roman" pitchFamily="18" charset="0"/>
            </a:endParaRPr>
          </a:p>
        </p:txBody>
      </p:sp>
      <p:pic>
        <p:nvPicPr>
          <p:cNvPr id="38916" name="Picture 4" descr="cows_step3_thresh&amp;max"/>
          <p:cNvPicPr>
            <a:picLocks noChangeAspect="1" noChangeArrowheads="1"/>
          </p:cNvPicPr>
          <p:nvPr/>
        </p:nvPicPr>
        <p:blipFill>
          <a:blip r:embed="rId3" cstate="print">
            <a:lum bright="24000" contrast="72000"/>
            <a:grayscl/>
            <a:biLevel thresh="50000"/>
          </a:blip>
          <a:srcRect/>
          <a:stretch>
            <a:fillRect/>
          </a:stretch>
        </p:blipFill>
        <p:spPr bwMode="auto">
          <a:xfrm>
            <a:off x="2057400" y="1295400"/>
            <a:ext cx="8153400" cy="525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34BD9E-862D-AA3E-1B80-18B5ABE9A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F1AF85-3975-4929-AB73-015B79339920}" type="slidenum">
              <a:rPr lang="en-US" smtClean="0"/>
              <a:pPr>
                <a:defRPr/>
              </a:pPr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93322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/>
              <a:t>Harris Detector: Steps</a:t>
            </a:r>
            <a:endParaRPr lang="ru-RU" sz="3200"/>
          </a:p>
        </p:txBody>
      </p:sp>
      <p:pic>
        <p:nvPicPr>
          <p:cNvPr id="39939" name="Picture 3" descr="cows_step4_harris"/>
          <p:cNvPicPr>
            <a:picLocks noChangeAspect="1" noChangeArrowheads="1"/>
          </p:cNvPicPr>
          <p:nvPr/>
        </p:nvPicPr>
        <p:blipFill>
          <a:blip r:embed="rId3" cstate="print">
            <a:lum bright="12000" contrast="18000"/>
          </a:blip>
          <a:srcRect/>
          <a:stretch>
            <a:fillRect/>
          </a:stretch>
        </p:blipFill>
        <p:spPr bwMode="auto">
          <a:xfrm>
            <a:off x="2057400" y="1295400"/>
            <a:ext cx="8153400" cy="527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35EC62-B4C5-C8D1-1DBF-81216B7ED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F1AF85-3975-4929-AB73-015B79339920}" type="slidenum">
              <a:rPr lang="en-US" smtClean="0"/>
              <a:pPr>
                <a:defRPr/>
              </a:pPr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75945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Invariance and Covariance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3825" y="914400"/>
            <a:ext cx="11839575" cy="5410200"/>
          </a:xfrm>
        </p:spPr>
        <p:txBody>
          <a:bodyPr/>
          <a:lstStyle/>
          <a:p>
            <a:pPr marL="0" indent="0"/>
            <a:r>
              <a:rPr lang="en-US" sz="2400" dirty="0"/>
              <a:t>We want corner locations to be </a:t>
            </a:r>
            <a:r>
              <a:rPr lang="en-US" sz="2400" i="1" dirty="0"/>
              <a:t>invariant</a:t>
            </a:r>
            <a:r>
              <a:rPr lang="en-US" sz="2400" dirty="0"/>
              <a:t> to photometric transformations and </a:t>
            </a:r>
            <a:r>
              <a:rPr lang="en-US" sz="2400" i="1" dirty="0"/>
              <a:t>covariant</a:t>
            </a:r>
            <a:r>
              <a:rPr lang="en-US" sz="2400" dirty="0"/>
              <a:t> to geometric transformations</a:t>
            </a:r>
          </a:p>
          <a:p>
            <a:pPr lvl="1"/>
            <a:r>
              <a:rPr lang="en-US" b="1" dirty="0"/>
              <a:t>Invariance:</a:t>
            </a:r>
            <a:r>
              <a:rPr lang="en-US" dirty="0"/>
              <a:t> image is transformed and corner locations do not change</a:t>
            </a:r>
          </a:p>
          <a:p>
            <a:pPr lvl="1"/>
            <a:r>
              <a:rPr lang="en-US" b="1" dirty="0"/>
              <a:t>Covariance: </a:t>
            </a:r>
            <a:r>
              <a:rPr lang="en-US" dirty="0"/>
              <a:t>if we have two transformed versions of the same image, features should be detected in corresponding locations</a:t>
            </a:r>
          </a:p>
        </p:txBody>
      </p:sp>
      <p:pic>
        <p:nvPicPr>
          <p:cNvPr id="40964" name="Picture 3" descr="cows_step4_harris"/>
          <p:cNvPicPr>
            <a:picLocks noChangeAspect="1" noChangeArrowheads="1"/>
          </p:cNvPicPr>
          <p:nvPr/>
        </p:nvPicPr>
        <p:blipFill>
          <a:blip r:embed="rId3" cstate="print">
            <a:lum bright="12000" contrast="18000"/>
          </a:blip>
          <a:srcRect/>
          <a:stretch>
            <a:fillRect/>
          </a:stretch>
        </p:blipFill>
        <p:spPr bwMode="auto">
          <a:xfrm>
            <a:off x="3200400" y="3051658"/>
            <a:ext cx="5715000" cy="3699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833295-FB50-CDAA-EF85-7E7D19954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87399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Is Harris corner detection invariant to</a:t>
                </a:r>
              </a:p>
              <a:p>
                <a:pPr marL="514350" indent="-514350">
                  <a:buFontTx/>
                  <a:buAutoNum type="arabicPeriod"/>
                </a:pPr>
                <a:r>
                  <a:rPr lang="en-US" dirty="0"/>
                  <a:t>Affine intensity changes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𝐼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 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itchFamily="18" charset="0"/>
                        <a:sym typeface="Symbol" pitchFamily="18" charset="2"/>
                      </a:rPr>
                      <m:t>𝑎</m:t>
                    </m:r>
                    <m:r>
                      <a:rPr lang="he-IL" i="1" dirty="0">
                        <a:latin typeface="Cambria Math" panose="02040503050406030204" pitchFamily="18" charset="0"/>
                        <a:cs typeface="Times New Roman" pitchFamily="18" charset="0"/>
                        <a:sym typeface="Symbol" pitchFamily="18" charset="2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itchFamily="18" charset="0"/>
                        <a:sym typeface="Symbol" pitchFamily="18" charset="2"/>
                      </a:rPr>
                      <m:t>𝐼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itchFamily="18" charset="0"/>
                        <a:sym typeface="Symbol" pitchFamily="18" charset="2"/>
                      </a:rPr>
                      <m:t> + 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𝑏</m:t>
                    </m:r>
                  </m:oMath>
                </a14:m>
                <a:endParaRPr lang="en-US" dirty="0"/>
              </a:p>
              <a:p>
                <a:pPr marL="514350" indent="-514350">
                  <a:buAutoNum type="arabicPeriod"/>
                </a:pPr>
                <a:r>
                  <a:rPr lang="en-US" dirty="0"/>
                  <a:t> Image translation</a:t>
                </a:r>
              </a:p>
              <a:p>
                <a:pPr marL="514350" indent="-514350">
                  <a:buAutoNum type="arabicPeriod"/>
                </a:pPr>
                <a:r>
                  <a:rPr lang="en-US" dirty="0"/>
                  <a:t>Image rotation</a:t>
                </a:r>
              </a:p>
              <a:p>
                <a:pPr marL="514350" indent="-514350">
                  <a:buAutoNum type="arabicPeriod"/>
                </a:pPr>
                <a:r>
                  <a:rPr lang="en-US" dirty="0"/>
                  <a:t>Image scaling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4" t="-12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2613AB-536D-ECBE-3F72-40CF7AF82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32781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Affine Intensity Change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0372" name="Text Box 4"/>
              <p:cNvSpPr txBox="1">
                <a:spLocks noChangeArrowheads="1"/>
              </p:cNvSpPr>
              <p:nvPr/>
            </p:nvSpPr>
            <p:spPr bwMode="auto">
              <a:xfrm>
                <a:off x="1676400" y="1997076"/>
                <a:ext cx="1013460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</a:t>
                </a:r>
                <a:r>
                  <a:rPr lang="en-US" sz="2400" dirty="0">
                    <a:cs typeface="Times New Roman" pitchFamily="18" charset="0"/>
                  </a:rPr>
                  <a:t>Only derivatives are used =&gt; invariance to intensity shift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𝐼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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itchFamily="18" charset="0"/>
                        <a:sym typeface="Symbol" pitchFamily="18" charset="2"/>
                      </a:rPr>
                      <m:t>𝐼</m:t>
                    </m:r>
                    <m:r>
                      <a:rPr lang="he-IL" sz="2400" i="1" dirty="0">
                        <a:latin typeface="Cambria Math" panose="02040503050406030204" pitchFamily="18" charset="0"/>
                        <a:cs typeface="Times New Roman" pitchFamily="18" charset="0"/>
                        <a:sym typeface="Symbol" pitchFamily="18" charset="2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itchFamily="18" charset="0"/>
                        <a:sym typeface="Symbol" pitchFamily="18" charset="2"/>
                      </a:rPr>
                      <m:t>+</m:t>
                    </m:r>
                    <m:r>
                      <a:rPr lang="he-IL" sz="2400" i="1" dirty="0">
                        <a:latin typeface="Cambria Math" panose="02040503050406030204" pitchFamily="18" charset="0"/>
                        <a:cs typeface="Times New Roman" pitchFamily="18" charset="0"/>
                        <a:sym typeface="Symbol" pitchFamily="18" charset="2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Times New Roman" pitchFamily="18" charset="0"/>
                        <a:sym typeface="Symbol" pitchFamily="18" charset="2"/>
                      </a:rPr>
                      <m:t>𝑏</m:t>
                    </m:r>
                  </m:oMath>
                </a14:m>
                <a:endParaRPr lang="ru-RU" sz="2400" i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210372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76400" y="1997076"/>
                <a:ext cx="10134600" cy="461665"/>
              </a:xfrm>
              <a:prstGeom prst="rect">
                <a:avLst/>
              </a:prstGeom>
              <a:blipFill>
                <a:blip r:embed="rId3"/>
                <a:stretch>
                  <a:fillRect t="-10667" b="-30667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668463" y="2883197"/>
            <a:ext cx="8466138" cy="2898775"/>
            <a:chOff x="-5" y="2328"/>
            <a:chExt cx="5333" cy="18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014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-5" y="2328"/>
                  <a:ext cx="3264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lang="en-US" sz="2400" dirty="0">
                      <a:latin typeface="Times New Roman" pitchFamily="18" charset="0"/>
                      <a:cs typeface="Times New Roman" pitchFamily="18" charset="0"/>
                    </a:rPr>
                    <a:t>  </a:t>
                  </a:r>
                  <a:r>
                    <a:rPr lang="he-IL" sz="2400" dirty="0">
                      <a:latin typeface="Times New Roman" pitchFamily="18" charset="0"/>
                      <a:cs typeface="Times New Roman" pitchFamily="18" charset="0"/>
                    </a:rPr>
                    <a:t> </a:t>
                  </a:r>
                  <a:r>
                    <a:rPr lang="en-US" sz="2400" dirty="0">
                      <a:cs typeface="Times New Roman" pitchFamily="18" charset="0"/>
                    </a:rPr>
                    <a:t>Intensity scaling:</a:t>
                  </a:r>
                  <a:r>
                    <a:rPr lang="en-US" sz="2400" dirty="0">
                      <a:latin typeface="Times New Roman" pitchFamily="18" charset="0"/>
                      <a:cs typeface="Times New Roman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𝐼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 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  <a:cs typeface="Times New Roman" pitchFamily="18" charset="0"/>
                          <a:sym typeface="Symbol" pitchFamily="18" charset="2"/>
                        </a:rPr>
                        <m:t>𝑎</m:t>
                      </m:r>
                      <m:r>
                        <a:rPr lang="he-IL" sz="2400" i="1" dirty="0">
                          <a:latin typeface="Cambria Math" panose="02040503050406030204" pitchFamily="18" charset="0"/>
                          <a:cs typeface="Times New Roman" pitchFamily="18" charset="0"/>
                          <a:sym typeface="Symbol" pitchFamily="18" charset="2"/>
                        </a:rPr>
                        <m:t>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  <a:cs typeface="Times New Roman" pitchFamily="18" charset="0"/>
                          <a:sym typeface="Symbol" pitchFamily="18" charset="2"/>
                        </a:rPr>
                        <m:t>𝐼</m:t>
                      </m:r>
                    </m:oMath>
                  </a14:m>
                  <a:endParaRPr lang="ru-RU" sz="2400" i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mc:Choice>
          <mc:Fallback xmlns="">
            <p:sp>
              <p:nvSpPr>
                <p:cNvPr id="43014" name="Text 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-5" y="2328"/>
                  <a:ext cx="3264" cy="288"/>
                </a:xfrm>
                <a:prstGeom prst="rect">
                  <a:avLst/>
                </a:prstGeom>
                <a:blipFill>
                  <a:blip r:embed="rId4"/>
                  <a:stretch>
                    <a:fillRect t="-10667" b="-30667"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015" name="Freeform 7"/>
            <p:cNvSpPr>
              <a:spLocks/>
            </p:cNvSpPr>
            <p:nvPr/>
          </p:nvSpPr>
          <p:spPr bwMode="auto">
            <a:xfrm>
              <a:off x="912" y="2992"/>
              <a:ext cx="1584" cy="752"/>
            </a:xfrm>
            <a:custGeom>
              <a:avLst/>
              <a:gdLst>
                <a:gd name="T0" fmla="*/ 0 w 1584"/>
                <a:gd name="T1" fmla="*/ 752 h 752"/>
                <a:gd name="T2" fmla="*/ 144 w 1584"/>
                <a:gd name="T3" fmla="*/ 224 h 752"/>
                <a:gd name="T4" fmla="*/ 384 w 1584"/>
                <a:gd name="T5" fmla="*/ 416 h 752"/>
                <a:gd name="T6" fmla="*/ 528 w 1584"/>
                <a:gd name="T7" fmla="*/ 32 h 752"/>
                <a:gd name="T8" fmla="*/ 768 w 1584"/>
                <a:gd name="T9" fmla="*/ 608 h 752"/>
                <a:gd name="T10" fmla="*/ 912 w 1584"/>
                <a:gd name="T11" fmla="*/ 464 h 752"/>
                <a:gd name="T12" fmla="*/ 1104 w 1584"/>
                <a:gd name="T13" fmla="*/ 656 h 752"/>
                <a:gd name="T14" fmla="*/ 1248 w 1584"/>
                <a:gd name="T15" fmla="*/ 272 h 752"/>
                <a:gd name="T16" fmla="*/ 1584 w 1584"/>
                <a:gd name="T17" fmla="*/ 656 h 7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584"/>
                <a:gd name="T28" fmla="*/ 0 h 752"/>
                <a:gd name="T29" fmla="*/ 1584 w 1584"/>
                <a:gd name="T30" fmla="*/ 752 h 75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584" h="752">
                  <a:moveTo>
                    <a:pt x="0" y="752"/>
                  </a:moveTo>
                  <a:cubicBezTo>
                    <a:pt x="40" y="516"/>
                    <a:pt x="80" y="280"/>
                    <a:pt x="144" y="224"/>
                  </a:cubicBezTo>
                  <a:cubicBezTo>
                    <a:pt x="208" y="168"/>
                    <a:pt x="320" y="448"/>
                    <a:pt x="384" y="416"/>
                  </a:cubicBezTo>
                  <a:cubicBezTo>
                    <a:pt x="448" y="384"/>
                    <a:pt x="464" y="0"/>
                    <a:pt x="528" y="32"/>
                  </a:cubicBezTo>
                  <a:cubicBezTo>
                    <a:pt x="592" y="64"/>
                    <a:pt x="704" y="536"/>
                    <a:pt x="768" y="608"/>
                  </a:cubicBezTo>
                  <a:cubicBezTo>
                    <a:pt x="832" y="680"/>
                    <a:pt x="856" y="456"/>
                    <a:pt x="912" y="464"/>
                  </a:cubicBezTo>
                  <a:cubicBezTo>
                    <a:pt x="968" y="472"/>
                    <a:pt x="1048" y="688"/>
                    <a:pt x="1104" y="656"/>
                  </a:cubicBezTo>
                  <a:cubicBezTo>
                    <a:pt x="1160" y="624"/>
                    <a:pt x="1168" y="272"/>
                    <a:pt x="1248" y="272"/>
                  </a:cubicBezTo>
                  <a:cubicBezTo>
                    <a:pt x="1328" y="272"/>
                    <a:pt x="1456" y="464"/>
                    <a:pt x="1584" y="65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016" name="Freeform 8"/>
            <p:cNvSpPr>
              <a:spLocks/>
            </p:cNvSpPr>
            <p:nvPr/>
          </p:nvSpPr>
          <p:spPr bwMode="auto">
            <a:xfrm>
              <a:off x="3444" y="2496"/>
              <a:ext cx="1584" cy="1232"/>
            </a:xfrm>
            <a:custGeom>
              <a:avLst/>
              <a:gdLst>
                <a:gd name="T0" fmla="*/ 0 w 1584"/>
                <a:gd name="T1" fmla="*/ 14537 h 752"/>
                <a:gd name="T2" fmla="*/ 144 w 1584"/>
                <a:gd name="T3" fmla="*/ 4332 h 752"/>
                <a:gd name="T4" fmla="*/ 384 w 1584"/>
                <a:gd name="T5" fmla="*/ 8047 h 752"/>
                <a:gd name="T6" fmla="*/ 528 w 1584"/>
                <a:gd name="T7" fmla="*/ 613 h 752"/>
                <a:gd name="T8" fmla="*/ 768 w 1584"/>
                <a:gd name="T9" fmla="*/ 11758 h 752"/>
                <a:gd name="T10" fmla="*/ 912 w 1584"/>
                <a:gd name="T11" fmla="*/ 8970 h 752"/>
                <a:gd name="T12" fmla="*/ 1104 w 1584"/>
                <a:gd name="T13" fmla="*/ 12685 h 752"/>
                <a:gd name="T14" fmla="*/ 1248 w 1584"/>
                <a:gd name="T15" fmla="*/ 5269 h 752"/>
                <a:gd name="T16" fmla="*/ 1584 w 1584"/>
                <a:gd name="T17" fmla="*/ 12685 h 7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584"/>
                <a:gd name="T28" fmla="*/ 0 h 752"/>
                <a:gd name="T29" fmla="*/ 1584 w 1584"/>
                <a:gd name="T30" fmla="*/ 752 h 75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584" h="752">
                  <a:moveTo>
                    <a:pt x="0" y="752"/>
                  </a:moveTo>
                  <a:cubicBezTo>
                    <a:pt x="40" y="516"/>
                    <a:pt x="80" y="280"/>
                    <a:pt x="144" y="224"/>
                  </a:cubicBezTo>
                  <a:cubicBezTo>
                    <a:pt x="208" y="168"/>
                    <a:pt x="320" y="448"/>
                    <a:pt x="384" y="416"/>
                  </a:cubicBezTo>
                  <a:cubicBezTo>
                    <a:pt x="448" y="384"/>
                    <a:pt x="464" y="0"/>
                    <a:pt x="528" y="32"/>
                  </a:cubicBezTo>
                  <a:cubicBezTo>
                    <a:pt x="592" y="64"/>
                    <a:pt x="704" y="536"/>
                    <a:pt x="768" y="608"/>
                  </a:cubicBezTo>
                  <a:cubicBezTo>
                    <a:pt x="832" y="680"/>
                    <a:pt x="856" y="456"/>
                    <a:pt x="912" y="464"/>
                  </a:cubicBezTo>
                  <a:cubicBezTo>
                    <a:pt x="968" y="472"/>
                    <a:pt x="1048" y="688"/>
                    <a:pt x="1104" y="656"/>
                  </a:cubicBezTo>
                  <a:cubicBezTo>
                    <a:pt x="1160" y="624"/>
                    <a:pt x="1168" y="272"/>
                    <a:pt x="1248" y="272"/>
                  </a:cubicBezTo>
                  <a:cubicBezTo>
                    <a:pt x="1328" y="272"/>
                    <a:pt x="1456" y="464"/>
                    <a:pt x="1584" y="65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43017" name="Group 9"/>
            <p:cNvGrpSpPr>
              <a:grpSpLocks/>
            </p:cNvGrpSpPr>
            <p:nvPr/>
          </p:nvGrpSpPr>
          <p:grpSpPr bwMode="auto">
            <a:xfrm>
              <a:off x="583" y="2880"/>
              <a:ext cx="2220" cy="1274"/>
              <a:chOff x="583" y="2880"/>
              <a:chExt cx="2220" cy="1274"/>
            </a:xfrm>
          </p:grpSpPr>
          <p:grpSp>
            <p:nvGrpSpPr>
              <p:cNvPr id="43033" name="Group 10"/>
              <p:cNvGrpSpPr>
                <a:grpSpLocks/>
              </p:cNvGrpSpPr>
              <p:nvPr/>
            </p:nvGrpSpPr>
            <p:grpSpPr bwMode="auto">
              <a:xfrm>
                <a:off x="583" y="2880"/>
                <a:ext cx="2220" cy="1274"/>
                <a:chOff x="583" y="2880"/>
                <a:chExt cx="2220" cy="1274"/>
              </a:xfrm>
            </p:grpSpPr>
            <p:sp>
              <p:nvSpPr>
                <p:cNvPr id="43035" name="Line 11"/>
                <p:cNvSpPr>
                  <a:spLocks noChangeShapeType="1"/>
                </p:cNvSpPr>
                <p:nvPr/>
              </p:nvSpPr>
              <p:spPr bwMode="auto">
                <a:xfrm>
                  <a:off x="816" y="3888"/>
                  <a:ext cx="192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036" name="Line 12"/>
                <p:cNvSpPr>
                  <a:spLocks noChangeShapeType="1"/>
                </p:cNvSpPr>
                <p:nvPr/>
              </p:nvSpPr>
              <p:spPr bwMode="auto">
                <a:xfrm flipV="1">
                  <a:off x="816" y="2976"/>
                  <a:ext cx="0" cy="91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037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583" y="2880"/>
                  <a:ext cx="233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 eaLnBrk="1" hangingPunct="1"/>
                  <a:r>
                    <a:rPr lang="en-US" sz="2400" i="1">
                      <a:latin typeface="Times New Roman" pitchFamily="18" charset="0"/>
                      <a:cs typeface="Times New Roman" pitchFamily="18" charset="0"/>
                    </a:rPr>
                    <a:t>R</a:t>
                  </a:r>
                  <a:endParaRPr lang="ru-RU" sz="2400" i="1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43038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1344" y="3866"/>
                  <a:ext cx="1459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 eaLnBrk="1" hangingPunct="1"/>
                  <a:r>
                    <a:rPr lang="en-US" sz="2400" i="1">
                      <a:latin typeface="Times New Roman" pitchFamily="18" charset="0"/>
                      <a:cs typeface="Times New Roman" pitchFamily="18" charset="0"/>
                    </a:rPr>
                    <a:t>x</a:t>
                  </a:r>
                  <a:r>
                    <a:rPr lang="en-US" sz="2400">
                      <a:latin typeface="Times New Roman" pitchFamily="18" charset="0"/>
                      <a:cs typeface="Times New Roman" pitchFamily="18" charset="0"/>
                    </a:rPr>
                    <a:t> </a:t>
                  </a:r>
                  <a:r>
                    <a:rPr lang="en-US" sz="2000">
                      <a:latin typeface="Times New Roman" pitchFamily="18" charset="0"/>
                      <a:cs typeface="Times New Roman" pitchFamily="18" charset="0"/>
                    </a:rPr>
                    <a:t>(image coordinate)</a:t>
                  </a:r>
                  <a:endParaRPr lang="ru-RU" sz="20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sp>
            <p:nvSpPr>
              <p:cNvPr id="43034" name="Rectangle 15"/>
              <p:cNvSpPr>
                <a:spLocks noChangeArrowheads="1"/>
              </p:cNvSpPr>
              <p:nvPr/>
            </p:nvSpPr>
            <p:spPr bwMode="auto">
              <a:xfrm>
                <a:off x="816" y="3312"/>
                <a:ext cx="1824" cy="576"/>
              </a:xfrm>
              <a:prstGeom prst="rect">
                <a:avLst/>
              </a:prstGeom>
              <a:solidFill>
                <a:srgbClr val="C0C0C0">
                  <a:alpha val="50195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3018" name="Text Box 16"/>
            <p:cNvSpPr txBox="1">
              <a:spLocks noChangeArrowheads="1"/>
            </p:cNvSpPr>
            <p:nvPr/>
          </p:nvSpPr>
          <p:spPr bwMode="auto">
            <a:xfrm>
              <a:off x="106" y="3206"/>
              <a:ext cx="71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1" hangingPunct="1"/>
              <a:r>
                <a:rPr lang="en-US" sz="2000" dirty="0">
                  <a:latin typeface="Times New Roman" pitchFamily="18" charset="0"/>
                  <a:cs typeface="Times New Roman" pitchFamily="18" charset="0"/>
                </a:rPr>
                <a:t>threshold</a:t>
              </a:r>
              <a:endParaRPr lang="ru-RU" sz="2000" dirty="0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43019" name="Group 17"/>
            <p:cNvGrpSpPr>
              <a:grpSpLocks/>
            </p:cNvGrpSpPr>
            <p:nvPr/>
          </p:nvGrpSpPr>
          <p:grpSpPr bwMode="auto">
            <a:xfrm>
              <a:off x="3108" y="2880"/>
              <a:ext cx="2220" cy="1274"/>
              <a:chOff x="583" y="2880"/>
              <a:chExt cx="2220" cy="1274"/>
            </a:xfrm>
          </p:grpSpPr>
          <p:grpSp>
            <p:nvGrpSpPr>
              <p:cNvPr id="43027" name="Group 18"/>
              <p:cNvGrpSpPr>
                <a:grpSpLocks/>
              </p:cNvGrpSpPr>
              <p:nvPr/>
            </p:nvGrpSpPr>
            <p:grpSpPr bwMode="auto">
              <a:xfrm>
                <a:off x="583" y="2880"/>
                <a:ext cx="2220" cy="1274"/>
                <a:chOff x="583" y="2880"/>
                <a:chExt cx="2220" cy="1274"/>
              </a:xfrm>
            </p:grpSpPr>
            <p:sp>
              <p:nvSpPr>
                <p:cNvPr id="43029" name="Line 19"/>
                <p:cNvSpPr>
                  <a:spLocks noChangeShapeType="1"/>
                </p:cNvSpPr>
                <p:nvPr/>
              </p:nvSpPr>
              <p:spPr bwMode="auto">
                <a:xfrm>
                  <a:off x="816" y="3888"/>
                  <a:ext cx="192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030" name="Line 20"/>
                <p:cNvSpPr>
                  <a:spLocks noChangeShapeType="1"/>
                </p:cNvSpPr>
                <p:nvPr/>
              </p:nvSpPr>
              <p:spPr bwMode="auto">
                <a:xfrm flipV="1">
                  <a:off x="816" y="2976"/>
                  <a:ext cx="0" cy="91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031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583" y="2880"/>
                  <a:ext cx="233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 eaLnBrk="1" hangingPunct="1"/>
                  <a:r>
                    <a:rPr lang="en-US" sz="2400" i="1">
                      <a:latin typeface="Times New Roman" pitchFamily="18" charset="0"/>
                      <a:cs typeface="Times New Roman" pitchFamily="18" charset="0"/>
                    </a:rPr>
                    <a:t>R</a:t>
                  </a:r>
                  <a:endParaRPr lang="ru-RU" sz="2400" i="1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43032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1344" y="3866"/>
                  <a:ext cx="1459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 eaLnBrk="1" hangingPunct="1"/>
                  <a:r>
                    <a:rPr lang="en-US" sz="2400" i="1">
                      <a:latin typeface="Times New Roman" pitchFamily="18" charset="0"/>
                      <a:cs typeface="Times New Roman" pitchFamily="18" charset="0"/>
                    </a:rPr>
                    <a:t>x</a:t>
                  </a:r>
                  <a:r>
                    <a:rPr lang="en-US" sz="2400">
                      <a:latin typeface="Times New Roman" pitchFamily="18" charset="0"/>
                      <a:cs typeface="Times New Roman" pitchFamily="18" charset="0"/>
                    </a:rPr>
                    <a:t> </a:t>
                  </a:r>
                  <a:r>
                    <a:rPr lang="en-US" sz="2000">
                      <a:latin typeface="Times New Roman" pitchFamily="18" charset="0"/>
                      <a:cs typeface="Times New Roman" pitchFamily="18" charset="0"/>
                    </a:rPr>
                    <a:t>(image coordinate)</a:t>
                  </a:r>
                  <a:endParaRPr lang="ru-RU" sz="20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sp>
            <p:nvSpPr>
              <p:cNvPr id="43028" name="Rectangle 23"/>
              <p:cNvSpPr>
                <a:spLocks noChangeArrowheads="1"/>
              </p:cNvSpPr>
              <p:nvPr/>
            </p:nvSpPr>
            <p:spPr bwMode="auto">
              <a:xfrm>
                <a:off x="816" y="3312"/>
                <a:ext cx="1824" cy="576"/>
              </a:xfrm>
              <a:prstGeom prst="rect">
                <a:avLst/>
              </a:prstGeom>
              <a:solidFill>
                <a:srgbClr val="C0C0C0">
                  <a:alpha val="50195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3020" name="Oval 24"/>
            <p:cNvSpPr>
              <a:spLocks noChangeArrowheads="1"/>
            </p:cNvSpPr>
            <p:nvPr/>
          </p:nvSpPr>
          <p:spPr bwMode="auto">
            <a:xfrm>
              <a:off x="1047" y="3177"/>
              <a:ext cx="57" cy="47"/>
            </a:xfrm>
            <a:prstGeom prst="ellipse">
              <a:avLst/>
            </a:prstGeom>
            <a:solidFill>
              <a:srgbClr val="FF3300"/>
            </a:solid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ru-RU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021" name="Oval 25"/>
            <p:cNvSpPr>
              <a:spLocks noChangeArrowheads="1"/>
            </p:cNvSpPr>
            <p:nvPr/>
          </p:nvSpPr>
          <p:spPr bwMode="auto">
            <a:xfrm>
              <a:off x="1401" y="2994"/>
              <a:ext cx="57" cy="47"/>
            </a:xfrm>
            <a:prstGeom prst="ellipse">
              <a:avLst/>
            </a:prstGeom>
            <a:solidFill>
              <a:srgbClr val="FF3300"/>
            </a:solid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ru-RU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022" name="Oval 26"/>
            <p:cNvSpPr>
              <a:spLocks noChangeArrowheads="1"/>
            </p:cNvSpPr>
            <p:nvPr/>
          </p:nvSpPr>
          <p:spPr bwMode="auto">
            <a:xfrm>
              <a:off x="2141" y="3241"/>
              <a:ext cx="57" cy="47"/>
            </a:xfrm>
            <a:prstGeom prst="ellipse">
              <a:avLst/>
            </a:prstGeom>
            <a:solidFill>
              <a:srgbClr val="FF3300"/>
            </a:solid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ru-RU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023" name="Oval 27"/>
            <p:cNvSpPr>
              <a:spLocks noChangeArrowheads="1"/>
            </p:cNvSpPr>
            <p:nvPr/>
          </p:nvSpPr>
          <p:spPr bwMode="auto">
            <a:xfrm>
              <a:off x="3592" y="2830"/>
              <a:ext cx="57" cy="47"/>
            </a:xfrm>
            <a:prstGeom prst="ellipse">
              <a:avLst/>
            </a:prstGeom>
            <a:solidFill>
              <a:srgbClr val="FF3300"/>
            </a:solid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ru-RU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024" name="Oval 28"/>
            <p:cNvSpPr>
              <a:spLocks noChangeArrowheads="1"/>
            </p:cNvSpPr>
            <p:nvPr/>
          </p:nvSpPr>
          <p:spPr bwMode="auto">
            <a:xfrm>
              <a:off x="3939" y="2528"/>
              <a:ext cx="57" cy="47"/>
            </a:xfrm>
            <a:prstGeom prst="ellipse">
              <a:avLst/>
            </a:prstGeom>
            <a:solidFill>
              <a:srgbClr val="FF3300"/>
            </a:solid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ru-RU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025" name="Oval 29"/>
            <p:cNvSpPr>
              <a:spLocks noChangeArrowheads="1"/>
            </p:cNvSpPr>
            <p:nvPr/>
          </p:nvSpPr>
          <p:spPr bwMode="auto">
            <a:xfrm>
              <a:off x="4320" y="3216"/>
              <a:ext cx="57" cy="47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ru-RU" sz="24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026" name="Oval 30"/>
            <p:cNvSpPr>
              <a:spLocks noChangeArrowheads="1"/>
            </p:cNvSpPr>
            <p:nvPr/>
          </p:nvSpPr>
          <p:spPr bwMode="auto">
            <a:xfrm>
              <a:off x="4671" y="2939"/>
              <a:ext cx="57" cy="47"/>
            </a:xfrm>
            <a:prstGeom prst="ellipse">
              <a:avLst/>
            </a:prstGeom>
            <a:solidFill>
              <a:srgbClr val="FF3300"/>
            </a:solid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ru-RU" sz="240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210399" name="Text Box 31"/>
          <p:cNvSpPr txBox="1">
            <a:spLocks noChangeArrowheads="1"/>
          </p:cNvSpPr>
          <p:nvPr/>
        </p:nvSpPr>
        <p:spPr bwMode="auto">
          <a:xfrm>
            <a:off x="2743200" y="6015336"/>
            <a:ext cx="6934200" cy="46166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sz="2400" i="1" dirty="0">
                <a:solidFill>
                  <a:srgbClr val="C00000"/>
                </a:solidFill>
                <a:cs typeface="Times New Roman" pitchFamily="18" charset="0"/>
              </a:rPr>
              <a:t>Partially invariant </a:t>
            </a:r>
            <a:r>
              <a:rPr lang="en-US" sz="2400" dirty="0">
                <a:solidFill>
                  <a:srgbClr val="C00000"/>
                </a:solidFill>
                <a:cs typeface="Times New Roman" pitchFamily="18" charset="0"/>
              </a:rPr>
              <a:t>to affine intensity change</a:t>
            </a:r>
            <a:endParaRPr lang="ru-RU" sz="2400" dirty="0">
              <a:solidFill>
                <a:srgbClr val="C00000"/>
              </a:solidFill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/>
              <p:cNvSpPr/>
              <p:nvPr/>
            </p:nvSpPr>
            <p:spPr>
              <a:xfrm>
                <a:off x="6553201" y="1143000"/>
                <a:ext cx="187327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𝐼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  </m:t>
                      </m:r>
                      <m:r>
                        <a:rPr lang="en-US" i="1" dirty="0">
                          <a:latin typeface="Cambria Math" panose="02040503050406030204" pitchFamily="18" charset="0"/>
                          <a:cs typeface="Times New Roman" pitchFamily="18" charset="0"/>
                          <a:sym typeface="Symbol" pitchFamily="18" charset="2"/>
                        </a:rPr>
                        <m:t>𝑎</m:t>
                      </m:r>
                      <m:r>
                        <a:rPr lang="he-IL" i="1" dirty="0">
                          <a:latin typeface="Cambria Math" panose="02040503050406030204" pitchFamily="18" charset="0"/>
                          <a:cs typeface="Times New Roman" pitchFamily="18" charset="0"/>
                          <a:sym typeface="Symbol" pitchFamily="18" charset="2"/>
                        </a:rPr>
                        <m:t> </m:t>
                      </m:r>
                      <m:r>
                        <a:rPr lang="en-US" i="1" dirty="0">
                          <a:latin typeface="Cambria Math" panose="02040503050406030204" pitchFamily="18" charset="0"/>
                          <a:cs typeface="Times New Roman" pitchFamily="18" charset="0"/>
                          <a:sym typeface="Symbol" pitchFamily="18" charset="2"/>
                        </a:rPr>
                        <m:t>𝐼</m:t>
                      </m:r>
                      <m:r>
                        <a:rPr lang="en-US" i="1" dirty="0">
                          <a:latin typeface="Cambria Math" panose="02040503050406030204" pitchFamily="18" charset="0"/>
                          <a:cs typeface="Times New Roman" pitchFamily="18" charset="0"/>
                          <a:sym typeface="Symbol" pitchFamily="18" charset="2"/>
                        </a:rPr>
                        <m:t> + </m:t>
                      </m:r>
                      <m:r>
                        <a:rPr lang="en-US" i="1" dirty="0">
                          <a:latin typeface="Cambria Math" panose="02040503050406030204" pitchFamily="18" charset="0"/>
                          <a:cs typeface="Times New Roman" pitchFamily="18" charset="0"/>
                        </a:rPr>
                        <m:t>𝑏</m:t>
                      </m:r>
                    </m:oMath>
                  </m:oMathPara>
                </a14:m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201" y="1143000"/>
                <a:ext cx="187327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ectangle 13"/>
          <p:cNvSpPr>
            <a:spLocks noChangeArrowheads="1"/>
          </p:cNvSpPr>
          <p:nvPr/>
        </p:nvSpPr>
        <p:spPr bwMode="auto">
          <a:xfrm>
            <a:off x="5257800" y="1219200"/>
            <a:ext cx="457200" cy="381000"/>
          </a:xfrm>
          <a:prstGeom prst="rect">
            <a:avLst/>
          </a:prstGeom>
          <a:solidFill>
            <a:srgbClr val="0033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" name="Rectangle 14"/>
          <p:cNvSpPr>
            <a:spLocks noChangeArrowheads="1"/>
          </p:cNvSpPr>
          <p:nvPr/>
        </p:nvSpPr>
        <p:spPr bwMode="auto">
          <a:xfrm>
            <a:off x="3886200" y="1219200"/>
            <a:ext cx="457200" cy="381000"/>
          </a:xfrm>
          <a:prstGeom prst="rect">
            <a:avLst/>
          </a:prstGeom>
          <a:solidFill>
            <a:srgbClr val="9FB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" name="AutoShape 15"/>
          <p:cNvSpPr>
            <a:spLocks noChangeArrowheads="1"/>
          </p:cNvSpPr>
          <p:nvPr/>
        </p:nvSpPr>
        <p:spPr bwMode="auto">
          <a:xfrm>
            <a:off x="4572000" y="1295400"/>
            <a:ext cx="381000" cy="228600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30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CCCF47-D924-1648-511E-9BDF56D39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580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0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0372" grpId="0" autoUpdateAnimBg="0"/>
      <p:bldP spid="1210399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Translation</a:t>
            </a:r>
            <a:endParaRPr lang="ru-RU" dirty="0"/>
          </a:p>
        </p:txBody>
      </p:sp>
      <p:sp>
        <p:nvSpPr>
          <p:cNvPr id="1376260" name="Text Box 4"/>
          <p:cNvSpPr txBox="1">
            <a:spLocks noChangeArrowheads="1"/>
          </p:cNvSpPr>
          <p:nvPr/>
        </p:nvSpPr>
        <p:spPr bwMode="auto">
          <a:xfrm>
            <a:off x="2362200" y="4267201"/>
            <a:ext cx="7696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Derivatives and window function are shift-invariant</a:t>
            </a:r>
            <a:endParaRPr lang="ru-RU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4051" name="Rectangle 7"/>
          <p:cNvSpPr>
            <a:spLocks noChangeArrowheads="1"/>
          </p:cNvSpPr>
          <p:nvPr/>
        </p:nvSpPr>
        <p:spPr bwMode="auto">
          <a:xfrm>
            <a:off x="2971801" y="1143000"/>
            <a:ext cx="2184671" cy="22098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4052" name="Freeform 8"/>
          <p:cNvSpPr>
            <a:spLocks/>
          </p:cNvSpPr>
          <p:nvPr/>
        </p:nvSpPr>
        <p:spPr bwMode="auto">
          <a:xfrm>
            <a:off x="3280113" y="1526826"/>
            <a:ext cx="787909" cy="725004"/>
          </a:xfrm>
          <a:custGeom>
            <a:avLst/>
            <a:gdLst>
              <a:gd name="T0" fmla="*/ 0 w 720"/>
              <a:gd name="T1" fmla="*/ 7194 h 528"/>
              <a:gd name="T2" fmla="*/ 623 w 720"/>
              <a:gd name="T3" fmla="*/ 0 h 528"/>
              <a:gd name="T4" fmla="*/ 9359 w 720"/>
              <a:gd name="T5" fmla="*/ 4575 h 528"/>
              <a:gd name="T6" fmla="*/ 0 60000 65536"/>
              <a:gd name="T7" fmla="*/ 0 60000 65536"/>
              <a:gd name="T8" fmla="*/ 0 60000 65536"/>
              <a:gd name="T9" fmla="*/ 0 w 720"/>
              <a:gd name="T10" fmla="*/ 0 h 528"/>
              <a:gd name="T11" fmla="*/ 720 w 720"/>
              <a:gd name="T12" fmla="*/ 528 h 5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20" h="528">
                <a:moveTo>
                  <a:pt x="0" y="528"/>
                </a:moveTo>
                <a:lnTo>
                  <a:pt x="48" y="0"/>
                </a:lnTo>
                <a:lnTo>
                  <a:pt x="720" y="336"/>
                </a:lnTo>
              </a:path>
            </a:pathLst>
          </a:custGeom>
          <a:solidFill>
            <a:schemeClr val="accent1">
              <a:alpha val="50195"/>
            </a:schemeClr>
          </a:solidFill>
          <a:ln w="444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4040" name="AutoShape 12"/>
          <p:cNvSpPr>
            <a:spLocks noChangeArrowheads="1"/>
          </p:cNvSpPr>
          <p:nvPr/>
        </p:nvSpPr>
        <p:spPr bwMode="auto">
          <a:xfrm>
            <a:off x="5423440" y="1663566"/>
            <a:ext cx="1218023" cy="1232034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76277" name="Text Box 21"/>
          <p:cNvSpPr txBox="1">
            <a:spLocks noChangeArrowheads="1"/>
          </p:cNvSpPr>
          <p:nvPr/>
        </p:nvSpPr>
        <p:spPr bwMode="auto">
          <a:xfrm>
            <a:off x="2743200" y="5638801"/>
            <a:ext cx="6934200" cy="46166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sz="2400" dirty="0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Corner location is covariant </a:t>
            </a:r>
            <a:r>
              <a:rPr lang="en-US" sz="2400" dirty="0" err="1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w.r.t</a:t>
            </a:r>
            <a:r>
              <a:rPr lang="en-US" sz="2400" dirty="0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translation</a:t>
            </a:r>
            <a:endParaRPr lang="ru-RU" sz="2400" dirty="0">
              <a:solidFill>
                <a:srgbClr val="C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1" name="Rectangle 7"/>
          <p:cNvSpPr>
            <a:spLocks noChangeArrowheads="1"/>
          </p:cNvSpPr>
          <p:nvPr/>
        </p:nvSpPr>
        <p:spPr bwMode="auto">
          <a:xfrm>
            <a:off x="6959330" y="1143000"/>
            <a:ext cx="2184671" cy="22098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Freeform 8"/>
          <p:cNvSpPr>
            <a:spLocks/>
          </p:cNvSpPr>
          <p:nvPr/>
        </p:nvSpPr>
        <p:spPr bwMode="auto">
          <a:xfrm>
            <a:off x="8077201" y="2246796"/>
            <a:ext cx="787909" cy="725004"/>
          </a:xfrm>
          <a:custGeom>
            <a:avLst/>
            <a:gdLst>
              <a:gd name="T0" fmla="*/ 0 w 720"/>
              <a:gd name="T1" fmla="*/ 7194 h 528"/>
              <a:gd name="T2" fmla="*/ 623 w 720"/>
              <a:gd name="T3" fmla="*/ 0 h 528"/>
              <a:gd name="T4" fmla="*/ 9359 w 720"/>
              <a:gd name="T5" fmla="*/ 4575 h 528"/>
              <a:gd name="T6" fmla="*/ 0 60000 65536"/>
              <a:gd name="T7" fmla="*/ 0 60000 65536"/>
              <a:gd name="T8" fmla="*/ 0 60000 65536"/>
              <a:gd name="T9" fmla="*/ 0 w 720"/>
              <a:gd name="T10" fmla="*/ 0 h 528"/>
              <a:gd name="T11" fmla="*/ 720 w 720"/>
              <a:gd name="T12" fmla="*/ 528 h 5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20" h="528">
                <a:moveTo>
                  <a:pt x="0" y="528"/>
                </a:moveTo>
                <a:lnTo>
                  <a:pt x="48" y="0"/>
                </a:lnTo>
                <a:lnTo>
                  <a:pt x="720" y="336"/>
                </a:lnTo>
              </a:path>
            </a:pathLst>
          </a:custGeom>
          <a:solidFill>
            <a:schemeClr val="accent1">
              <a:alpha val="50195"/>
            </a:schemeClr>
          </a:solidFill>
          <a:ln w="444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26C26C-4B4F-F091-4874-D9A4DBD57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952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6260" grpId="0"/>
      <p:bldP spid="1376277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Rotation</a:t>
            </a:r>
            <a:endParaRPr lang="ru-RU" dirty="0"/>
          </a:p>
        </p:txBody>
      </p:sp>
      <p:sp>
        <p:nvSpPr>
          <p:cNvPr id="1376260" name="Text Box 4"/>
          <p:cNvSpPr txBox="1">
            <a:spLocks noChangeArrowheads="1"/>
          </p:cNvSpPr>
          <p:nvPr/>
        </p:nvSpPr>
        <p:spPr bwMode="auto">
          <a:xfrm>
            <a:off x="2743200" y="4572001"/>
            <a:ext cx="6705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sz="2400" dirty="0">
                <a:cs typeface="Times New Roman" pitchFamily="18" charset="0"/>
              </a:rPr>
              <a:t>Second moment ellipse rotates but its shape (i.e. </a:t>
            </a:r>
            <a:r>
              <a:rPr lang="en-US" sz="2400" dirty="0" err="1">
                <a:cs typeface="Times New Roman" pitchFamily="18" charset="0"/>
              </a:rPr>
              <a:t>eigenvalues</a:t>
            </a:r>
            <a:r>
              <a:rPr lang="en-US" sz="2400" dirty="0">
                <a:cs typeface="Times New Roman" pitchFamily="18" charset="0"/>
              </a:rPr>
              <a:t>) remains the same</a:t>
            </a:r>
            <a:endParaRPr lang="ru-RU" sz="2400" dirty="0">
              <a:cs typeface="Times New Roman" pitchFamily="18" charset="0"/>
            </a:endParaRP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3352800" y="1676400"/>
            <a:ext cx="5257800" cy="2438400"/>
            <a:chOff x="1720" y="1344"/>
            <a:chExt cx="2072" cy="950"/>
          </a:xfrm>
        </p:grpSpPr>
        <p:grpSp>
          <p:nvGrpSpPr>
            <p:cNvPr id="3" name="Group 6"/>
            <p:cNvGrpSpPr>
              <a:grpSpLocks/>
            </p:cNvGrpSpPr>
            <p:nvPr/>
          </p:nvGrpSpPr>
          <p:grpSpPr bwMode="auto">
            <a:xfrm>
              <a:off x="1768" y="1344"/>
              <a:ext cx="432" cy="432"/>
              <a:chOff x="1248" y="1584"/>
              <a:chExt cx="1536" cy="1248"/>
            </a:xfrm>
          </p:grpSpPr>
          <p:sp>
            <p:nvSpPr>
              <p:cNvPr id="44051" name="Rectangle 7"/>
              <p:cNvSpPr>
                <a:spLocks noChangeArrowheads="1"/>
              </p:cNvSpPr>
              <p:nvPr/>
            </p:nvSpPr>
            <p:spPr bwMode="auto">
              <a:xfrm>
                <a:off x="1248" y="1584"/>
                <a:ext cx="1536" cy="1248"/>
              </a:xfrm>
              <a:prstGeom prst="rect">
                <a:avLst/>
              </a:prstGeom>
              <a:solidFill>
                <a:schemeClr val="accent1">
                  <a:alpha val="50195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52" name="Freeform 8"/>
              <p:cNvSpPr>
                <a:spLocks/>
              </p:cNvSpPr>
              <p:nvPr/>
            </p:nvSpPr>
            <p:spPr bwMode="auto">
              <a:xfrm>
                <a:off x="1680" y="2016"/>
                <a:ext cx="1104" cy="816"/>
              </a:xfrm>
              <a:custGeom>
                <a:avLst/>
                <a:gdLst>
                  <a:gd name="T0" fmla="*/ 0 w 720"/>
                  <a:gd name="T1" fmla="*/ 7194 h 528"/>
                  <a:gd name="T2" fmla="*/ 623 w 720"/>
                  <a:gd name="T3" fmla="*/ 0 h 528"/>
                  <a:gd name="T4" fmla="*/ 9359 w 720"/>
                  <a:gd name="T5" fmla="*/ 4575 h 528"/>
                  <a:gd name="T6" fmla="*/ 0 60000 65536"/>
                  <a:gd name="T7" fmla="*/ 0 60000 65536"/>
                  <a:gd name="T8" fmla="*/ 0 60000 65536"/>
                  <a:gd name="T9" fmla="*/ 0 w 720"/>
                  <a:gd name="T10" fmla="*/ 0 h 528"/>
                  <a:gd name="T11" fmla="*/ 720 w 720"/>
                  <a:gd name="T12" fmla="*/ 528 h 52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20" h="528">
                    <a:moveTo>
                      <a:pt x="0" y="528"/>
                    </a:moveTo>
                    <a:lnTo>
                      <a:pt x="48" y="0"/>
                    </a:lnTo>
                    <a:lnTo>
                      <a:pt x="720" y="336"/>
                    </a:lnTo>
                  </a:path>
                </a:pathLst>
              </a:custGeom>
              <a:solidFill>
                <a:schemeClr val="accent1">
                  <a:alpha val="50195"/>
                </a:schemeClr>
              </a:solidFill>
              <a:ln w="444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" name="Group 9"/>
            <p:cNvGrpSpPr>
              <a:grpSpLocks/>
            </p:cNvGrpSpPr>
            <p:nvPr/>
          </p:nvGrpSpPr>
          <p:grpSpPr bwMode="auto">
            <a:xfrm>
              <a:off x="3304" y="1344"/>
              <a:ext cx="432" cy="441"/>
              <a:chOff x="2928" y="1776"/>
              <a:chExt cx="432" cy="441"/>
            </a:xfrm>
          </p:grpSpPr>
          <p:sp>
            <p:nvSpPr>
              <p:cNvPr id="44049" name="Rectangle 10"/>
              <p:cNvSpPr>
                <a:spLocks noChangeArrowheads="1"/>
              </p:cNvSpPr>
              <p:nvPr/>
            </p:nvSpPr>
            <p:spPr bwMode="auto">
              <a:xfrm>
                <a:off x="2928" y="1776"/>
                <a:ext cx="432" cy="432"/>
              </a:xfrm>
              <a:prstGeom prst="rect">
                <a:avLst/>
              </a:prstGeom>
              <a:solidFill>
                <a:schemeClr val="accent1">
                  <a:alpha val="50195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50" name="Freeform 11"/>
              <p:cNvSpPr>
                <a:spLocks/>
              </p:cNvSpPr>
              <p:nvPr/>
            </p:nvSpPr>
            <p:spPr bwMode="auto">
              <a:xfrm rot="3029958">
                <a:off x="2987" y="1873"/>
                <a:ext cx="364" cy="323"/>
              </a:xfrm>
              <a:custGeom>
                <a:avLst/>
                <a:gdLst>
                  <a:gd name="T0" fmla="*/ 0 w 720"/>
                  <a:gd name="T1" fmla="*/ 28 h 528"/>
                  <a:gd name="T2" fmla="*/ 1 w 720"/>
                  <a:gd name="T3" fmla="*/ 0 h 528"/>
                  <a:gd name="T4" fmla="*/ 12 w 720"/>
                  <a:gd name="T5" fmla="*/ 18 h 528"/>
                  <a:gd name="T6" fmla="*/ 0 60000 65536"/>
                  <a:gd name="T7" fmla="*/ 0 60000 65536"/>
                  <a:gd name="T8" fmla="*/ 0 60000 65536"/>
                  <a:gd name="T9" fmla="*/ 0 w 720"/>
                  <a:gd name="T10" fmla="*/ 0 h 528"/>
                  <a:gd name="T11" fmla="*/ 720 w 720"/>
                  <a:gd name="T12" fmla="*/ 528 h 52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20" h="528">
                    <a:moveTo>
                      <a:pt x="0" y="528"/>
                    </a:moveTo>
                    <a:lnTo>
                      <a:pt x="48" y="0"/>
                    </a:lnTo>
                    <a:lnTo>
                      <a:pt x="720" y="336"/>
                    </a:lnTo>
                  </a:path>
                </a:pathLst>
              </a:custGeom>
              <a:solidFill>
                <a:schemeClr val="accent1">
                  <a:alpha val="50195"/>
                </a:schemeClr>
              </a:solidFill>
              <a:ln w="444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4040" name="AutoShape 12"/>
            <p:cNvSpPr>
              <a:spLocks noChangeArrowheads="1"/>
            </p:cNvSpPr>
            <p:nvPr/>
          </p:nvSpPr>
          <p:spPr bwMode="auto">
            <a:xfrm>
              <a:off x="2536" y="1488"/>
              <a:ext cx="480" cy="48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5400 h 21600"/>
                <a:gd name="T14" fmla="*/ 18900 w 21600"/>
                <a:gd name="T15" fmla="*/ 162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" name="Group 13"/>
            <p:cNvGrpSpPr>
              <a:grpSpLocks/>
            </p:cNvGrpSpPr>
            <p:nvPr/>
          </p:nvGrpSpPr>
          <p:grpSpPr bwMode="auto">
            <a:xfrm rot="-1269191">
              <a:off x="1720" y="2064"/>
              <a:ext cx="584" cy="230"/>
              <a:chOff x="1536" y="2496"/>
              <a:chExt cx="1152" cy="384"/>
            </a:xfrm>
          </p:grpSpPr>
          <p:sp>
            <p:nvSpPr>
              <p:cNvPr id="44046" name="Oval 14"/>
              <p:cNvSpPr>
                <a:spLocks noChangeArrowheads="1"/>
              </p:cNvSpPr>
              <p:nvPr/>
            </p:nvSpPr>
            <p:spPr bwMode="auto">
              <a:xfrm>
                <a:off x="1536" y="2496"/>
                <a:ext cx="1152" cy="384"/>
              </a:xfrm>
              <a:prstGeom prst="ellipse">
                <a:avLst/>
              </a:prstGeom>
              <a:solidFill>
                <a:srgbClr val="7CF6D3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47" name="Line 15"/>
              <p:cNvSpPr>
                <a:spLocks noChangeShapeType="1"/>
              </p:cNvSpPr>
              <p:nvPr/>
            </p:nvSpPr>
            <p:spPr bwMode="auto">
              <a:xfrm>
                <a:off x="1536" y="2688"/>
                <a:ext cx="1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048" name="Line 16"/>
              <p:cNvSpPr>
                <a:spLocks noChangeShapeType="1"/>
              </p:cNvSpPr>
              <p:nvPr/>
            </p:nvSpPr>
            <p:spPr bwMode="auto">
              <a:xfrm>
                <a:off x="2112" y="2496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" name="Group 17"/>
            <p:cNvGrpSpPr>
              <a:grpSpLocks/>
            </p:cNvGrpSpPr>
            <p:nvPr/>
          </p:nvGrpSpPr>
          <p:grpSpPr bwMode="auto">
            <a:xfrm rot="1035916">
              <a:off x="3208" y="2064"/>
              <a:ext cx="584" cy="230"/>
              <a:chOff x="1536" y="2496"/>
              <a:chExt cx="1152" cy="384"/>
            </a:xfrm>
          </p:grpSpPr>
          <p:sp>
            <p:nvSpPr>
              <p:cNvPr id="44043" name="Oval 18"/>
              <p:cNvSpPr>
                <a:spLocks noChangeArrowheads="1"/>
              </p:cNvSpPr>
              <p:nvPr/>
            </p:nvSpPr>
            <p:spPr bwMode="auto">
              <a:xfrm>
                <a:off x="1536" y="2496"/>
                <a:ext cx="1152" cy="384"/>
              </a:xfrm>
              <a:prstGeom prst="ellipse">
                <a:avLst/>
              </a:prstGeom>
              <a:solidFill>
                <a:srgbClr val="7CF6D3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44" name="Line 19"/>
              <p:cNvSpPr>
                <a:spLocks noChangeShapeType="1"/>
              </p:cNvSpPr>
              <p:nvPr/>
            </p:nvSpPr>
            <p:spPr bwMode="auto">
              <a:xfrm>
                <a:off x="1536" y="2688"/>
                <a:ext cx="1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045" name="Line 20"/>
              <p:cNvSpPr>
                <a:spLocks noChangeShapeType="1"/>
              </p:cNvSpPr>
              <p:nvPr/>
            </p:nvSpPr>
            <p:spPr bwMode="auto">
              <a:xfrm>
                <a:off x="2112" y="2496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1376277" name="Text Box 21"/>
          <p:cNvSpPr txBox="1">
            <a:spLocks noChangeArrowheads="1"/>
          </p:cNvSpPr>
          <p:nvPr/>
        </p:nvSpPr>
        <p:spPr bwMode="auto">
          <a:xfrm>
            <a:off x="2743200" y="5638801"/>
            <a:ext cx="6934200" cy="46166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sz="2400" dirty="0">
                <a:solidFill>
                  <a:srgbClr val="C00000"/>
                </a:solidFill>
                <a:cs typeface="Times New Roman" pitchFamily="18" charset="0"/>
              </a:rPr>
              <a:t>Corner location is covariant </a:t>
            </a:r>
            <a:r>
              <a:rPr lang="en-US" sz="2400" dirty="0" err="1">
                <a:solidFill>
                  <a:srgbClr val="C00000"/>
                </a:solidFill>
                <a:cs typeface="Times New Roman" pitchFamily="18" charset="0"/>
              </a:rPr>
              <a:t>w.r.t</a:t>
            </a:r>
            <a:r>
              <a:rPr lang="en-US" sz="2400" dirty="0">
                <a:solidFill>
                  <a:srgbClr val="C00000"/>
                </a:solidFill>
                <a:cs typeface="Times New Roman" pitchFamily="18" charset="0"/>
              </a:rPr>
              <a:t>. rotation</a:t>
            </a:r>
            <a:endParaRPr lang="ru-RU" sz="2400" dirty="0">
              <a:solidFill>
                <a:srgbClr val="C00000"/>
              </a:solidFill>
              <a:cs typeface="Times New Roman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AA1462-8A73-0DCB-A9FB-E1A927370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828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6260" grpId="0"/>
      <p:bldP spid="1376277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Scaling</a:t>
            </a:r>
            <a:endParaRPr lang="ru-RU"/>
          </a:p>
        </p:txBody>
      </p:sp>
      <p:sp>
        <p:nvSpPr>
          <p:cNvPr id="1212427" name="Text Box 11"/>
          <p:cNvSpPr txBox="1">
            <a:spLocks noChangeArrowheads="1"/>
          </p:cNvSpPr>
          <p:nvPr/>
        </p:nvSpPr>
        <p:spPr bwMode="auto">
          <a:xfrm>
            <a:off x="7315200" y="4265614"/>
            <a:ext cx="25908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All points will be classified as </a:t>
            </a:r>
            <a:r>
              <a:rPr lang="en-US">
                <a:solidFill>
                  <a:srgbClr val="0033C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edges</a:t>
            </a:r>
            <a:endParaRPr lang="ru-RU">
              <a:solidFill>
                <a:srgbClr val="0033CC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45060" name="Group 17"/>
          <p:cNvGrpSpPr>
            <a:grpSpLocks/>
          </p:cNvGrpSpPr>
          <p:nvPr/>
        </p:nvGrpSpPr>
        <p:grpSpPr bwMode="auto">
          <a:xfrm>
            <a:off x="3214688" y="2751139"/>
            <a:ext cx="442912" cy="434975"/>
            <a:chOff x="4329" y="1733"/>
            <a:chExt cx="279" cy="274"/>
          </a:xfrm>
        </p:grpSpPr>
        <p:sp>
          <p:nvSpPr>
            <p:cNvPr id="45070" name="Freeform 4"/>
            <p:cNvSpPr>
              <a:spLocks/>
            </p:cNvSpPr>
            <p:nvPr/>
          </p:nvSpPr>
          <p:spPr bwMode="auto">
            <a:xfrm>
              <a:off x="4368" y="1799"/>
              <a:ext cx="240" cy="208"/>
            </a:xfrm>
            <a:custGeom>
              <a:avLst/>
              <a:gdLst>
                <a:gd name="T0" fmla="*/ 0 w 1728"/>
                <a:gd name="T1" fmla="*/ 0 h 1264"/>
                <a:gd name="T2" fmla="*/ 0 w 1728"/>
                <a:gd name="T3" fmla="*/ 0 h 1264"/>
                <a:gd name="T4" fmla="*/ 0 w 1728"/>
                <a:gd name="T5" fmla="*/ 0 h 1264"/>
                <a:gd name="T6" fmla="*/ 0 w 1728"/>
                <a:gd name="T7" fmla="*/ 0 h 1264"/>
                <a:gd name="T8" fmla="*/ 0 w 1728"/>
                <a:gd name="T9" fmla="*/ 0 h 12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28"/>
                <a:gd name="T16" fmla="*/ 0 h 1264"/>
                <a:gd name="T17" fmla="*/ 1728 w 1728"/>
                <a:gd name="T18" fmla="*/ 1264 h 12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28" h="1264">
                  <a:moveTo>
                    <a:pt x="0" y="1264"/>
                  </a:moveTo>
                  <a:cubicBezTo>
                    <a:pt x="12" y="932"/>
                    <a:pt x="24" y="600"/>
                    <a:pt x="96" y="400"/>
                  </a:cubicBezTo>
                  <a:cubicBezTo>
                    <a:pt x="168" y="200"/>
                    <a:pt x="272" y="128"/>
                    <a:pt x="432" y="64"/>
                  </a:cubicBezTo>
                  <a:cubicBezTo>
                    <a:pt x="592" y="0"/>
                    <a:pt x="840" y="0"/>
                    <a:pt x="1056" y="16"/>
                  </a:cubicBezTo>
                  <a:cubicBezTo>
                    <a:pt x="1272" y="32"/>
                    <a:pt x="1500" y="96"/>
                    <a:pt x="1728" y="160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071" name="Rectangle 5"/>
            <p:cNvSpPr>
              <a:spLocks noChangeArrowheads="1"/>
            </p:cNvSpPr>
            <p:nvPr/>
          </p:nvSpPr>
          <p:spPr bwMode="auto">
            <a:xfrm>
              <a:off x="4329" y="1733"/>
              <a:ext cx="240" cy="240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5061" name="Text Box 12"/>
          <p:cNvSpPr txBox="1">
            <a:spLocks noChangeArrowheads="1"/>
          </p:cNvSpPr>
          <p:nvPr/>
        </p:nvSpPr>
        <p:spPr bwMode="auto">
          <a:xfrm>
            <a:off x="2743200" y="3505201"/>
            <a:ext cx="1600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Corner</a:t>
            </a:r>
            <a:endParaRPr lang="ru-RU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12432" name="Text Box 16"/>
          <p:cNvSpPr txBox="1">
            <a:spLocks noChangeArrowheads="1"/>
          </p:cNvSpPr>
          <p:nvPr/>
        </p:nvSpPr>
        <p:spPr bwMode="auto">
          <a:xfrm>
            <a:off x="2667000" y="6015336"/>
            <a:ext cx="6934200" cy="46166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sz="2400" dirty="0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Corner location is not covariant to scaling!</a:t>
            </a:r>
            <a:endParaRPr lang="ru-RU" sz="2400" dirty="0">
              <a:solidFill>
                <a:srgbClr val="C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4800600" y="1828800"/>
            <a:ext cx="5029200" cy="2159000"/>
            <a:chOff x="2064" y="1152"/>
            <a:chExt cx="3168" cy="1360"/>
          </a:xfrm>
        </p:grpSpPr>
        <p:grpSp>
          <p:nvGrpSpPr>
            <p:cNvPr id="45064" name="Group 19"/>
            <p:cNvGrpSpPr>
              <a:grpSpLocks/>
            </p:cNvGrpSpPr>
            <p:nvPr/>
          </p:nvGrpSpPr>
          <p:grpSpPr bwMode="auto">
            <a:xfrm>
              <a:off x="2064" y="1248"/>
              <a:ext cx="3168" cy="1264"/>
              <a:chOff x="2064" y="1248"/>
              <a:chExt cx="3168" cy="1264"/>
            </a:xfrm>
          </p:grpSpPr>
          <p:sp>
            <p:nvSpPr>
              <p:cNvPr id="45068" name="Freeform 6"/>
              <p:cNvSpPr>
                <a:spLocks/>
              </p:cNvSpPr>
              <p:nvPr/>
            </p:nvSpPr>
            <p:spPr bwMode="auto">
              <a:xfrm>
                <a:off x="3504" y="1248"/>
                <a:ext cx="1728" cy="1264"/>
              </a:xfrm>
              <a:custGeom>
                <a:avLst/>
                <a:gdLst>
                  <a:gd name="T0" fmla="*/ 0 w 1728"/>
                  <a:gd name="T1" fmla="*/ 1264 h 1264"/>
                  <a:gd name="T2" fmla="*/ 96 w 1728"/>
                  <a:gd name="T3" fmla="*/ 400 h 1264"/>
                  <a:gd name="T4" fmla="*/ 432 w 1728"/>
                  <a:gd name="T5" fmla="*/ 64 h 1264"/>
                  <a:gd name="T6" fmla="*/ 1056 w 1728"/>
                  <a:gd name="T7" fmla="*/ 16 h 1264"/>
                  <a:gd name="T8" fmla="*/ 1728 w 1728"/>
                  <a:gd name="T9" fmla="*/ 160 h 126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28"/>
                  <a:gd name="T16" fmla="*/ 0 h 1264"/>
                  <a:gd name="T17" fmla="*/ 1728 w 1728"/>
                  <a:gd name="T18" fmla="*/ 1264 h 126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28" h="1264">
                    <a:moveTo>
                      <a:pt x="0" y="1264"/>
                    </a:moveTo>
                    <a:cubicBezTo>
                      <a:pt x="12" y="932"/>
                      <a:pt x="24" y="600"/>
                      <a:pt x="96" y="400"/>
                    </a:cubicBezTo>
                    <a:cubicBezTo>
                      <a:pt x="168" y="200"/>
                      <a:pt x="272" y="128"/>
                      <a:pt x="432" y="64"/>
                    </a:cubicBezTo>
                    <a:cubicBezTo>
                      <a:pt x="592" y="0"/>
                      <a:pt x="840" y="0"/>
                      <a:pt x="1056" y="16"/>
                    </a:cubicBezTo>
                    <a:cubicBezTo>
                      <a:pt x="1272" y="32"/>
                      <a:pt x="1500" y="96"/>
                      <a:pt x="1728" y="160"/>
                    </a:cubicBez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069" name="AutoShape 10"/>
              <p:cNvSpPr>
                <a:spLocks noChangeArrowheads="1"/>
              </p:cNvSpPr>
              <p:nvPr/>
            </p:nvSpPr>
            <p:spPr bwMode="auto">
              <a:xfrm>
                <a:off x="2064" y="1584"/>
                <a:ext cx="1056" cy="52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17694720 60000 65536"/>
                  <a:gd name="T9" fmla="*/ 11796480 60000 65536"/>
                  <a:gd name="T10" fmla="*/ 5898240 60000 65536"/>
                  <a:gd name="T11" fmla="*/ 0 60000 65536"/>
                  <a:gd name="T12" fmla="*/ 3375 w 21600"/>
                  <a:gd name="T13" fmla="*/ 5400 h 21600"/>
                  <a:gd name="T14" fmla="*/ 18900 w 21600"/>
                  <a:gd name="T15" fmla="*/ 1620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16200" y="0"/>
                    </a:moveTo>
                    <a:lnTo>
                      <a:pt x="16200" y="5400"/>
                    </a:lnTo>
                    <a:lnTo>
                      <a:pt x="3375" y="5400"/>
                    </a:lnTo>
                    <a:lnTo>
                      <a:pt x="3375" y="16200"/>
                    </a:lnTo>
                    <a:lnTo>
                      <a:pt x="16200" y="16200"/>
                    </a:lnTo>
                    <a:lnTo>
                      <a:pt x="16200" y="21600"/>
                    </a:lnTo>
                    <a:lnTo>
                      <a:pt x="21600" y="10800"/>
                    </a:lnTo>
                    <a:close/>
                  </a:path>
                  <a:path w="21600" h="21600">
                    <a:moveTo>
                      <a:pt x="1350" y="5400"/>
                    </a:moveTo>
                    <a:lnTo>
                      <a:pt x="1350" y="16200"/>
                    </a:lnTo>
                    <a:lnTo>
                      <a:pt x="2700" y="16200"/>
                    </a:lnTo>
                    <a:lnTo>
                      <a:pt x="2700" y="5400"/>
                    </a:lnTo>
                    <a:close/>
                  </a:path>
                  <a:path w="21600" h="21600">
                    <a:moveTo>
                      <a:pt x="0" y="5400"/>
                    </a:moveTo>
                    <a:lnTo>
                      <a:pt x="0" y="16200"/>
                    </a:lnTo>
                    <a:lnTo>
                      <a:pt x="675" y="16200"/>
                    </a:lnTo>
                    <a:lnTo>
                      <a:pt x="675" y="540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5065" name="Rectangle 22"/>
            <p:cNvSpPr>
              <a:spLocks noChangeArrowheads="1"/>
            </p:cNvSpPr>
            <p:nvPr/>
          </p:nvSpPr>
          <p:spPr bwMode="auto">
            <a:xfrm>
              <a:off x="4224" y="1152"/>
              <a:ext cx="240" cy="240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066" name="Rectangle 23"/>
            <p:cNvSpPr>
              <a:spLocks noChangeArrowheads="1"/>
            </p:cNvSpPr>
            <p:nvPr/>
          </p:nvSpPr>
          <p:spPr bwMode="auto">
            <a:xfrm>
              <a:off x="3648" y="1296"/>
              <a:ext cx="240" cy="240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067" name="Rectangle 24"/>
            <p:cNvSpPr>
              <a:spLocks noChangeArrowheads="1"/>
            </p:cNvSpPr>
            <p:nvPr/>
          </p:nvSpPr>
          <p:spPr bwMode="auto">
            <a:xfrm>
              <a:off x="3408" y="1824"/>
              <a:ext cx="240" cy="240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429614-5E2B-891B-08C9-E6E98AD60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892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2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2427" grpId="0" autoUpdateAnimBg="0"/>
      <p:bldP spid="1212432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4800" dirty="0"/>
              <a:t>Blob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Slides from Svetlana </a:t>
            </a:r>
            <a:r>
              <a:rPr lang="en-US" dirty="0" err="1"/>
              <a:t>Lazebnik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E99B2E-7C10-3E55-2B42-49A2B0F5F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8ED516-33F9-4DD9-AFFA-667B71F1A011}" type="slidenum">
              <a:rPr lang="en-US" smtClean="0"/>
              <a:pPr>
                <a:defRPr/>
              </a:pPr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29018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Blob Detection</a:t>
            </a:r>
          </a:p>
        </p:txBody>
      </p:sp>
      <p:pic>
        <p:nvPicPr>
          <p:cNvPr id="26628" name="Picture 5" descr="Sunflowers2_circle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91000" y="1727200"/>
            <a:ext cx="4140200" cy="4140200"/>
          </a:xfrm>
          <a:prstGeom prst="rect">
            <a:avLst/>
          </a:prstGeom>
          <a:noFill/>
          <a:ln w="6350">
            <a:solidFill>
              <a:schemeClr val="bg1"/>
            </a:solidFill>
            <a:miter lim="800000"/>
            <a:headEnd/>
            <a:tailEnd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F107FF-F2F2-4D20-1A33-CC29BD9B8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03834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Detection with Scale Selection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/>
            <a:r>
              <a:rPr lang="en-US" dirty="0"/>
              <a:t>We want to extract features with characteristic scale that is </a:t>
            </a:r>
            <a:r>
              <a:rPr lang="en-US" i="1" dirty="0"/>
              <a:t>covariant</a:t>
            </a:r>
            <a:r>
              <a:rPr lang="en-US" dirty="0"/>
              <a:t> with the image transformation</a:t>
            </a:r>
          </a:p>
        </p:txBody>
      </p:sp>
      <p:pic>
        <p:nvPicPr>
          <p:cNvPr id="4608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82572" y="2514600"/>
            <a:ext cx="6918628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D711B5-33FA-D79A-D1BD-0C603EB59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80231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Blob Detection: Basic idea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/>
            <a:r>
              <a:rPr lang="en-US" dirty="0"/>
              <a:t>To detect blobs, convolve the image with a “blob filter” at multiple scales and look for extrema of filter response in the resulting </a:t>
            </a:r>
            <a:r>
              <a:rPr lang="en-US" i="1" dirty="0"/>
              <a:t>scale space.</a:t>
            </a:r>
          </a:p>
        </p:txBody>
      </p:sp>
      <p:pic>
        <p:nvPicPr>
          <p:cNvPr id="26628" name="Picture 5" descr="Sunflowers2_circle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0" y="2946400"/>
            <a:ext cx="3606800" cy="3606800"/>
          </a:xfrm>
          <a:prstGeom prst="rect">
            <a:avLst/>
          </a:prstGeom>
          <a:noFill/>
          <a:ln w="6350">
            <a:solidFill>
              <a:schemeClr val="bg1"/>
            </a:solidFill>
            <a:miter lim="800000"/>
            <a:headEnd/>
            <a:tailEnd/>
          </a:ln>
        </p:spPr>
      </p:pic>
      <p:pic>
        <p:nvPicPr>
          <p:cNvPr id="5" name="Picture 6" descr="lo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315200" y="3733800"/>
            <a:ext cx="20574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06A3E1-50FA-6C77-CDCA-219BA8B08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44547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Blob Detection: Basic Idea</a:t>
            </a:r>
          </a:p>
        </p:txBody>
      </p:sp>
      <p:sp>
        <p:nvSpPr>
          <p:cNvPr id="18435" name="Content Placeholder 4"/>
          <p:cNvSpPr>
            <a:spLocks noGrp="1"/>
          </p:cNvSpPr>
          <p:nvPr>
            <p:ph idx="1"/>
          </p:nvPr>
        </p:nvSpPr>
        <p:spPr>
          <a:xfrm>
            <a:off x="1981200" y="5572125"/>
            <a:ext cx="7924800" cy="1209675"/>
          </a:xfrm>
        </p:spPr>
        <p:txBody>
          <a:bodyPr/>
          <a:lstStyle/>
          <a:p>
            <a:pPr eaLnBrk="1" hangingPunct="1"/>
            <a:r>
              <a:rPr lang="en-US" altLang="en-US" dirty="0"/>
              <a:t>Find maxima </a:t>
            </a:r>
            <a:r>
              <a:rPr lang="en-US" altLang="en-US" i="1" dirty="0"/>
              <a:t>and minima</a:t>
            </a:r>
            <a:r>
              <a:rPr lang="en-US" altLang="en-US" dirty="0"/>
              <a:t> of blob filter response in space </a:t>
            </a:r>
            <a:r>
              <a:rPr lang="en-US" altLang="en-US" i="1" dirty="0"/>
              <a:t>and scale</a:t>
            </a:r>
          </a:p>
        </p:txBody>
      </p:sp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1" y="3124201"/>
            <a:ext cx="360363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7" name="Picture 2" descr="C:\snavely\work\teaching\09Fa-CS6610\lectures\lec03\butterfly_bw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981200"/>
            <a:ext cx="358140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8" name="Picture 3" descr="C:\snavely\work\teaching\09Fa-CS6610\lectures\lec03\b_l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1981200"/>
            <a:ext cx="358140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9" name="TextBox 8"/>
          <p:cNvSpPr txBox="1">
            <a:spLocks noChangeArrowheads="1"/>
          </p:cNvSpPr>
          <p:nvPr/>
        </p:nvSpPr>
        <p:spPr bwMode="auto">
          <a:xfrm>
            <a:off x="5346700" y="2979004"/>
            <a:ext cx="7493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4800">
                <a:latin typeface="Times New Roman" pitchFamily="18" charset="0"/>
                <a:cs typeface="Times New Roman" pitchFamily="18" charset="0"/>
              </a:rPr>
              <a:t>*</a:t>
            </a:r>
          </a:p>
        </p:txBody>
      </p:sp>
      <p:sp>
        <p:nvSpPr>
          <p:cNvPr id="18440" name="TextBox 9"/>
          <p:cNvSpPr txBox="1">
            <a:spLocks noChangeArrowheads="1"/>
          </p:cNvSpPr>
          <p:nvPr/>
        </p:nvSpPr>
        <p:spPr bwMode="auto">
          <a:xfrm>
            <a:off x="6324600" y="2971801"/>
            <a:ext cx="5778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3600" dirty="0">
                <a:cs typeface="Times New Roman" pitchFamily="18" charset="0"/>
              </a:rPr>
              <a:t>=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rot="16200000" flipV="1">
            <a:off x="8033545" y="4452145"/>
            <a:ext cx="522287" cy="1746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42" name="TextBox 13"/>
          <p:cNvSpPr txBox="1">
            <a:spLocks noChangeArrowheads="1"/>
          </p:cNvSpPr>
          <p:nvPr/>
        </p:nvSpPr>
        <p:spPr bwMode="auto">
          <a:xfrm>
            <a:off x="8001000" y="4746625"/>
            <a:ext cx="133549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/>
            <a:r>
              <a:rPr lang="en-US" altLang="en-US" dirty="0"/>
              <a:t>maxima</a:t>
            </a:r>
          </a:p>
        </p:txBody>
      </p:sp>
      <p:sp>
        <p:nvSpPr>
          <p:cNvPr id="18443" name="TextBox 14"/>
          <p:cNvSpPr txBox="1">
            <a:spLocks noChangeArrowheads="1"/>
          </p:cNvSpPr>
          <p:nvPr/>
        </p:nvSpPr>
        <p:spPr bwMode="auto">
          <a:xfrm>
            <a:off x="8458201" y="1143000"/>
            <a:ext cx="128272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/>
            <a:r>
              <a:rPr lang="en-US" altLang="en-US" dirty="0"/>
              <a:t>minima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H="1">
            <a:off x="7620000" y="1600201"/>
            <a:ext cx="1219200" cy="137880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9148079" y="1752600"/>
            <a:ext cx="228600" cy="11430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8839201" y="4114802"/>
            <a:ext cx="65087" cy="6857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915400" y="6550224"/>
            <a:ext cx="17187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Source: N. </a:t>
            </a:r>
            <a:r>
              <a:rPr lang="en-US" sz="1400" dirty="0" err="1"/>
              <a:t>Snavely</a:t>
            </a:r>
            <a:endParaRPr lang="en-US" sz="1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A70C2A-2F61-9CF2-BAE0-010E769D1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718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42" grpId="0"/>
      <p:bldP spid="18443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Blob Filter</a:t>
            </a:r>
          </a:p>
        </p:txBody>
      </p:sp>
      <p:sp>
        <p:nvSpPr>
          <p:cNvPr id="19460" name="Rectangle 9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en-US" dirty="0"/>
              <a:t>Laplacian of Gaussian: Circularly symmetric operator for blob detection in </a:t>
            </a:r>
            <a:r>
              <a:rPr lang="en-US" dirty="0" err="1"/>
              <a:t>2D</a:t>
            </a:r>
            <a:endParaRPr lang="en-US" dirty="0"/>
          </a:p>
        </p:txBody>
      </p:sp>
      <p:pic>
        <p:nvPicPr>
          <p:cNvPr id="19461" name="Picture 5" descr="log_color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67000" y="1828800"/>
            <a:ext cx="41148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2" name="Picture 6" descr="lo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543800" y="2293938"/>
            <a:ext cx="20574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9458" name="Object 7"/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742661349"/>
              </p:ext>
            </p:extLst>
          </p:nvPr>
        </p:nvGraphicFramePr>
        <p:xfrm>
          <a:off x="4344988" y="5105401"/>
          <a:ext cx="3579812" cy="1439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04840" imgH="444240" progId="Equation.3">
                  <p:embed/>
                </p:oleObj>
              </mc:Choice>
              <mc:Fallback>
                <p:oleObj name="Equation" r:id="rId5" imgW="1104840" imgH="444240" progId="Equation.3">
                  <p:embed/>
                  <p:pic>
                    <p:nvPicPr>
                      <p:cNvPr id="1945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4988" y="5105401"/>
                        <a:ext cx="3579812" cy="1439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11C98A-3ED7-DDDB-D9DD-4B01A9473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67175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9" name="Rectangle 4"/>
          <p:cNvSpPr>
            <a:spLocks noGrp="1" noChangeArrowheads="1"/>
          </p:cNvSpPr>
          <p:nvPr>
            <p:ph type="title"/>
          </p:nvPr>
        </p:nvSpPr>
        <p:spPr>
          <a:xfrm>
            <a:off x="152400" y="76200"/>
            <a:ext cx="11925300" cy="838200"/>
          </a:xfrm>
        </p:spPr>
        <p:txBody>
          <a:bodyPr/>
          <a:lstStyle/>
          <a:p>
            <a:r>
              <a:rPr lang="en-US" dirty="0"/>
              <a:t>Recall: Edge Detection</a:t>
            </a:r>
          </a:p>
        </p:txBody>
      </p:sp>
      <p:graphicFrame>
        <p:nvGraphicFramePr>
          <p:cNvPr id="16386" name="Object 6"/>
          <p:cNvGraphicFramePr>
            <a:graphicFrameLocks noChangeAspect="1"/>
          </p:cNvGraphicFramePr>
          <p:nvPr/>
        </p:nvGraphicFramePr>
        <p:xfrm>
          <a:off x="3106738" y="1524000"/>
          <a:ext cx="5516562" cy="434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3" imgW="6001588" imgH="4847619" progId="">
                  <p:embed/>
                </p:oleObj>
              </mc:Choice>
              <mc:Fallback>
                <p:oleObj name="Photo Editor Photo" r:id="rId3" imgW="6001588" imgH="4847619" progId="">
                  <p:embed/>
                  <p:pic>
                    <p:nvPicPr>
                      <p:cNvPr id="1638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6738" y="1524000"/>
                        <a:ext cx="5516562" cy="434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7" name="Object 7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2295428508"/>
              </p:ext>
            </p:extLst>
          </p:nvPr>
        </p:nvGraphicFramePr>
        <p:xfrm>
          <a:off x="1765301" y="4648200"/>
          <a:ext cx="1103313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58720" imgH="393480" progId="Equation.3">
                  <p:embed/>
                </p:oleObj>
              </mc:Choice>
              <mc:Fallback>
                <p:oleObj name="Equation" r:id="rId5" imgW="558720" imgH="393480" progId="Equation.3">
                  <p:embed/>
                  <p:pic>
                    <p:nvPicPr>
                      <p:cNvPr id="1638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5301" y="4648200"/>
                        <a:ext cx="1103313" cy="757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0" name="Text Box 8"/>
          <p:cNvSpPr txBox="1">
            <a:spLocks noChangeArrowheads="1"/>
          </p:cNvSpPr>
          <p:nvPr/>
        </p:nvSpPr>
        <p:spPr bwMode="auto">
          <a:xfrm>
            <a:off x="2316164" y="2066925"/>
            <a:ext cx="2682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i="1">
                <a:latin typeface="Times New Roman" pitchFamily="18" charset="0"/>
              </a:rPr>
              <a:t>f</a:t>
            </a:r>
          </a:p>
        </p:txBody>
      </p:sp>
      <p:graphicFrame>
        <p:nvGraphicFramePr>
          <p:cNvPr id="16388" name="Object 9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1911255234"/>
              </p:ext>
            </p:extLst>
          </p:nvPr>
        </p:nvGraphicFramePr>
        <p:xfrm>
          <a:off x="2189163" y="3286125"/>
          <a:ext cx="679450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30120" imgH="393480" progId="Equation.3">
                  <p:embed/>
                </p:oleObj>
              </mc:Choice>
              <mc:Fallback>
                <p:oleObj name="Equation" r:id="rId7" imgW="330120" imgH="393480" progId="Equation.3">
                  <p:embed/>
                  <p:pic>
                    <p:nvPicPr>
                      <p:cNvPr id="16388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9163" y="3286125"/>
                        <a:ext cx="679450" cy="788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1" name="Text Box 10"/>
          <p:cNvSpPr txBox="1">
            <a:spLocks noChangeArrowheads="1"/>
          </p:cNvSpPr>
          <p:nvPr/>
        </p:nvSpPr>
        <p:spPr bwMode="auto">
          <a:xfrm>
            <a:off x="9134476" y="6477000"/>
            <a:ext cx="14573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400"/>
              <a:t>Source: S. Seitz</a:t>
            </a:r>
          </a:p>
        </p:txBody>
      </p:sp>
      <p:sp>
        <p:nvSpPr>
          <p:cNvPr id="16392" name="Text Box 12"/>
          <p:cNvSpPr txBox="1">
            <a:spLocks noChangeArrowheads="1"/>
          </p:cNvSpPr>
          <p:nvPr/>
        </p:nvSpPr>
        <p:spPr bwMode="auto">
          <a:xfrm>
            <a:off x="8547100" y="1905001"/>
            <a:ext cx="717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Edge</a:t>
            </a:r>
          </a:p>
        </p:txBody>
      </p:sp>
      <p:sp>
        <p:nvSpPr>
          <p:cNvPr id="16393" name="Text Box 13"/>
          <p:cNvSpPr txBox="1">
            <a:spLocks noChangeArrowheads="1"/>
          </p:cNvSpPr>
          <p:nvPr/>
        </p:nvSpPr>
        <p:spPr bwMode="auto">
          <a:xfrm>
            <a:off x="8528050" y="3241675"/>
            <a:ext cx="14033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Derivative</a:t>
            </a:r>
            <a:br>
              <a:rPr lang="en-US" sz="1800"/>
            </a:br>
            <a:r>
              <a:rPr lang="en-US" sz="1800"/>
              <a:t>of Gaussian</a:t>
            </a:r>
          </a:p>
        </p:txBody>
      </p:sp>
      <p:sp>
        <p:nvSpPr>
          <p:cNvPr id="16394" name="Text Box 14"/>
          <p:cNvSpPr txBox="1">
            <a:spLocks noChangeArrowheads="1"/>
          </p:cNvSpPr>
          <p:nvPr/>
        </p:nvSpPr>
        <p:spPr bwMode="auto">
          <a:xfrm>
            <a:off x="8470900" y="4616450"/>
            <a:ext cx="19685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Edge = maximum</a:t>
            </a:r>
            <a:br>
              <a:rPr lang="en-US" sz="1800"/>
            </a:br>
            <a:r>
              <a:rPr lang="en-US" sz="1800"/>
              <a:t>of derivative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1FB1FB-E491-50E2-5D6E-DD7D71262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98056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Edge Detection, Take 2</a:t>
            </a:r>
          </a:p>
        </p:txBody>
      </p:sp>
      <p:graphicFrame>
        <p:nvGraphicFramePr>
          <p:cNvPr id="17410" name="Object 4"/>
          <p:cNvGraphicFramePr>
            <a:graphicFrameLocks noGrp="1" noChangeAspect="1"/>
          </p:cNvGraphicFramePr>
          <p:nvPr>
            <p:ph idx="4294967295"/>
          </p:nvPr>
        </p:nvGraphicFramePr>
        <p:xfrm>
          <a:off x="2881314" y="1524000"/>
          <a:ext cx="5500687" cy="446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3" imgW="6125430" imgH="4971429" progId="">
                  <p:embed/>
                </p:oleObj>
              </mc:Choice>
              <mc:Fallback>
                <p:oleObj name="Photo Editor Photo" r:id="rId3" imgW="6125430" imgH="4971429" progId="">
                  <p:embed/>
                  <p:pic>
                    <p:nvPicPr>
                      <p:cNvPr id="1741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1314" y="1524000"/>
                        <a:ext cx="5500687" cy="446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7024520"/>
              </p:ext>
            </p:extLst>
          </p:nvPr>
        </p:nvGraphicFramePr>
        <p:xfrm>
          <a:off x="1600201" y="4745038"/>
          <a:ext cx="1228725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22080" imgH="419040" progId="Equation.3">
                  <p:embed/>
                </p:oleObj>
              </mc:Choice>
              <mc:Fallback>
                <p:oleObj name="Equation" r:id="rId5" imgW="622080" imgH="419040" progId="Equation.3">
                  <p:embed/>
                  <p:pic>
                    <p:nvPicPr>
                      <p:cNvPr id="17411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1" y="4745038"/>
                        <a:ext cx="1228725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4" name="Text Box 7"/>
          <p:cNvSpPr txBox="1">
            <a:spLocks noChangeArrowheads="1"/>
          </p:cNvSpPr>
          <p:nvPr/>
        </p:nvSpPr>
        <p:spPr bwMode="auto">
          <a:xfrm>
            <a:off x="2212975" y="2187575"/>
            <a:ext cx="2682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i="1">
                <a:latin typeface="Times New Roman" pitchFamily="18" charset="0"/>
              </a:rPr>
              <a:t>f</a:t>
            </a:r>
          </a:p>
        </p:txBody>
      </p:sp>
      <p:graphicFrame>
        <p:nvGraphicFramePr>
          <p:cNvPr id="1741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259150"/>
              </p:ext>
            </p:extLst>
          </p:nvPr>
        </p:nvGraphicFramePr>
        <p:xfrm>
          <a:off x="2008188" y="3381375"/>
          <a:ext cx="836612" cy="83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06080" imgH="419040" progId="Equation.3">
                  <p:embed/>
                </p:oleObj>
              </mc:Choice>
              <mc:Fallback>
                <p:oleObj name="Equation" r:id="rId7" imgW="406080" imgH="419040" progId="Equation.3">
                  <p:embed/>
                  <p:pic>
                    <p:nvPicPr>
                      <p:cNvPr id="1741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8188" y="3381375"/>
                        <a:ext cx="836612" cy="839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5" name="Text Box 9"/>
          <p:cNvSpPr txBox="1">
            <a:spLocks noChangeArrowheads="1"/>
          </p:cNvSpPr>
          <p:nvPr/>
        </p:nvSpPr>
        <p:spPr bwMode="auto">
          <a:xfrm>
            <a:off x="8382000" y="2133601"/>
            <a:ext cx="717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Edge</a:t>
            </a:r>
          </a:p>
        </p:txBody>
      </p:sp>
      <p:sp>
        <p:nvSpPr>
          <p:cNvPr id="17416" name="Text Box 10"/>
          <p:cNvSpPr txBox="1">
            <a:spLocks noChangeArrowheads="1"/>
          </p:cNvSpPr>
          <p:nvPr/>
        </p:nvSpPr>
        <p:spPr bwMode="auto">
          <a:xfrm>
            <a:off x="8362950" y="3276600"/>
            <a:ext cx="2000250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Second derivative</a:t>
            </a:r>
            <a:br>
              <a:rPr lang="en-US" sz="1800"/>
            </a:br>
            <a:r>
              <a:rPr lang="en-US" sz="1800"/>
              <a:t>of Gaussian </a:t>
            </a:r>
            <a:br>
              <a:rPr lang="en-US" sz="1800"/>
            </a:br>
            <a:r>
              <a:rPr lang="en-US" sz="1800"/>
              <a:t>(Laplacian)</a:t>
            </a:r>
          </a:p>
        </p:txBody>
      </p:sp>
      <p:sp>
        <p:nvSpPr>
          <p:cNvPr id="17417" name="Text Box 11"/>
          <p:cNvSpPr txBox="1">
            <a:spLocks noChangeArrowheads="1"/>
          </p:cNvSpPr>
          <p:nvPr/>
        </p:nvSpPr>
        <p:spPr bwMode="auto">
          <a:xfrm>
            <a:off x="8305800" y="4845050"/>
            <a:ext cx="23368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Edge = zero crossing</a:t>
            </a:r>
            <a:br>
              <a:rPr lang="en-US" sz="1800"/>
            </a:br>
            <a:r>
              <a:rPr lang="en-US" sz="1800"/>
              <a:t>of second derivative</a:t>
            </a:r>
          </a:p>
        </p:txBody>
      </p:sp>
      <p:sp>
        <p:nvSpPr>
          <p:cNvPr id="17418" name="Text Box 14"/>
          <p:cNvSpPr txBox="1">
            <a:spLocks noChangeArrowheads="1"/>
          </p:cNvSpPr>
          <p:nvPr/>
        </p:nvSpPr>
        <p:spPr bwMode="auto">
          <a:xfrm>
            <a:off x="9134476" y="6477000"/>
            <a:ext cx="14573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400"/>
              <a:t>Source: S. Seitz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DAA42E-0633-4648-63B2-CADF325D3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03881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14" descr="ripples copy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57339" y="1997076"/>
            <a:ext cx="9077325" cy="2314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Edges to Blobs</a:t>
            </a:r>
          </a:p>
        </p:txBody>
      </p:sp>
      <p:sp>
        <p:nvSpPr>
          <p:cNvPr id="4813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dirty="0"/>
              <a:t>Edge = ripple</a:t>
            </a:r>
          </a:p>
          <a:p>
            <a:pPr>
              <a:buFontTx/>
              <a:buChar char="•"/>
            </a:pPr>
            <a:r>
              <a:rPr lang="en-US" dirty="0"/>
              <a:t>Blob = superposition of two ripples</a:t>
            </a:r>
          </a:p>
        </p:txBody>
      </p:sp>
      <p:sp>
        <p:nvSpPr>
          <p:cNvPr id="1256458" name="Text Box 10"/>
          <p:cNvSpPr txBox="1">
            <a:spLocks noChangeArrowheads="1"/>
          </p:cNvSpPr>
          <p:nvPr/>
        </p:nvSpPr>
        <p:spPr bwMode="auto">
          <a:xfrm>
            <a:off x="914400" y="4876800"/>
            <a:ext cx="106680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b="1" dirty="0"/>
              <a:t>Spatial selection</a:t>
            </a:r>
            <a:r>
              <a:rPr lang="en-US" dirty="0"/>
              <a:t>: the magnitude of the Laplacian response will achieve a maximum at the center of the blob, provided the scale of the Laplacian is “matched” to the scale of the blob</a:t>
            </a:r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8839200" y="4235450"/>
            <a:ext cx="1250950" cy="641350"/>
            <a:chOff x="4560" y="2640"/>
            <a:chExt cx="788" cy="574"/>
          </a:xfrm>
        </p:grpSpPr>
        <p:sp>
          <p:nvSpPr>
            <p:cNvPr id="48135" name="Text Box 11"/>
            <p:cNvSpPr txBox="1">
              <a:spLocks noChangeArrowheads="1"/>
            </p:cNvSpPr>
            <p:nvPr/>
          </p:nvSpPr>
          <p:spPr bwMode="auto">
            <a:xfrm>
              <a:off x="4560" y="2886"/>
              <a:ext cx="788" cy="3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 b="1">
                  <a:solidFill>
                    <a:srgbClr val="FF0000"/>
                  </a:solidFill>
                </a:rPr>
                <a:t>maximum</a:t>
              </a:r>
            </a:p>
          </p:txBody>
        </p:sp>
        <p:sp>
          <p:nvSpPr>
            <p:cNvPr id="48136" name="Line 12"/>
            <p:cNvSpPr>
              <a:spLocks noChangeShapeType="1"/>
            </p:cNvSpPr>
            <p:nvPr/>
          </p:nvSpPr>
          <p:spPr bwMode="auto">
            <a:xfrm flipV="1">
              <a:off x="4990" y="2640"/>
              <a:ext cx="0" cy="288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F17F02-1A10-EDEF-15FE-894393817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341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6458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Scale Selection</a:t>
            </a:r>
          </a:p>
        </p:txBody>
      </p:sp>
      <p:sp>
        <p:nvSpPr>
          <p:cNvPr id="13148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dirty="0"/>
              <a:t>We want to find the characteristic scale of the blob by convolving it with Laplacians at several scales and looking for the maximum response</a:t>
            </a:r>
          </a:p>
          <a:p>
            <a:pPr>
              <a:buFontTx/>
              <a:buChar char="•"/>
            </a:pPr>
            <a:r>
              <a:rPr lang="en-US" dirty="0"/>
              <a:t>However, Laplacian response decays as scale increases:</a:t>
            </a: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1619250" y="3276600"/>
            <a:ext cx="8858250" cy="2774950"/>
            <a:chOff x="60" y="2064"/>
            <a:chExt cx="5580" cy="1748"/>
          </a:xfrm>
        </p:grpSpPr>
        <p:pic>
          <p:nvPicPr>
            <p:cNvPr id="49158" name="Picture 4" descr="scale_unnorm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96" y="2064"/>
              <a:ext cx="5544" cy="14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9159" name="Rectangle 6"/>
            <p:cNvSpPr>
              <a:spLocks noChangeArrowheads="1"/>
            </p:cNvSpPr>
            <p:nvPr/>
          </p:nvSpPr>
          <p:spPr bwMode="auto">
            <a:xfrm>
              <a:off x="1691" y="3465"/>
              <a:ext cx="90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/>
                <a:t>increasing </a:t>
              </a:r>
              <a:r>
                <a:rPr lang="el-GR" sz="1800"/>
                <a:t>σ</a:t>
              </a:r>
              <a:endParaRPr lang="en-US" sz="1800"/>
            </a:p>
          </p:txBody>
        </p:sp>
        <p:sp>
          <p:nvSpPr>
            <p:cNvPr id="49160" name="Line 7"/>
            <p:cNvSpPr>
              <a:spLocks noChangeShapeType="1"/>
            </p:cNvSpPr>
            <p:nvPr/>
          </p:nvSpPr>
          <p:spPr bwMode="auto">
            <a:xfrm>
              <a:off x="2640" y="3600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161" name="Rectangle 8"/>
            <p:cNvSpPr>
              <a:spLocks noChangeArrowheads="1"/>
            </p:cNvSpPr>
            <p:nvPr/>
          </p:nvSpPr>
          <p:spPr bwMode="auto">
            <a:xfrm>
              <a:off x="60" y="3408"/>
              <a:ext cx="996" cy="40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800"/>
                <a:t>original signal</a:t>
              </a:r>
              <a:br>
                <a:rPr lang="en-US" sz="1800"/>
              </a:br>
              <a:r>
                <a:rPr lang="en-US" sz="1800"/>
                <a:t>(radius=8)</a:t>
              </a: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D0573F-EA0A-5814-B37C-845473DF7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993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4819" grpId="0" uiExpand="1" build="p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Scale Normalization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en-US" dirty="0"/>
              <a:t>The response of a derivative of Gaussian filter to a perfect step edge decreases as </a:t>
            </a:r>
            <a:r>
              <a:rPr lang="el-GR" dirty="0">
                <a:latin typeface="Times New Roman" pitchFamily="18" charset="0"/>
                <a:cs typeface="Times New Roman" pitchFamily="18" charset="0"/>
              </a:rPr>
              <a:t>σ</a:t>
            </a:r>
            <a:r>
              <a:rPr lang="en-US" dirty="0"/>
              <a:t> increases</a:t>
            </a:r>
          </a:p>
          <a:p>
            <a:endParaRPr lang="en-US" dirty="0"/>
          </a:p>
        </p:txBody>
      </p:sp>
      <p:pic>
        <p:nvPicPr>
          <p:cNvPr id="18437" name="Picture 4" descr="deriv_shaded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0" y="2209800"/>
            <a:ext cx="4851400" cy="3638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8" name="Freeform 5"/>
          <p:cNvSpPr>
            <a:spLocks/>
          </p:cNvSpPr>
          <p:nvPr/>
        </p:nvSpPr>
        <p:spPr bwMode="auto">
          <a:xfrm>
            <a:off x="4419600" y="2493963"/>
            <a:ext cx="3810000" cy="2952750"/>
          </a:xfrm>
          <a:custGeom>
            <a:avLst/>
            <a:gdLst>
              <a:gd name="T0" fmla="*/ 0 w 2400"/>
              <a:gd name="T1" fmla="*/ 0 h 1872"/>
              <a:gd name="T2" fmla="*/ 2147483647 w 2400"/>
              <a:gd name="T3" fmla="*/ 0 h 1872"/>
              <a:gd name="T4" fmla="*/ 2147483647 w 2400"/>
              <a:gd name="T5" fmla="*/ 2147483647 h 1872"/>
              <a:gd name="T6" fmla="*/ 2147483647 w 2400"/>
              <a:gd name="T7" fmla="*/ 2147483647 h 1872"/>
              <a:gd name="T8" fmla="*/ 0 60000 65536"/>
              <a:gd name="T9" fmla="*/ 0 60000 65536"/>
              <a:gd name="T10" fmla="*/ 0 60000 65536"/>
              <a:gd name="T11" fmla="*/ 0 60000 65536"/>
              <a:gd name="T12" fmla="*/ 0 w 2400"/>
              <a:gd name="T13" fmla="*/ 0 h 1872"/>
              <a:gd name="T14" fmla="*/ 2400 w 2400"/>
              <a:gd name="T15" fmla="*/ 1872 h 18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400" h="1872">
                <a:moveTo>
                  <a:pt x="0" y="0"/>
                </a:moveTo>
                <a:lnTo>
                  <a:pt x="1200" y="0"/>
                </a:lnTo>
                <a:lnTo>
                  <a:pt x="1200" y="1872"/>
                </a:lnTo>
                <a:lnTo>
                  <a:pt x="2400" y="1872"/>
                </a:ln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20" name="Line 6"/>
          <p:cNvSpPr>
            <a:spLocks noChangeShapeType="1"/>
          </p:cNvSpPr>
          <p:nvPr/>
        </p:nvSpPr>
        <p:spPr bwMode="auto">
          <a:xfrm flipH="1">
            <a:off x="5791200" y="3124200"/>
            <a:ext cx="838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331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9948727"/>
              </p:ext>
            </p:extLst>
          </p:nvPr>
        </p:nvGraphicFramePr>
        <p:xfrm>
          <a:off x="6781800" y="2711450"/>
          <a:ext cx="889000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69800" imgH="419040" progId="Equation.3">
                  <p:embed/>
                </p:oleObj>
              </mc:Choice>
              <mc:Fallback>
                <p:oleObj name="Equation" r:id="rId4" imgW="469800" imgH="419040" progId="Equation.3">
                  <p:embed/>
                  <p:pic>
                    <p:nvPicPr>
                      <p:cNvPr id="13314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2711450"/>
                        <a:ext cx="889000" cy="793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922500-83CB-2864-6C43-50BF23430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35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20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Scale Normalization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/>
              <a:t>The response of a derivative of Gaussian filter to a perfect step edge decreases as </a:t>
            </a:r>
            <a:r>
              <a:rPr lang="el-GR">
                <a:latin typeface="Times New Roman" pitchFamily="18" charset="0"/>
                <a:cs typeface="Times New Roman" pitchFamily="18" charset="0"/>
              </a:rPr>
              <a:t>σ</a:t>
            </a:r>
            <a:r>
              <a:rPr lang="en-US"/>
              <a:t> increases</a:t>
            </a:r>
          </a:p>
          <a:p>
            <a:pPr>
              <a:buFontTx/>
              <a:buChar char="•"/>
            </a:pPr>
            <a:r>
              <a:rPr lang="en-US"/>
              <a:t>To keep response the same (scale-invariant), must multiply Gaussian derivative by </a:t>
            </a:r>
            <a:r>
              <a:rPr lang="el-GR">
                <a:latin typeface="Times New Roman" pitchFamily="18" charset="0"/>
                <a:cs typeface="Times New Roman" pitchFamily="18" charset="0"/>
              </a:rPr>
              <a:t>σ</a:t>
            </a:r>
          </a:p>
          <a:p>
            <a:pPr>
              <a:buFontTx/>
              <a:buChar char="•"/>
            </a:pPr>
            <a:r>
              <a:rPr lang="en-US"/>
              <a:t>Laplacian is the second Gaussian derivative, so it must be multiplied by </a:t>
            </a:r>
            <a:r>
              <a:rPr lang="el-GR">
                <a:latin typeface="Times New Roman" pitchFamily="18" charset="0"/>
                <a:cs typeface="Times New Roman" pitchFamily="18" charset="0"/>
              </a:rPr>
              <a:t>σ</a:t>
            </a:r>
            <a:r>
              <a:rPr lang="en-US" baseline="3000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393313-5006-1B6D-8169-5A6D3D4A8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69811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 of Scale Normalization</a:t>
            </a:r>
          </a:p>
        </p:txBody>
      </p:sp>
      <p:sp>
        <p:nvSpPr>
          <p:cNvPr id="51203" name="Text Box 5"/>
          <p:cNvSpPr txBox="1">
            <a:spLocks noChangeArrowheads="1"/>
          </p:cNvSpPr>
          <p:nvPr/>
        </p:nvSpPr>
        <p:spPr bwMode="auto">
          <a:xfrm>
            <a:off x="5470525" y="873126"/>
            <a:ext cx="1841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3135314" y="3494088"/>
            <a:ext cx="7361237" cy="2601912"/>
            <a:chOff x="1015" y="2201"/>
            <a:chExt cx="4637" cy="1639"/>
          </a:xfrm>
        </p:grpSpPr>
        <p:pic>
          <p:nvPicPr>
            <p:cNvPr id="51212" name="Picture 4" descr="scale_normalization"/>
            <p:cNvPicPr>
              <a:picLocks noChangeAspect="1" noChangeArrowheads="1"/>
            </p:cNvPicPr>
            <p:nvPr/>
          </p:nvPicPr>
          <p:blipFill>
            <a:blip r:embed="rId3" cstate="print"/>
            <a:srcRect l="16364" t="47470"/>
            <a:stretch>
              <a:fillRect/>
            </a:stretch>
          </p:blipFill>
          <p:spPr bwMode="auto">
            <a:xfrm>
              <a:off x="1015" y="2201"/>
              <a:ext cx="4637" cy="16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1213" name="Text Box 7"/>
            <p:cNvSpPr txBox="1">
              <a:spLocks noChangeArrowheads="1"/>
            </p:cNvSpPr>
            <p:nvPr/>
          </p:nvSpPr>
          <p:spPr bwMode="auto">
            <a:xfrm>
              <a:off x="1967" y="2243"/>
              <a:ext cx="2516" cy="231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/>
                <a:t>Scale-normalized Laplacian response</a:t>
              </a:r>
            </a:p>
          </p:txBody>
        </p:sp>
      </p:grpSp>
      <p:pic>
        <p:nvPicPr>
          <p:cNvPr id="51205" name="Picture 9" descr="scale_unnorm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76400" y="1217614"/>
            <a:ext cx="8801100" cy="233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06" name="Text Box 6"/>
          <p:cNvSpPr txBox="1">
            <a:spLocks noChangeArrowheads="1"/>
          </p:cNvSpPr>
          <p:nvPr/>
        </p:nvSpPr>
        <p:spPr bwMode="auto">
          <a:xfrm>
            <a:off x="4813300" y="1122363"/>
            <a:ext cx="3638550" cy="36671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Unnormalized Laplacian response</a:t>
            </a:r>
          </a:p>
        </p:txBody>
      </p:sp>
      <p:sp>
        <p:nvSpPr>
          <p:cNvPr id="51207" name="Text Box 8"/>
          <p:cNvSpPr txBox="1">
            <a:spLocks noChangeArrowheads="1"/>
          </p:cNvSpPr>
          <p:nvPr/>
        </p:nvSpPr>
        <p:spPr bwMode="auto">
          <a:xfrm>
            <a:off x="1676400" y="1081088"/>
            <a:ext cx="1676400" cy="36671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800"/>
              <a:t>Original signal</a:t>
            </a:r>
          </a:p>
        </p:txBody>
      </p:sp>
      <p:sp>
        <p:nvSpPr>
          <p:cNvPr id="51208" name="Rectangle 10"/>
          <p:cNvSpPr>
            <a:spLocks noChangeArrowheads="1"/>
          </p:cNvSpPr>
          <p:nvPr/>
        </p:nvSpPr>
        <p:spPr bwMode="auto">
          <a:xfrm>
            <a:off x="2133600" y="3352800"/>
            <a:ext cx="685800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" name="Group 14"/>
          <p:cNvGrpSpPr>
            <a:grpSpLocks/>
          </p:cNvGrpSpPr>
          <p:nvPr/>
        </p:nvGrpSpPr>
        <p:grpSpPr bwMode="auto">
          <a:xfrm>
            <a:off x="7623175" y="5943600"/>
            <a:ext cx="1250950" cy="757238"/>
            <a:chOff x="3842" y="3744"/>
            <a:chExt cx="788" cy="477"/>
          </a:xfrm>
        </p:grpSpPr>
        <p:sp>
          <p:nvSpPr>
            <p:cNvPr id="51210" name="Text Box 11"/>
            <p:cNvSpPr txBox="1">
              <a:spLocks noChangeArrowheads="1"/>
            </p:cNvSpPr>
            <p:nvPr/>
          </p:nvSpPr>
          <p:spPr bwMode="auto">
            <a:xfrm>
              <a:off x="3842" y="3990"/>
              <a:ext cx="78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 b="1">
                  <a:solidFill>
                    <a:srgbClr val="FF0000"/>
                  </a:solidFill>
                </a:rPr>
                <a:t>maximum</a:t>
              </a:r>
            </a:p>
          </p:txBody>
        </p:sp>
        <p:sp>
          <p:nvSpPr>
            <p:cNvPr id="51211" name="Line 13"/>
            <p:cNvSpPr>
              <a:spLocks noChangeShapeType="1"/>
            </p:cNvSpPr>
            <p:nvPr/>
          </p:nvSpPr>
          <p:spPr bwMode="auto">
            <a:xfrm flipV="1">
              <a:off x="4272" y="3744"/>
              <a:ext cx="0" cy="288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D1BB77-D030-8F86-69FA-8CF0130B3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956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Blob Detection in 2D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en-US" dirty="0"/>
              <a:t>Laplacian of Gaussian: Circularly symmetric operator for blob detection in </a:t>
            </a:r>
            <a:r>
              <a:rPr lang="en-US" dirty="0" err="1"/>
              <a:t>2D</a:t>
            </a:r>
            <a:endParaRPr lang="en-US" dirty="0"/>
          </a:p>
        </p:txBody>
      </p:sp>
      <p:pic>
        <p:nvPicPr>
          <p:cNvPr id="20485" name="Picture 4" descr="log_color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67000" y="1828800"/>
            <a:ext cx="41148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86" name="Picture 5" descr="lo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543800" y="2293938"/>
            <a:ext cx="20574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0482" name="Object 6"/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576197759"/>
              </p:ext>
            </p:extLst>
          </p:nvPr>
        </p:nvGraphicFramePr>
        <p:xfrm>
          <a:off x="5030788" y="4987925"/>
          <a:ext cx="5180012" cy="158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74640" imgH="482400" progId="Equation.3">
                  <p:embed/>
                </p:oleObj>
              </mc:Choice>
              <mc:Fallback>
                <p:oleObj name="Equation" r:id="rId5" imgW="1574640" imgH="482400" progId="Equation.3">
                  <p:embed/>
                  <p:pic>
                    <p:nvPicPr>
                      <p:cNvPr id="2048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0788" y="4987925"/>
                        <a:ext cx="5180012" cy="1589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1839914" y="5500688"/>
            <a:ext cx="303688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Scale-normalized: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2A5665-7831-63F2-E599-9C3C93CEA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41505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Scale Selection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/>
            <a:r>
              <a:rPr lang="en-US" dirty="0"/>
              <a:t>At what scale does the Laplacian achieve a maximum response to a binary circle of radius r?</a:t>
            </a:r>
          </a:p>
        </p:txBody>
      </p:sp>
      <p:sp>
        <p:nvSpPr>
          <p:cNvPr id="53252" name="Rectangle 7"/>
          <p:cNvSpPr>
            <a:spLocks noChangeArrowheads="1"/>
          </p:cNvSpPr>
          <p:nvPr/>
        </p:nvSpPr>
        <p:spPr bwMode="auto">
          <a:xfrm>
            <a:off x="2057400" y="3048000"/>
            <a:ext cx="2362200" cy="2209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253" name="Oval 8"/>
          <p:cNvSpPr>
            <a:spLocks noChangeArrowheads="1"/>
          </p:cNvSpPr>
          <p:nvPr/>
        </p:nvSpPr>
        <p:spPr bwMode="auto">
          <a:xfrm>
            <a:off x="2590800" y="3505200"/>
            <a:ext cx="1295400" cy="1295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3254" name="Line 13"/>
          <p:cNvSpPr>
            <a:spLocks noChangeShapeType="1"/>
          </p:cNvSpPr>
          <p:nvPr/>
        </p:nvSpPr>
        <p:spPr bwMode="auto">
          <a:xfrm>
            <a:off x="3276600" y="4114800"/>
            <a:ext cx="609600" cy="0"/>
          </a:xfrm>
          <a:prstGeom prst="line">
            <a:avLst/>
          </a:prstGeom>
          <a:noFill/>
          <a:ln w="25400">
            <a:solidFill>
              <a:srgbClr val="FFFF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255" name="Text Box 14"/>
          <p:cNvSpPr txBox="1">
            <a:spLocks noChangeArrowheads="1"/>
          </p:cNvSpPr>
          <p:nvPr/>
        </p:nvSpPr>
        <p:spPr bwMode="auto">
          <a:xfrm>
            <a:off x="3352801" y="4038600"/>
            <a:ext cx="30321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>
                <a:solidFill>
                  <a:srgbClr val="FFFF00"/>
                </a:solidFill>
              </a:rPr>
              <a:t>r</a:t>
            </a:r>
          </a:p>
        </p:txBody>
      </p:sp>
      <p:sp>
        <p:nvSpPr>
          <p:cNvPr id="53256" name="Text Box 19"/>
          <p:cNvSpPr txBox="1">
            <a:spLocks noChangeArrowheads="1"/>
          </p:cNvSpPr>
          <p:nvPr/>
        </p:nvSpPr>
        <p:spPr bwMode="auto">
          <a:xfrm>
            <a:off x="2895600" y="5334000"/>
            <a:ext cx="806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image</a:t>
            </a:r>
          </a:p>
        </p:txBody>
      </p:sp>
      <p:pic>
        <p:nvPicPr>
          <p:cNvPr id="53257" name="Picture 4" descr="log_color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10400" y="2895600"/>
            <a:ext cx="3276600" cy="245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3258" name="Picture 5" descr="lo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29200" y="3124200"/>
            <a:ext cx="20574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3259" name="Text Box 19"/>
          <p:cNvSpPr txBox="1">
            <a:spLocks noChangeArrowheads="1"/>
          </p:cNvSpPr>
          <p:nvPr/>
        </p:nvSpPr>
        <p:spPr bwMode="auto">
          <a:xfrm>
            <a:off x="6781801" y="5334001"/>
            <a:ext cx="117157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Laplacian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E80CFC-59BF-A1A5-CFEC-90C6C21C9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67893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Scale Selection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US" sz="2400"/>
              <a:t>At what scale does the Laplacian achieve a maximum response to a binary circle of radius r?</a:t>
            </a:r>
          </a:p>
          <a:p>
            <a:pPr>
              <a:buFontTx/>
              <a:buChar char="•"/>
            </a:pPr>
            <a:r>
              <a:rPr lang="en-US" sz="2400"/>
              <a:t>To get maximum response, the zeros of the Laplacian have to be aligned with the circle</a:t>
            </a:r>
          </a:p>
          <a:p>
            <a:pPr>
              <a:buFontTx/>
              <a:buChar char="•"/>
            </a:pPr>
            <a:r>
              <a:rPr lang="en-US" sz="2400"/>
              <a:t>The Laplacian is given by (up to scale):</a:t>
            </a:r>
            <a:br>
              <a:rPr lang="en-US" sz="2400"/>
            </a:br>
            <a:br>
              <a:rPr lang="en-US" sz="1600"/>
            </a:br>
            <a:endParaRPr lang="en-US" sz="1600"/>
          </a:p>
          <a:p>
            <a:pPr>
              <a:buFontTx/>
              <a:buChar char="•"/>
            </a:pPr>
            <a:r>
              <a:rPr lang="en-US" sz="2400"/>
              <a:t>Therefore, the maximum response occurs at </a:t>
            </a:r>
          </a:p>
          <a:p>
            <a:pPr>
              <a:buFontTx/>
              <a:buChar char="•"/>
            </a:pPr>
            <a:endParaRPr lang="en-US" sz="2400"/>
          </a:p>
          <a:p>
            <a:pPr>
              <a:buFontTx/>
              <a:buChar char="•"/>
            </a:pPr>
            <a:endParaRPr lang="en-US" sz="2400"/>
          </a:p>
        </p:txBody>
      </p:sp>
      <p:sp>
        <p:nvSpPr>
          <p:cNvPr id="21510" name="Rectangle 7"/>
          <p:cNvSpPr>
            <a:spLocks noChangeArrowheads="1"/>
          </p:cNvSpPr>
          <p:nvPr/>
        </p:nvSpPr>
        <p:spPr bwMode="auto">
          <a:xfrm>
            <a:off x="2057400" y="4049713"/>
            <a:ext cx="2362200" cy="2209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11" name="Oval 8"/>
          <p:cNvSpPr>
            <a:spLocks noChangeArrowheads="1"/>
          </p:cNvSpPr>
          <p:nvPr/>
        </p:nvSpPr>
        <p:spPr bwMode="auto">
          <a:xfrm>
            <a:off x="2590800" y="4506913"/>
            <a:ext cx="1295400" cy="1295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12" name="Line 13"/>
          <p:cNvSpPr>
            <a:spLocks noChangeShapeType="1"/>
          </p:cNvSpPr>
          <p:nvPr/>
        </p:nvSpPr>
        <p:spPr bwMode="auto">
          <a:xfrm>
            <a:off x="3276600" y="5116513"/>
            <a:ext cx="609600" cy="0"/>
          </a:xfrm>
          <a:prstGeom prst="line">
            <a:avLst/>
          </a:prstGeom>
          <a:noFill/>
          <a:ln w="25400">
            <a:solidFill>
              <a:srgbClr val="FFFF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513" name="Text Box 14"/>
          <p:cNvSpPr txBox="1">
            <a:spLocks noChangeArrowheads="1"/>
          </p:cNvSpPr>
          <p:nvPr/>
        </p:nvSpPr>
        <p:spPr bwMode="auto">
          <a:xfrm>
            <a:off x="3352801" y="5040313"/>
            <a:ext cx="30321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>
                <a:solidFill>
                  <a:srgbClr val="FFFF00"/>
                </a:solidFill>
              </a:rPr>
              <a:t>r</a:t>
            </a:r>
          </a:p>
        </p:txBody>
      </p:sp>
      <p:sp>
        <p:nvSpPr>
          <p:cNvPr id="21514" name="Text Box 19"/>
          <p:cNvSpPr txBox="1">
            <a:spLocks noChangeArrowheads="1"/>
          </p:cNvSpPr>
          <p:nvPr/>
        </p:nvSpPr>
        <p:spPr bwMode="auto">
          <a:xfrm>
            <a:off x="2895600" y="6335713"/>
            <a:ext cx="806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image</a:t>
            </a:r>
          </a:p>
        </p:txBody>
      </p:sp>
      <p:graphicFrame>
        <p:nvGraphicFramePr>
          <p:cNvPr id="150530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6786093"/>
              </p:ext>
            </p:extLst>
          </p:nvPr>
        </p:nvGraphicFramePr>
        <p:xfrm>
          <a:off x="3810000" y="2895600"/>
          <a:ext cx="4038600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63560" imgH="253800" progId="Equation.3">
                  <p:embed/>
                </p:oleObj>
              </mc:Choice>
              <mc:Fallback>
                <p:oleObj name="Equation" r:id="rId3" imgW="1663560" imgH="253800" progId="Equation.3">
                  <p:embed/>
                  <p:pic>
                    <p:nvPicPr>
                      <p:cNvPr id="15053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2895600"/>
                        <a:ext cx="4038600" cy="615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03" name="Object 15360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0006595"/>
              </p:ext>
            </p:extLst>
          </p:nvPr>
        </p:nvGraphicFramePr>
        <p:xfrm>
          <a:off x="8580439" y="3363914"/>
          <a:ext cx="1660525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85800" imgH="215640" progId="Equation.3">
                  <p:embed/>
                </p:oleObj>
              </mc:Choice>
              <mc:Fallback>
                <p:oleObj name="Equation" r:id="rId5" imgW="685800" imgH="215640" progId="Equation.3">
                  <p:embed/>
                  <p:pic>
                    <p:nvPicPr>
                      <p:cNvPr id="153603" name="Object 1536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80439" y="3363914"/>
                        <a:ext cx="1660525" cy="522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515" name="Group 19"/>
          <p:cNvGrpSpPr>
            <a:grpSpLocks/>
          </p:cNvGrpSpPr>
          <p:nvPr/>
        </p:nvGrpSpPr>
        <p:grpSpPr bwMode="auto">
          <a:xfrm>
            <a:off x="5350834" y="3962400"/>
            <a:ext cx="3975731" cy="2672712"/>
            <a:chOff x="3778710" y="3740117"/>
            <a:chExt cx="4298490" cy="2889283"/>
          </a:xfrm>
        </p:grpSpPr>
        <p:sp>
          <p:nvSpPr>
            <p:cNvPr id="21516" name="Freeform 13"/>
            <p:cNvSpPr>
              <a:spLocks/>
            </p:cNvSpPr>
            <p:nvPr/>
          </p:nvSpPr>
          <p:spPr bwMode="auto">
            <a:xfrm>
              <a:off x="4996303" y="3740117"/>
              <a:ext cx="2636355" cy="1456840"/>
            </a:xfrm>
            <a:custGeom>
              <a:avLst/>
              <a:gdLst>
                <a:gd name="T0" fmla="*/ 0 w 3146156"/>
                <a:gd name="T1" fmla="*/ 0 h 1456840"/>
                <a:gd name="T2" fmla="*/ 818179 w 3146156"/>
                <a:gd name="T3" fmla="*/ 0 h 1456840"/>
                <a:gd name="T4" fmla="*/ 818179 w 3146156"/>
                <a:gd name="T5" fmla="*/ 1456840 h 1456840"/>
                <a:gd name="T6" fmla="*/ 1792202 w 3146156"/>
                <a:gd name="T7" fmla="*/ 1456840 h 1456840"/>
                <a:gd name="T8" fmla="*/ 1792202 w 3146156"/>
                <a:gd name="T9" fmla="*/ 0 h 1456840"/>
                <a:gd name="T10" fmla="*/ 2636355 w 3146156"/>
                <a:gd name="T11" fmla="*/ 0 h 145684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46156"/>
                <a:gd name="T19" fmla="*/ 0 h 1456840"/>
                <a:gd name="T20" fmla="*/ 3146156 w 3146156"/>
                <a:gd name="T21" fmla="*/ 1456840 h 145684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46156" h="1456840">
                  <a:moveTo>
                    <a:pt x="0" y="0"/>
                  </a:moveTo>
                  <a:lnTo>
                    <a:pt x="976393" y="0"/>
                  </a:lnTo>
                  <a:lnTo>
                    <a:pt x="976393" y="1456840"/>
                  </a:lnTo>
                  <a:lnTo>
                    <a:pt x="2138766" y="1456840"/>
                  </a:lnTo>
                  <a:lnTo>
                    <a:pt x="2138766" y="0"/>
                  </a:lnTo>
                  <a:lnTo>
                    <a:pt x="3146156" y="0"/>
                  </a:lnTo>
                </a:path>
              </a:pathLst>
            </a:cu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17" name="Freeform 14"/>
            <p:cNvSpPr>
              <a:spLocks/>
            </p:cNvSpPr>
            <p:nvPr/>
          </p:nvSpPr>
          <p:spPr bwMode="auto">
            <a:xfrm>
              <a:off x="4525505" y="4234365"/>
              <a:ext cx="3551695" cy="2395035"/>
            </a:xfrm>
            <a:custGeom>
              <a:avLst/>
              <a:gdLst>
                <a:gd name="T0" fmla="*/ 0 w 3551695"/>
                <a:gd name="T1" fmla="*/ 560190 h 2806917"/>
                <a:gd name="T2" fmla="*/ 402956 w 3551695"/>
                <a:gd name="T3" fmla="*/ 375053 h 2806917"/>
                <a:gd name="T4" fmla="*/ 884695 w 3551695"/>
                <a:gd name="T5" fmla="*/ 54367 h 2806917"/>
                <a:gd name="T6" fmla="*/ 1189498 w 3551695"/>
                <a:gd name="T7" fmla="*/ 574515 h 2806917"/>
                <a:gd name="T8" fmla="*/ 1494298 w 3551695"/>
                <a:gd name="T9" fmla="*/ 1939905 h 2806917"/>
                <a:gd name="T10" fmla="*/ 1799098 w 3551695"/>
                <a:gd name="T11" fmla="*/ 2395035 h 2806917"/>
                <a:gd name="T12" fmla="*/ 2103895 w 3551695"/>
                <a:gd name="T13" fmla="*/ 1939905 h 2806917"/>
                <a:gd name="T14" fmla="*/ 2355743 w 3551695"/>
                <a:gd name="T15" fmla="*/ 705656 h 2806917"/>
                <a:gd name="T16" fmla="*/ 2713495 w 3551695"/>
                <a:gd name="T17" fmla="*/ 54366 h 2806917"/>
                <a:gd name="T18" fmla="*/ 3170695 w 3551695"/>
                <a:gd name="T19" fmla="*/ 379459 h 2806917"/>
                <a:gd name="T20" fmla="*/ 3551695 w 3551695"/>
                <a:gd name="T21" fmla="*/ 574515 h 280691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551695"/>
                <a:gd name="T34" fmla="*/ 0 h 2806917"/>
                <a:gd name="T35" fmla="*/ 3551695 w 3551695"/>
                <a:gd name="T36" fmla="*/ 2806917 h 280691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551695" h="2806917">
                  <a:moveTo>
                    <a:pt x="0" y="656528"/>
                  </a:moveTo>
                  <a:cubicBezTo>
                    <a:pt x="134319" y="584203"/>
                    <a:pt x="255507" y="538354"/>
                    <a:pt x="402956" y="439552"/>
                  </a:cubicBezTo>
                  <a:cubicBezTo>
                    <a:pt x="550405" y="340750"/>
                    <a:pt x="753605" y="24756"/>
                    <a:pt x="884695" y="63717"/>
                  </a:cubicBezTo>
                  <a:cubicBezTo>
                    <a:pt x="1015785" y="102678"/>
                    <a:pt x="1087895" y="305016"/>
                    <a:pt x="1189495" y="673316"/>
                  </a:cubicBezTo>
                  <a:cubicBezTo>
                    <a:pt x="1291095" y="1041616"/>
                    <a:pt x="1392695" y="1917916"/>
                    <a:pt x="1494295" y="2273516"/>
                  </a:cubicBezTo>
                  <a:cubicBezTo>
                    <a:pt x="1595895" y="2629116"/>
                    <a:pt x="1697495" y="2806917"/>
                    <a:pt x="1799095" y="2806917"/>
                  </a:cubicBezTo>
                  <a:cubicBezTo>
                    <a:pt x="1900695" y="2806917"/>
                    <a:pt x="2011121" y="2603500"/>
                    <a:pt x="2103895" y="2273516"/>
                  </a:cubicBezTo>
                  <a:cubicBezTo>
                    <a:pt x="2196669" y="1943532"/>
                    <a:pt x="2255003" y="1242881"/>
                    <a:pt x="2355742" y="827010"/>
                  </a:cubicBezTo>
                  <a:cubicBezTo>
                    <a:pt x="2451315" y="418242"/>
                    <a:pt x="2577670" y="127432"/>
                    <a:pt x="2713495" y="63716"/>
                  </a:cubicBezTo>
                  <a:cubicBezTo>
                    <a:pt x="2849320" y="0"/>
                    <a:pt x="3030995" y="343116"/>
                    <a:pt x="3170695" y="444716"/>
                  </a:cubicBezTo>
                  <a:cubicBezTo>
                    <a:pt x="3310395" y="546316"/>
                    <a:pt x="3474204" y="626821"/>
                    <a:pt x="3551695" y="673316"/>
                  </a:cubicBezTo>
                </a:path>
              </a:pathLst>
            </a:custGeom>
            <a:noFill/>
            <a:ln w="381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18" name="Text Box 19"/>
            <p:cNvSpPr txBox="1">
              <a:spLocks noChangeArrowheads="1"/>
            </p:cNvSpPr>
            <p:nvPr/>
          </p:nvSpPr>
          <p:spPr bwMode="auto">
            <a:xfrm>
              <a:off x="3778710" y="4112156"/>
              <a:ext cx="781992" cy="399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 dirty="0"/>
                <a:t>circle</a:t>
              </a:r>
            </a:p>
          </p:txBody>
        </p:sp>
        <p:sp>
          <p:nvSpPr>
            <p:cNvPr id="21519" name="Text Box 19"/>
            <p:cNvSpPr txBox="1">
              <a:spLocks noChangeArrowheads="1"/>
            </p:cNvSpPr>
            <p:nvPr/>
          </p:nvSpPr>
          <p:spPr bwMode="auto">
            <a:xfrm>
              <a:off x="4172441" y="5677272"/>
              <a:ext cx="1267271" cy="399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/>
                <a:t>Laplacian</a:t>
              </a:r>
            </a:p>
          </p:txBody>
        </p:sp>
        <p:cxnSp>
          <p:nvCxnSpPr>
            <p:cNvPr id="21520" name="Straight Arrow Connector 17"/>
            <p:cNvCxnSpPr>
              <a:cxnSpLocks noChangeShapeType="1"/>
            </p:cNvCxnSpPr>
            <p:nvPr/>
          </p:nvCxnSpPr>
          <p:spPr bwMode="auto">
            <a:xfrm flipV="1">
              <a:off x="4466684" y="3834506"/>
              <a:ext cx="776777" cy="399859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cxnSp>
          <p:nvCxnSpPr>
            <p:cNvPr id="21521" name="Straight Arrow Connector 18"/>
            <p:cNvCxnSpPr>
              <a:cxnSpLocks noChangeShapeType="1"/>
              <a:stCxn id="21519" idx="3"/>
            </p:cNvCxnSpPr>
            <p:nvPr/>
          </p:nvCxnSpPr>
          <p:spPr bwMode="auto">
            <a:xfrm flipV="1">
              <a:off x="5439712" y="5741805"/>
              <a:ext cx="362045" cy="135096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</p:grpSp>
      <p:cxnSp>
        <p:nvCxnSpPr>
          <p:cNvPr id="21" name="Straight Connector 20"/>
          <p:cNvCxnSpPr/>
          <p:nvPr/>
        </p:nvCxnSpPr>
        <p:spPr bwMode="auto">
          <a:xfrm>
            <a:off x="6705600" y="5303520"/>
            <a:ext cx="19812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22" name="Text Box 19"/>
          <p:cNvSpPr txBox="1">
            <a:spLocks noChangeArrowheads="1"/>
          </p:cNvSpPr>
          <p:nvPr/>
        </p:nvSpPr>
        <p:spPr bwMode="auto">
          <a:xfrm>
            <a:off x="8627433" y="5068552"/>
            <a:ext cx="31290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 dirty="0"/>
              <a:t>0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D71121-8E9D-2426-D480-8C71A286F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583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build="p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5650BA-D326-975B-C836-A15811F5E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B6091F-1D79-4D8F-AA52-BBC1BB2C256A}" type="slidenum">
              <a:rPr lang="en-US" smtClean="0"/>
              <a:pPr>
                <a:defRPr/>
              </a:pPr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20969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 Scale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en-US" dirty="0"/>
              <a:t>We define the characteristic scale of a blob as the scale that produces peak of Laplacian response in the blob center</a:t>
            </a:r>
          </a:p>
        </p:txBody>
      </p:sp>
      <p:grpSp>
        <p:nvGrpSpPr>
          <p:cNvPr id="54276" name="Group 16"/>
          <p:cNvGrpSpPr>
            <a:grpSpLocks/>
          </p:cNvGrpSpPr>
          <p:nvPr/>
        </p:nvGrpSpPr>
        <p:grpSpPr bwMode="auto">
          <a:xfrm>
            <a:off x="3429000" y="2413000"/>
            <a:ext cx="5486400" cy="2768600"/>
            <a:chOff x="576" y="1184"/>
            <a:chExt cx="4464" cy="2252"/>
          </a:xfrm>
        </p:grpSpPr>
        <p:pic>
          <p:nvPicPr>
            <p:cNvPr id="54281" name="Picture 15" descr="scale_selection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76" y="1184"/>
              <a:ext cx="4464" cy="2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4282" name="Oval 8"/>
            <p:cNvSpPr>
              <a:spLocks noChangeArrowheads="1"/>
            </p:cNvSpPr>
            <p:nvPr/>
          </p:nvSpPr>
          <p:spPr bwMode="auto">
            <a:xfrm>
              <a:off x="1349" y="1863"/>
              <a:ext cx="706" cy="685"/>
            </a:xfrm>
            <a:prstGeom prst="ellips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4277" name="Line 10"/>
          <p:cNvSpPr>
            <a:spLocks noChangeShapeType="1"/>
          </p:cNvSpPr>
          <p:nvPr/>
        </p:nvSpPr>
        <p:spPr bwMode="auto">
          <a:xfrm flipH="1" flipV="1">
            <a:off x="4876800" y="4129088"/>
            <a:ext cx="381000" cy="1509712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4278" name="Line 11"/>
          <p:cNvSpPr>
            <a:spLocks noChangeShapeType="1"/>
          </p:cNvSpPr>
          <p:nvPr/>
        </p:nvSpPr>
        <p:spPr bwMode="auto">
          <a:xfrm flipV="1">
            <a:off x="7772400" y="5029200"/>
            <a:ext cx="228600" cy="68580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4279" name="Text Box 12"/>
          <p:cNvSpPr txBox="1">
            <a:spLocks noChangeArrowheads="1"/>
          </p:cNvSpPr>
          <p:nvPr/>
        </p:nvSpPr>
        <p:spPr bwMode="auto">
          <a:xfrm>
            <a:off x="4635500" y="5500688"/>
            <a:ext cx="32131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characteristic scale</a:t>
            </a:r>
          </a:p>
        </p:txBody>
      </p:sp>
      <p:sp>
        <p:nvSpPr>
          <p:cNvPr id="54280" name="Rectangle 17"/>
          <p:cNvSpPr>
            <a:spLocks noChangeArrowheads="1"/>
          </p:cNvSpPr>
          <p:nvPr/>
        </p:nvSpPr>
        <p:spPr bwMode="auto">
          <a:xfrm>
            <a:off x="304800" y="6156326"/>
            <a:ext cx="116586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/>
            <a:r>
              <a:rPr lang="en-US" sz="2000" dirty="0"/>
              <a:t>T. </a:t>
            </a:r>
            <a:r>
              <a:rPr lang="en-US" sz="2000" dirty="0" err="1"/>
              <a:t>Lindeberg</a:t>
            </a:r>
            <a:r>
              <a:rPr lang="en-US" sz="2000" dirty="0"/>
              <a:t> (1998). </a:t>
            </a:r>
            <a:r>
              <a:rPr lang="en-US" sz="2000" dirty="0">
                <a:hlinkClick r:id="rId4" tooltip="http://www.nada.kth.se/cvap/abstracts/cvap198.html"/>
              </a:rPr>
              <a:t>"Feature detection with automatic scale selection."</a:t>
            </a:r>
            <a:r>
              <a:rPr lang="en-US" sz="2000" dirty="0"/>
              <a:t> </a:t>
            </a:r>
            <a:r>
              <a:rPr lang="en-US" sz="2000" i="1" dirty="0"/>
              <a:t>International Journal of Computer Vision</a:t>
            </a:r>
            <a:r>
              <a:rPr lang="en-US" sz="2000" dirty="0"/>
              <a:t> </a:t>
            </a:r>
            <a:r>
              <a:rPr lang="en-US" sz="2000" b="1" dirty="0"/>
              <a:t>30</a:t>
            </a:r>
            <a:r>
              <a:rPr lang="en-US" sz="2000" dirty="0"/>
              <a:t> (2): pp 77--116.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43BA73-CEE1-9A2C-0ADF-5A3396E9C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18927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Scale-Space Blob Detector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>
              <a:buFontTx/>
              <a:buAutoNum type="arabicPeriod"/>
            </a:pPr>
            <a:r>
              <a:rPr lang="en-US" dirty="0"/>
              <a:t>Convolve image with scale-normalized </a:t>
            </a:r>
            <a:r>
              <a:rPr lang="en-US" dirty="0" err="1"/>
              <a:t>Laplacian</a:t>
            </a:r>
            <a:r>
              <a:rPr lang="en-US" dirty="0"/>
              <a:t> at several scales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C3A017-2D02-6DC6-B200-3DFC195F8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45838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Scale-Space Blob Detector: Example</a:t>
            </a:r>
          </a:p>
        </p:txBody>
      </p:sp>
      <p:pic>
        <p:nvPicPr>
          <p:cNvPr id="56323" name="Picture 4" descr="butterfly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81400" y="1752600"/>
            <a:ext cx="5181600" cy="3741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73E66E-D255-BC21-6510-3D77FE266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53568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Scale-Space Blob Detector: Example</a:t>
            </a:r>
          </a:p>
        </p:txBody>
      </p:sp>
      <p:pic>
        <p:nvPicPr>
          <p:cNvPr id="1262596" name="Picture 4" descr="pyramid_1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38438" y="1214438"/>
            <a:ext cx="6864350" cy="5148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62597" name="Picture 5" descr="pyramid_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738438" y="1214438"/>
            <a:ext cx="6864350" cy="5148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62598" name="Picture 6" descr="pyramid_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738438" y="1214438"/>
            <a:ext cx="6864350" cy="5148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62599" name="Picture 7" descr="pyramid_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738438" y="1214438"/>
            <a:ext cx="6864350" cy="5148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62600" name="Picture 8" descr="pyramid_4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738438" y="1214438"/>
            <a:ext cx="6864350" cy="5148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62601" name="Picture 9" descr="pyramid_5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738438" y="1214438"/>
            <a:ext cx="6864350" cy="5148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62602" name="Picture 10" descr="pyramid_6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2738438" y="1214438"/>
            <a:ext cx="6864350" cy="5148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62603" name="Picture 11" descr="pyramid_7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2738438" y="1214438"/>
            <a:ext cx="6864350" cy="5148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62604" name="Picture 12" descr="pyramid_8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2738438" y="1214438"/>
            <a:ext cx="6864350" cy="5148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62605" name="Picture 13" descr="pyramid_9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2738438" y="1214438"/>
            <a:ext cx="6864350" cy="5148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9DCA2D-F0DF-C612-D163-B8AD579D5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557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Scale-Space Blob Detector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>
              <a:buFontTx/>
              <a:buAutoNum type="arabicPeriod"/>
            </a:pPr>
            <a:r>
              <a:rPr lang="en-US"/>
              <a:t>Convolve image with scale-normalized Laplacian at several scales</a:t>
            </a:r>
          </a:p>
          <a:p>
            <a:pPr marL="533400" indent="-533400">
              <a:buFontTx/>
              <a:buAutoNum type="arabicPeriod"/>
            </a:pPr>
            <a:r>
              <a:rPr lang="en-US"/>
              <a:t>Find maxima of squared Laplacian response in scale-space</a:t>
            </a:r>
          </a:p>
        </p:txBody>
      </p:sp>
      <p:pic>
        <p:nvPicPr>
          <p:cNvPr id="55300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00600" y="2819400"/>
            <a:ext cx="2857500" cy="2609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6DED22-3DB2-57AA-79D4-66296EF35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42661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Scale-Space Blob Detector: Example</a:t>
            </a:r>
          </a:p>
        </p:txBody>
      </p:sp>
      <p:pic>
        <p:nvPicPr>
          <p:cNvPr id="58371" name="Picture 4" descr="butterfly_circle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14738" y="1771650"/>
            <a:ext cx="5148262" cy="371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CAD700-0CB2-C8EC-91C6-7E3178EDC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8768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C562A-491A-7E32-8108-4D5F7CFCB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Coin Detection Problem.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BAC36-DFB9-363D-3300-1A26D69C4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1" y="914400"/>
            <a:ext cx="7086600" cy="5257800"/>
          </a:xfrm>
        </p:spPr>
        <p:txBody>
          <a:bodyPr/>
          <a:lstStyle/>
          <a:p>
            <a:pPr marL="0" indent="0">
              <a:tabLst>
                <a:tab pos="0" algn="l"/>
              </a:tabLst>
            </a:pPr>
            <a:r>
              <a:rPr lang="en-US" dirty="0"/>
              <a:t>Assume that we are given an image containing more than one each of quarters, dimes, nickels, and pennies. Also, you are given template images of these coins in a standard 300x300 canvas.</a:t>
            </a:r>
          </a:p>
          <a:p>
            <a:pPr marL="0" indent="0">
              <a:tabLst>
                <a:tab pos="0" algn="l"/>
              </a:tabLst>
            </a:pPr>
            <a:r>
              <a:rPr lang="en-US" dirty="0"/>
              <a:t>Your task is to detect each coin and tell me the amount of money represented in the image.</a:t>
            </a:r>
          </a:p>
          <a:p>
            <a:pPr marL="0" indent="0">
              <a:tabLst>
                <a:tab pos="0" algn="l"/>
              </a:tabLst>
            </a:pPr>
            <a:r>
              <a:rPr lang="en-US" dirty="0"/>
              <a:t>Then, tell me what the assumptions are.</a:t>
            </a:r>
          </a:p>
          <a:p>
            <a:pPr marL="0" indent="0">
              <a:tabLst>
                <a:tab pos="0" algn="l"/>
              </a:tabLst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6F280F-B4D7-81E5-7F09-8D3B9F90D6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9094" y="0"/>
            <a:ext cx="5184098" cy="1897380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58C1392E-1485-C45E-2194-983E8C85C06A}"/>
              </a:ext>
            </a:extLst>
          </p:cNvPr>
          <p:cNvGrpSpPr/>
          <p:nvPr/>
        </p:nvGrpSpPr>
        <p:grpSpPr>
          <a:xfrm>
            <a:off x="7797607" y="2561129"/>
            <a:ext cx="4089593" cy="3915871"/>
            <a:chOff x="7797607" y="2953380"/>
            <a:chExt cx="4089593" cy="3915871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1355502-5A58-5870-ED19-E82BD1B856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97607" y="2953380"/>
              <a:ext cx="4089593" cy="289116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3ECDEB8-7EBE-6BF2-4FEE-BC42F2DD55D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97607" y="5954851"/>
              <a:ext cx="914400" cy="9144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3A175DB-CF88-9AC3-1CE7-F35E36B7957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72800" y="5954851"/>
              <a:ext cx="914400" cy="91440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7223016A-2064-3416-8778-433919F0E20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56005" y="5954851"/>
              <a:ext cx="914400" cy="91440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1C535B2-E66E-EA6D-8E27-C0FCBEB8D2C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14403" y="5954851"/>
              <a:ext cx="914400" cy="914400"/>
            </a:xfrm>
            <a:prstGeom prst="rect">
              <a:avLst/>
            </a:prstGeom>
          </p:spPr>
        </p:pic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E65B66-4788-3FC0-7681-150B7DFF1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91043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1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en-US" dirty="0"/>
              <a:t>Approximating the </a:t>
            </a:r>
            <a:r>
              <a:rPr lang="en-US" dirty="0" err="1"/>
              <a:t>Laplacian</a:t>
            </a:r>
            <a:r>
              <a:rPr lang="en-US" dirty="0"/>
              <a:t> with a difference of Gaussians:</a:t>
            </a:r>
          </a:p>
        </p:txBody>
      </p:sp>
      <p:graphicFrame>
        <p:nvGraphicFramePr>
          <p:cNvPr id="22530" name="Object 5"/>
          <p:cNvGraphicFramePr>
            <a:graphicFrameLocks noChangeAspect="1"/>
          </p:cNvGraphicFramePr>
          <p:nvPr/>
        </p:nvGraphicFramePr>
        <p:xfrm>
          <a:off x="1981200" y="2590801"/>
          <a:ext cx="4311650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20760" imgH="279360" progId="">
                  <p:embed/>
                </p:oleObj>
              </mc:Choice>
              <mc:Fallback>
                <p:oleObj name="Equation" r:id="rId3" imgW="2120760" imgH="279360" progId="">
                  <p:embed/>
                  <p:pic>
                    <p:nvPicPr>
                      <p:cNvPr id="2253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2590801"/>
                        <a:ext cx="4311650" cy="5699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1" name="Object 6"/>
          <p:cNvGraphicFramePr>
            <a:graphicFrameLocks noChangeAspect="1"/>
          </p:cNvGraphicFramePr>
          <p:nvPr/>
        </p:nvGraphicFramePr>
        <p:xfrm>
          <a:off x="1981200" y="3794126"/>
          <a:ext cx="3886200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917360" imgH="203040" progId="">
                  <p:embed/>
                </p:oleObj>
              </mc:Choice>
              <mc:Fallback>
                <p:oleObj name="Equation" r:id="rId5" imgW="1917360" imgH="203040" progId="">
                  <p:embed/>
                  <p:pic>
                    <p:nvPicPr>
                      <p:cNvPr id="22531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3794126"/>
                        <a:ext cx="3886200" cy="4111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533" name="Picture 10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477000" y="2286001"/>
            <a:ext cx="3810000" cy="301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534" name="Text Box 12"/>
          <p:cNvSpPr txBox="1">
            <a:spLocks noChangeArrowheads="1"/>
          </p:cNvSpPr>
          <p:nvPr/>
        </p:nvSpPr>
        <p:spPr bwMode="auto">
          <a:xfrm>
            <a:off x="2133600" y="3124201"/>
            <a:ext cx="13525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/>
            <a:r>
              <a:rPr lang="en-US" sz="200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(Laplacian)</a:t>
            </a:r>
            <a:endParaRPr lang="ru-RU" sz="2000">
              <a:solidFill>
                <a:srgbClr val="0033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535" name="Text Box 13"/>
          <p:cNvSpPr txBox="1">
            <a:spLocks noChangeArrowheads="1"/>
          </p:cNvSpPr>
          <p:nvPr/>
        </p:nvSpPr>
        <p:spPr bwMode="auto">
          <a:xfrm>
            <a:off x="2073276" y="4175126"/>
            <a:ext cx="28035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/>
            <a:r>
              <a:rPr lang="en-US" sz="200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(Difference of Gaussians)</a:t>
            </a:r>
            <a:endParaRPr lang="ru-RU" sz="2000">
              <a:solidFill>
                <a:srgbClr val="0033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536" name="Rectangle 1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Efficient Implementation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C33194-A3AF-3B87-80EA-B9F642995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42271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54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3276600" y="1143001"/>
          <a:ext cx="5784850" cy="425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8032176" imgH="5906012" progId="PBrush">
                  <p:embed/>
                </p:oleObj>
              </mc:Choice>
              <mc:Fallback>
                <p:oleObj name="Bitmap Image" r:id="rId3" imgW="8032176" imgH="5906012" progId="PBrush">
                  <p:embed/>
                  <p:pic>
                    <p:nvPicPr>
                      <p:cNvPr id="2355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1143001"/>
                        <a:ext cx="5784850" cy="4252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Efficient Implementation</a:t>
            </a:r>
          </a:p>
        </p:txBody>
      </p:sp>
      <p:sp>
        <p:nvSpPr>
          <p:cNvPr id="23556" name="Rectangle 5"/>
          <p:cNvSpPr>
            <a:spLocks noChangeArrowheads="1"/>
          </p:cNvSpPr>
          <p:nvPr/>
        </p:nvSpPr>
        <p:spPr bwMode="auto">
          <a:xfrm>
            <a:off x="133350" y="6445405"/>
            <a:ext cx="119538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/>
            <a:r>
              <a:rPr lang="en-US" sz="1800" dirty="0"/>
              <a:t>David G. Lowe. </a:t>
            </a:r>
            <a:r>
              <a:rPr lang="en-US" sz="1800" b="1" dirty="0">
                <a:hlinkClick r:id="rId5"/>
              </a:rPr>
              <a:t>"Distinctive image features from scale-invariant </a:t>
            </a:r>
            <a:r>
              <a:rPr lang="en-US" sz="1800" b="1" dirty="0" err="1">
                <a:hlinkClick r:id="rId5"/>
              </a:rPr>
              <a:t>keypoints</a:t>
            </a:r>
            <a:r>
              <a:rPr lang="en-US" sz="1800" b="1" dirty="0">
                <a:hlinkClick r:id="rId5"/>
              </a:rPr>
              <a:t>.”</a:t>
            </a:r>
            <a:r>
              <a:rPr lang="en-US" sz="1800" b="1" dirty="0"/>
              <a:t> </a:t>
            </a:r>
            <a:r>
              <a:rPr lang="en-US" sz="1800" i="1" dirty="0"/>
              <a:t>IJCV</a:t>
            </a:r>
            <a:r>
              <a:rPr lang="en-US" sz="1800" dirty="0"/>
              <a:t> 60 (2), pp. 91-110, 2004.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E75D06-9C7C-84D8-DF81-57504FA8A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66723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300" dirty="0">
                <a:ea typeface="굴림" pitchFamily="34" charset="-127"/>
              </a:rPr>
              <a:t>From Feature Detection to Feature Description</a:t>
            </a:r>
            <a:endParaRPr lang="en-US" sz="3300" dirty="0"/>
          </a:p>
        </p:txBody>
      </p:sp>
      <p:sp>
        <p:nvSpPr>
          <p:cNvPr id="583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>
              <a:buFontTx/>
              <a:buChar char="•"/>
            </a:pPr>
            <a:r>
              <a:rPr lang="en-US" sz="2400" dirty="0"/>
              <a:t>Scaled and rotated versions of the same neighborhood will give rise to blobs that are related by the same transformation</a:t>
            </a:r>
          </a:p>
          <a:p>
            <a:pPr marL="609600" indent="-609600">
              <a:buFontTx/>
              <a:buChar char="•"/>
            </a:pPr>
            <a:r>
              <a:rPr lang="en-US" sz="2400" dirty="0"/>
              <a:t>What to do if we want to compare the appearance of these image regions?</a:t>
            </a:r>
          </a:p>
          <a:p>
            <a:pPr marL="1009650" lvl="1" indent="-609600"/>
            <a:r>
              <a:rPr lang="en-US" sz="2400" i="1" dirty="0"/>
              <a:t>Normalization</a:t>
            </a:r>
            <a:r>
              <a:rPr lang="en-US" sz="2400" dirty="0"/>
              <a:t>: transform these regions into same-size circles</a:t>
            </a:r>
          </a:p>
          <a:p>
            <a:pPr marL="1009650" lvl="1" indent="-609600"/>
            <a:r>
              <a:rPr lang="en-US" sz="2400" dirty="0"/>
              <a:t>Problem: rotational ambiguity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889240" y="4648200"/>
            <a:ext cx="4892561" cy="1371600"/>
            <a:chOff x="152400" y="4419600"/>
            <a:chExt cx="5410200" cy="1516717"/>
          </a:xfrm>
        </p:grpSpPr>
        <p:pic>
          <p:nvPicPr>
            <p:cNvPr id="6" name="Picture 4"/>
            <p:cNvPicPr>
              <a:picLocks noChangeAspect="1" noChangeArrowheads="1"/>
            </p:cNvPicPr>
            <p:nvPr/>
          </p:nvPicPr>
          <p:blipFill>
            <a:blip r:embed="rId3" cstate="print"/>
            <a:srcRect b="51050"/>
            <a:stretch>
              <a:fillRect/>
            </a:stretch>
          </p:blipFill>
          <p:spPr bwMode="auto">
            <a:xfrm>
              <a:off x="152400" y="4419600"/>
              <a:ext cx="5410200" cy="15167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" name="Oval 6"/>
            <p:cNvSpPr/>
            <p:nvPr/>
          </p:nvSpPr>
          <p:spPr bwMode="auto">
            <a:xfrm>
              <a:off x="914400" y="4419600"/>
              <a:ext cx="1524000" cy="1490472"/>
            </a:xfrm>
            <a:prstGeom prst="ellipse">
              <a:avLst/>
            </a:prstGeom>
            <a:noFill/>
            <a:ln w="381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Oval 7"/>
            <p:cNvSpPr/>
            <p:nvPr/>
          </p:nvSpPr>
          <p:spPr bwMode="auto">
            <a:xfrm>
              <a:off x="4343400" y="5093208"/>
              <a:ext cx="457200" cy="447142"/>
            </a:xfrm>
            <a:prstGeom prst="ellipse">
              <a:avLst/>
            </a:prstGeom>
            <a:noFill/>
            <a:ln w="381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9" name="Picture 9" descr="patch1_circle_amb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467600" y="4663968"/>
            <a:ext cx="1313704" cy="1296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10" descr="patch2_circle_amb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912366" y="4648200"/>
            <a:ext cx="1313704" cy="1296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ABF062-DBEF-FB9E-B16B-EAEC93B6A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599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1" grpId="0" uiExpand="1" build="p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a typeface="굴림" pitchFamily="34" charset="-127"/>
              </a:rPr>
              <a:t>Eliminating Rotation Ambiguity</a:t>
            </a:r>
            <a:endParaRPr lang="en-US" dirty="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914400"/>
            <a:ext cx="10896600" cy="5257800"/>
          </a:xfrm>
        </p:spPr>
        <p:txBody>
          <a:bodyPr/>
          <a:lstStyle/>
          <a:p>
            <a:pPr marL="609600" indent="-609600">
              <a:buFontTx/>
              <a:buChar char="•"/>
            </a:pPr>
            <a:r>
              <a:rPr lang="en-US" dirty="0"/>
              <a:t>To assign a unique orientation to circular image windows:</a:t>
            </a:r>
          </a:p>
          <a:p>
            <a:pPr marL="990600" lvl="1" indent="-533400"/>
            <a:r>
              <a:rPr lang="en-US" dirty="0"/>
              <a:t>Create histogram of local gradient directions in the patch</a:t>
            </a:r>
          </a:p>
          <a:p>
            <a:pPr marL="990600" lvl="1" indent="-533400"/>
            <a:r>
              <a:rPr lang="en-US" dirty="0"/>
              <a:t>Assign canonical orientation at peak of smoothed histogram</a:t>
            </a:r>
          </a:p>
        </p:txBody>
      </p:sp>
      <p:pic>
        <p:nvPicPr>
          <p:cNvPr id="66564" name="Picture 55" descr="descrip"/>
          <p:cNvPicPr>
            <a:picLocks noChangeAspect="1" noChangeArrowheads="1"/>
          </p:cNvPicPr>
          <p:nvPr/>
        </p:nvPicPr>
        <p:blipFill>
          <a:blip r:embed="rId3" cstate="print"/>
          <a:srcRect r="56557" b="8105"/>
          <a:stretch>
            <a:fillRect/>
          </a:stretch>
        </p:blipFill>
        <p:spPr bwMode="auto">
          <a:xfrm>
            <a:off x="2819400" y="3048001"/>
            <a:ext cx="2389188" cy="2405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47640" name="Line 56"/>
          <p:cNvSpPr>
            <a:spLocks noChangeShapeType="1"/>
          </p:cNvSpPr>
          <p:nvPr/>
        </p:nvSpPr>
        <p:spPr bwMode="auto">
          <a:xfrm flipV="1">
            <a:off x="3886200" y="3276600"/>
            <a:ext cx="1371600" cy="104140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en-US"/>
          </a:p>
        </p:txBody>
      </p:sp>
      <p:grpSp>
        <p:nvGrpSpPr>
          <p:cNvPr id="2" name="Group 58"/>
          <p:cNvGrpSpPr>
            <a:grpSpLocks/>
          </p:cNvGrpSpPr>
          <p:nvPr/>
        </p:nvGrpSpPr>
        <p:grpSpPr bwMode="auto">
          <a:xfrm>
            <a:off x="5468938" y="3425826"/>
            <a:ext cx="3827462" cy="2212975"/>
            <a:chOff x="2725" y="2782"/>
            <a:chExt cx="2411" cy="1394"/>
          </a:xfrm>
        </p:grpSpPr>
        <p:grpSp>
          <p:nvGrpSpPr>
            <p:cNvPr id="66567" name="Group 10"/>
            <p:cNvGrpSpPr>
              <a:grpSpLocks/>
            </p:cNvGrpSpPr>
            <p:nvPr/>
          </p:nvGrpSpPr>
          <p:grpSpPr bwMode="auto">
            <a:xfrm>
              <a:off x="3455" y="2782"/>
              <a:ext cx="1681" cy="1394"/>
              <a:chOff x="4080" y="3573"/>
              <a:chExt cx="1066" cy="699"/>
            </a:xfrm>
          </p:grpSpPr>
          <p:sp>
            <p:nvSpPr>
              <p:cNvPr id="66569" name="Freeform 11"/>
              <p:cNvSpPr>
                <a:spLocks/>
              </p:cNvSpPr>
              <p:nvPr/>
            </p:nvSpPr>
            <p:spPr bwMode="auto">
              <a:xfrm>
                <a:off x="4129" y="3573"/>
                <a:ext cx="958" cy="11"/>
              </a:xfrm>
              <a:custGeom>
                <a:avLst/>
                <a:gdLst>
                  <a:gd name="T0" fmla="*/ 0 w 8621"/>
                  <a:gd name="T1" fmla="*/ 0 h 101"/>
                  <a:gd name="T2" fmla="*/ 0 w 8621"/>
                  <a:gd name="T3" fmla="*/ 0 h 101"/>
                  <a:gd name="T4" fmla="*/ 0 w 8621"/>
                  <a:gd name="T5" fmla="*/ 0 h 101"/>
                  <a:gd name="T6" fmla="*/ 0 w 8621"/>
                  <a:gd name="T7" fmla="*/ 0 h 101"/>
                  <a:gd name="T8" fmla="*/ 0 w 8621"/>
                  <a:gd name="T9" fmla="*/ 0 h 101"/>
                  <a:gd name="T10" fmla="*/ 0 w 8621"/>
                  <a:gd name="T11" fmla="*/ 0 h 101"/>
                  <a:gd name="T12" fmla="*/ 0 w 8621"/>
                  <a:gd name="T13" fmla="*/ 0 h 101"/>
                  <a:gd name="T14" fmla="*/ 0 w 8621"/>
                  <a:gd name="T15" fmla="*/ 0 h 101"/>
                  <a:gd name="T16" fmla="*/ 0 w 8621"/>
                  <a:gd name="T17" fmla="*/ 0 h 101"/>
                  <a:gd name="T18" fmla="*/ 0 w 8621"/>
                  <a:gd name="T19" fmla="*/ 0 h 10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621"/>
                  <a:gd name="T31" fmla="*/ 0 h 101"/>
                  <a:gd name="T32" fmla="*/ 8621 w 8621"/>
                  <a:gd name="T33" fmla="*/ 101 h 10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621" h="101">
                    <a:moveTo>
                      <a:pt x="8621" y="51"/>
                    </a:moveTo>
                    <a:lnTo>
                      <a:pt x="8576" y="0"/>
                    </a:lnTo>
                    <a:lnTo>
                      <a:pt x="0" y="0"/>
                    </a:lnTo>
                    <a:lnTo>
                      <a:pt x="0" y="101"/>
                    </a:lnTo>
                    <a:lnTo>
                      <a:pt x="8576" y="101"/>
                    </a:lnTo>
                    <a:lnTo>
                      <a:pt x="8530" y="51"/>
                    </a:lnTo>
                    <a:lnTo>
                      <a:pt x="8621" y="51"/>
                    </a:lnTo>
                    <a:lnTo>
                      <a:pt x="8621" y="0"/>
                    </a:lnTo>
                    <a:lnTo>
                      <a:pt x="8576" y="0"/>
                    </a:lnTo>
                    <a:lnTo>
                      <a:pt x="8621" y="51"/>
                    </a:lnTo>
                    <a:close/>
                  </a:path>
                </a:pathLst>
              </a:custGeom>
              <a:solidFill>
                <a:srgbClr val="1F1A17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570" name="Freeform 12"/>
              <p:cNvSpPr>
                <a:spLocks/>
              </p:cNvSpPr>
              <p:nvPr/>
            </p:nvSpPr>
            <p:spPr bwMode="auto">
              <a:xfrm>
                <a:off x="5076" y="3579"/>
                <a:ext cx="11" cy="545"/>
              </a:xfrm>
              <a:custGeom>
                <a:avLst/>
                <a:gdLst>
                  <a:gd name="T0" fmla="*/ 0 w 91"/>
                  <a:gd name="T1" fmla="*/ 0 h 5457"/>
                  <a:gd name="T2" fmla="*/ 0 w 91"/>
                  <a:gd name="T3" fmla="*/ 0 h 5457"/>
                  <a:gd name="T4" fmla="*/ 0 w 91"/>
                  <a:gd name="T5" fmla="*/ 0 h 5457"/>
                  <a:gd name="T6" fmla="*/ 0 w 91"/>
                  <a:gd name="T7" fmla="*/ 0 h 5457"/>
                  <a:gd name="T8" fmla="*/ 0 w 91"/>
                  <a:gd name="T9" fmla="*/ 0 h 5457"/>
                  <a:gd name="T10" fmla="*/ 0 w 91"/>
                  <a:gd name="T11" fmla="*/ 0 h 5457"/>
                  <a:gd name="T12" fmla="*/ 0 w 91"/>
                  <a:gd name="T13" fmla="*/ 0 h 5457"/>
                  <a:gd name="T14" fmla="*/ 0 w 91"/>
                  <a:gd name="T15" fmla="*/ 0 h 5457"/>
                  <a:gd name="T16" fmla="*/ 0 w 91"/>
                  <a:gd name="T17" fmla="*/ 0 h 5457"/>
                  <a:gd name="T18" fmla="*/ 0 w 91"/>
                  <a:gd name="T19" fmla="*/ 0 h 545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1"/>
                  <a:gd name="T31" fmla="*/ 0 h 5457"/>
                  <a:gd name="T32" fmla="*/ 91 w 91"/>
                  <a:gd name="T33" fmla="*/ 5457 h 545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1" h="5457">
                    <a:moveTo>
                      <a:pt x="46" y="5457"/>
                    </a:moveTo>
                    <a:lnTo>
                      <a:pt x="91" y="5407"/>
                    </a:lnTo>
                    <a:lnTo>
                      <a:pt x="91" y="0"/>
                    </a:lnTo>
                    <a:lnTo>
                      <a:pt x="0" y="0"/>
                    </a:lnTo>
                    <a:lnTo>
                      <a:pt x="0" y="5407"/>
                    </a:lnTo>
                    <a:lnTo>
                      <a:pt x="46" y="5357"/>
                    </a:lnTo>
                    <a:lnTo>
                      <a:pt x="46" y="5457"/>
                    </a:lnTo>
                    <a:lnTo>
                      <a:pt x="91" y="5457"/>
                    </a:lnTo>
                    <a:lnTo>
                      <a:pt x="91" y="5407"/>
                    </a:lnTo>
                    <a:lnTo>
                      <a:pt x="46" y="5457"/>
                    </a:lnTo>
                    <a:close/>
                  </a:path>
                </a:pathLst>
              </a:custGeom>
              <a:solidFill>
                <a:srgbClr val="1F1A17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571" name="Freeform 13"/>
              <p:cNvSpPr>
                <a:spLocks/>
              </p:cNvSpPr>
              <p:nvPr/>
            </p:nvSpPr>
            <p:spPr bwMode="auto">
              <a:xfrm>
                <a:off x="4124" y="4114"/>
                <a:ext cx="958" cy="10"/>
              </a:xfrm>
              <a:custGeom>
                <a:avLst/>
                <a:gdLst>
                  <a:gd name="T0" fmla="*/ 0 w 8622"/>
                  <a:gd name="T1" fmla="*/ 0 h 100"/>
                  <a:gd name="T2" fmla="*/ 0 w 8622"/>
                  <a:gd name="T3" fmla="*/ 0 h 100"/>
                  <a:gd name="T4" fmla="*/ 0 w 8622"/>
                  <a:gd name="T5" fmla="*/ 0 h 100"/>
                  <a:gd name="T6" fmla="*/ 0 w 8622"/>
                  <a:gd name="T7" fmla="*/ 0 h 100"/>
                  <a:gd name="T8" fmla="*/ 0 w 8622"/>
                  <a:gd name="T9" fmla="*/ 0 h 100"/>
                  <a:gd name="T10" fmla="*/ 0 w 8622"/>
                  <a:gd name="T11" fmla="*/ 0 h 100"/>
                  <a:gd name="T12" fmla="*/ 0 w 8622"/>
                  <a:gd name="T13" fmla="*/ 0 h 100"/>
                  <a:gd name="T14" fmla="*/ 0 w 8622"/>
                  <a:gd name="T15" fmla="*/ 0 h 100"/>
                  <a:gd name="T16" fmla="*/ 0 w 8622"/>
                  <a:gd name="T17" fmla="*/ 0 h 100"/>
                  <a:gd name="T18" fmla="*/ 0 w 8622"/>
                  <a:gd name="T19" fmla="*/ 0 h 10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8622"/>
                  <a:gd name="T31" fmla="*/ 0 h 100"/>
                  <a:gd name="T32" fmla="*/ 8622 w 8622"/>
                  <a:gd name="T33" fmla="*/ 100 h 10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8622" h="100">
                    <a:moveTo>
                      <a:pt x="0" y="50"/>
                    </a:moveTo>
                    <a:lnTo>
                      <a:pt x="46" y="100"/>
                    </a:lnTo>
                    <a:lnTo>
                      <a:pt x="8622" y="100"/>
                    </a:lnTo>
                    <a:lnTo>
                      <a:pt x="8622" y="0"/>
                    </a:lnTo>
                    <a:lnTo>
                      <a:pt x="46" y="0"/>
                    </a:lnTo>
                    <a:lnTo>
                      <a:pt x="91" y="50"/>
                    </a:lnTo>
                    <a:lnTo>
                      <a:pt x="0" y="50"/>
                    </a:lnTo>
                    <a:lnTo>
                      <a:pt x="0" y="100"/>
                    </a:lnTo>
                    <a:lnTo>
                      <a:pt x="46" y="100"/>
                    </a:lnTo>
                    <a:lnTo>
                      <a:pt x="0" y="50"/>
                    </a:lnTo>
                    <a:close/>
                  </a:path>
                </a:pathLst>
              </a:custGeom>
              <a:solidFill>
                <a:srgbClr val="1F1A17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572" name="Freeform 14"/>
              <p:cNvSpPr>
                <a:spLocks/>
              </p:cNvSpPr>
              <p:nvPr/>
            </p:nvSpPr>
            <p:spPr bwMode="auto">
              <a:xfrm>
                <a:off x="4124" y="3573"/>
                <a:ext cx="10" cy="546"/>
              </a:xfrm>
              <a:custGeom>
                <a:avLst/>
                <a:gdLst>
                  <a:gd name="T0" fmla="*/ 0 w 91"/>
                  <a:gd name="T1" fmla="*/ 0 h 5458"/>
                  <a:gd name="T2" fmla="*/ 0 w 91"/>
                  <a:gd name="T3" fmla="*/ 0 h 5458"/>
                  <a:gd name="T4" fmla="*/ 0 w 91"/>
                  <a:gd name="T5" fmla="*/ 0 h 5458"/>
                  <a:gd name="T6" fmla="*/ 0 w 91"/>
                  <a:gd name="T7" fmla="*/ 0 h 5458"/>
                  <a:gd name="T8" fmla="*/ 0 w 91"/>
                  <a:gd name="T9" fmla="*/ 0 h 5458"/>
                  <a:gd name="T10" fmla="*/ 0 w 91"/>
                  <a:gd name="T11" fmla="*/ 0 h 5458"/>
                  <a:gd name="T12" fmla="*/ 0 w 91"/>
                  <a:gd name="T13" fmla="*/ 0 h 5458"/>
                  <a:gd name="T14" fmla="*/ 0 w 91"/>
                  <a:gd name="T15" fmla="*/ 0 h 5458"/>
                  <a:gd name="T16" fmla="*/ 0 w 91"/>
                  <a:gd name="T17" fmla="*/ 0 h 5458"/>
                  <a:gd name="T18" fmla="*/ 0 w 91"/>
                  <a:gd name="T19" fmla="*/ 0 h 545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1"/>
                  <a:gd name="T31" fmla="*/ 0 h 5458"/>
                  <a:gd name="T32" fmla="*/ 91 w 91"/>
                  <a:gd name="T33" fmla="*/ 5458 h 545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1" h="5458">
                    <a:moveTo>
                      <a:pt x="46" y="0"/>
                    </a:moveTo>
                    <a:lnTo>
                      <a:pt x="0" y="51"/>
                    </a:lnTo>
                    <a:lnTo>
                      <a:pt x="0" y="5458"/>
                    </a:lnTo>
                    <a:lnTo>
                      <a:pt x="91" y="5458"/>
                    </a:lnTo>
                    <a:lnTo>
                      <a:pt x="91" y="51"/>
                    </a:lnTo>
                    <a:lnTo>
                      <a:pt x="46" y="101"/>
                    </a:lnTo>
                    <a:lnTo>
                      <a:pt x="46" y="0"/>
                    </a:lnTo>
                    <a:lnTo>
                      <a:pt x="0" y="0"/>
                    </a:lnTo>
                    <a:lnTo>
                      <a:pt x="0" y="51"/>
                    </a:lnTo>
                    <a:lnTo>
                      <a:pt x="46" y="0"/>
                    </a:lnTo>
                    <a:close/>
                  </a:path>
                </a:pathLst>
              </a:custGeom>
              <a:solidFill>
                <a:srgbClr val="1F1A17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573" name="Rectangle 15"/>
              <p:cNvSpPr>
                <a:spLocks noChangeArrowheads="1"/>
              </p:cNvSpPr>
              <p:nvPr/>
            </p:nvSpPr>
            <p:spPr bwMode="auto">
              <a:xfrm>
                <a:off x="4129" y="3984"/>
                <a:ext cx="136" cy="135"/>
              </a:xfrm>
              <a:prstGeom prst="rect">
                <a:avLst/>
              </a:prstGeom>
              <a:solidFill>
                <a:srgbClr val="DC2B19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574" name="Freeform 16"/>
              <p:cNvSpPr>
                <a:spLocks/>
              </p:cNvSpPr>
              <p:nvPr/>
            </p:nvSpPr>
            <p:spPr bwMode="auto">
              <a:xfrm>
                <a:off x="4129" y="3979"/>
                <a:ext cx="141" cy="10"/>
              </a:xfrm>
              <a:custGeom>
                <a:avLst/>
                <a:gdLst>
                  <a:gd name="T0" fmla="*/ 0 w 1270"/>
                  <a:gd name="T1" fmla="*/ 0 h 100"/>
                  <a:gd name="T2" fmla="*/ 0 w 1270"/>
                  <a:gd name="T3" fmla="*/ 0 h 100"/>
                  <a:gd name="T4" fmla="*/ 0 w 1270"/>
                  <a:gd name="T5" fmla="*/ 0 h 100"/>
                  <a:gd name="T6" fmla="*/ 0 w 1270"/>
                  <a:gd name="T7" fmla="*/ 0 h 100"/>
                  <a:gd name="T8" fmla="*/ 0 w 1270"/>
                  <a:gd name="T9" fmla="*/ 0 h 100"/>
                  <a:gd name="T10" fmla="*/ 0 w 1270"/>
                  <a:gd name="T11" fmla="*/ 0 h 100"/>
                  <a:gd name="T12" fmla="*/ 0 w 1270"/>
                  <a:gd name="T13" fmla="*/ 0 h 100"/>
                  <a:gd name="T14" fmla="*/ 0 w 1270"/>
                  <a:gd name="T15" fmla="*/ 0 h 100"/>
                  <a:gd name="T16" fmla="*/ 0 w 1270"/>
                  <a:gd name="T17" fmla="*/ 0 h 100"/>
                  <a:gd name="T18" fmla="*/ 0 w 1270"/>
                  <a:gd name="T19" fmla="*/ 0 h 10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70"/>
                  <a:gd name="T31" fmla="*/ 0 h 100"/>
                  <a:gd name="T32" fmla="*/ 1270 w 1270"/>
                  <a:gd name="T33" fmla="*/ 100 h 10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70" h="100">
                    <a:moveTo>
                      <a:pt x="1270" y="50"/>
                    </a:moveTo>
                    <a:lnTo>
                      <a:pt x="1225" y="0"/>
                    </a:lnTo>
                    <a:lnTo>
                      <a:pt x="0" y="0"/>
                    </a:lnTo>
                    <a:lnTo>
                      <a:pt x="0" y="100"/>
                    </a:lnTo>
                    <a:lnTo>
                      <a:pt x="1225" y="100"/>
                    </a:lnTo>
                    <a:lnTo>
                      <a:pt x="1180" y="50"/>
                    </a:lnTo>
                    <a:lnTo>
                      <a:pt x="1270" y="50"/>
                    </a:lnTo>
                    <a:lnTo>
                      <a:pt x="1270" y="0"/>
                    </a:lnTo>
                    <a:lnTo>
                      <a:pt x="1225" y="0"/>
                    </a:lnTo>
                    <a:lnTo>
                      <a:pt x="1270" y="50"/>
                    </a:lnTo>
                    <a:close/>
                  </a:path>
                </a:pathLst>
              </a:custGeom>
              <a:solidFill>
                <a:srgbClr val="1F1A17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575" name="Freeform 17"/>
              <p:cNvSpPr>
                <a:spLocks/>
              </p:cNvSpPr>
              <p:nvPr/>
            </p:nvSpPr>
            <p:spPr bwMode="auto">
              <a:xfrm>
                <a:off x="4260" y="3984"/>
                <a:ext cx="10" cy="140"/>
              </a:xfrm>
              <a:custGeom>
                <a:avLst/>
                <a:gdLst>
                  <a:gd name="T0" fmla="*/ 0 w 90"/>
                  <a:gd name="T1" fmla="*/ 0 h 1402"/>
                  <a:gd name="T2" fmla="*/ 0 w 90"/>
                  <a:gd name="T3" fmla="*/ 0 h 1402"/>
                  <a:gd name="T4" fmla="*/ 0 w 90"/>
                  <a:gd name="T5" fmla="*/ 0 h 1402"/>
                  <a:gd name="T6" fmla="*/ 0 w 90"/>
                  <a:gd name="T7" fmla="*/ 0 h 1402"/>
                  <a:gd name="T8" fmla="*/ 0 w 90"/>
                  <a:gd name="T9" fmla="*/ 0 h 1402"/>
                  <a:gd name="T10" fmla="*/ 0 w 90"/>
                  <a:gd name="T11" fmla="*/ 0 h 1402"/>
                  <a:gd name="T12" fmla="*/ 0 w 90"/>
                  <a:gd name="T13" fmla="*/ 0 h 1402"/>
                  <a:gd name="T14" fmla="*/ 0 w 90"/>
                  <a:gd name="T15" fmla="*/ 0 h 1402"/>
                  <a:gd name="T16" fmla="*/ 0 w 90"/>
                  <a:gd name="T17" fmla="*/ 0 h 1402"/>
                  <a:gd name="T18" fmla="*/ 0 w 90"/>
                  <a:gd name="T19" fmla="*/ 0 h 140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0"/>
                  <a:gd name="T31" fmla="*/ 0 h 1402"/>
                  <a:gd name="T32" fmla="*/ 90 w 90"/>
                  <a:gd name="T33" fmla="*/ 1402 h 140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0" h="1402">
                    <a:moveTo>
                      <a:pt x="45" y="1402"/>
                    </a:moveTo>
                    <a:lnTo>
                      <a:pt x="90" y="1352"/>
                    </a:lnTo>
                    <a:lnTo>
                      <a:pt x="90" y="0"/>
                    </a:lnTo>
                    <a:lnTo>
                      <a:pt x="0" y="0"/>
                    </a:lnTo>
                    <a:lnTo>
                      <a:pt x="0" y="1352"/>
                    </a:lnTo>
                    <a:lnTo>
                      <a:pt x="45" y="1302"/>
                    </a:lnTo>
                    <a:lnTo>
                      <a:pt x="45" y="1402"/>
                    </a:lnTo>
                    <a:lnTo>
                      <a:pt x="90" y="1402"/>
                    </a:lnTo>
                    <a:lnTo>
                      <a:pt x="90" y="1352"/>
                    </a:lnTo>
                    <a:lnTo>
                      <a:pt x="45" y="1402"/>
                    </a:lnTo>
                    <a:close/>
                  </a:path>
                </a:pathLst>
              </a:custGeom>
              <a:solidFill>
                <a:srgbClr val="1F1A17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576" name="Freeform 18"/>
              <p:cNvSpPr>
                <a:spLocks/>
              </p:cNvSpPr>
              <p:nvPr/>
            </p:nvSpPr>
            <p:spPr bwMode="auto">
              <a:xfrm>
                <a:off x="4124" y="4114"/>
                <a:ext cx="141" cy="10"/>
              </a:xfrm>
              <a:custGeom>
                <a:avLst/>
                <a:gdLst>
                  <a:gd name="T0" fmla="*/ 0 w 1271"/>
                  <a:gd name="T1" fmla="*/ 0 h 100"/>
                  <a:gd name="T2" fmla="*/ 0 w 1271"/>
                  <a:gd name="T3" fmla="*/ 0 h 100"/>
                  <a:gd name="T4" fmla="*/ 0 w 1271"/>
                  <a:gd name="T5" fmla="*/ 0 h 100"/>
                  <a:gd name="T6" fmla="*/ 0 w 1271"/>
                  <a:gd name="T7" fmla="*/ 0 h 100"/>
                  <a:gd name="T8" fmla="*/ 0 w 1271"/>
                  <a:gd name="T9" fmla="*/ 0 h 100"/>
                  <a:gd name="T10" fmla="*/ 0 w 1271"/>
                  <a:gd name="T11" fmla="*/ 0 h 100"/>
                  <a:gd name="T12" fmla="*/ 0 w 1271"/>
                  <a:gd name="T13" fmla="*/ 0 h 100"/>
                  <a:gd name="T14" fmla="*/ 0 w 1271"/>
                  <a:gd name="T15" fmla="*/ 0 h 100"/>
                  <a:gd name="T16" fmla="*/ 0 w 1271"/>
                  <a:gd name="T17" fmla="*/ 0 h 100"/>
                  <a:gd name="T18" fmla="*/ 0 w 1271"/>
                  <a:gd name="T19" fmla="*/ 0 h 10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71"/>
                  <a:gd name="T31" fmla="*/ 0 h 100"/>
                  <a:gd name="T32" fmla="*/ 1271 w 1271"/>
                  <a:gd name="T33" fmla="*/ 100 h 10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71" h="100">
                    <a:moveTo>
                      <a:pt x="0" y="50"/>
                    </a:moveTo>
                    <a:lnTo>
                      <a:pt x="46" y="100"/>
                    </a:lnTo>
                    <a:lnTo>
                      <a:pt x="1271" y="100"/>
                    </a:lnTo>
                    <a:lnTo>
                      <a:pt x="1271" y="0"/>
                    </a:lnTo>
                    <a:lnTo>
                      <a:pt x="46" y="0"/>
                    </a:lnTo>
                    <a:lnTo>
                      <a:pt x="91" y="50"/>
                    </a:lnTo>
                    <a:lnTo>
                      <a:pt x="0" y="50"/>
                    </a:lnTo>
                    <a:lnTo>
                      <a:pt x="0" y="100"/>
                    </a:lnTo>
                    <a:lnTo>
                      <a:pt x="46" y="100"/>
                    </a:lnTo>
                    <a:lnTo>
                      <a:pt x="0" y="50"/>
                    </a:lnTo>
                    <a:close/>
                  </a:path>
                </a:pathLst>
              </a:custGeom>
              <a:solidFill>
                <a:srgbClr val="1F1A17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577" name="Freeform 19"/>
              <p:cNvSpPr>
                <a:spLocks/>
              </p:cNvSpPr>
              <p:nvPr/>
            </p:nvSpPr>
            <p:spPr bwMode="auto">
              <a:xfrm>
                <a:off x="4124" y="3979"/>
                <a:ext cx="10" cy="140"/>
              </a:xfrm>
              <a:custGeom>
                <a:avLst/>
                <a:gdLst>
                  <a:gd name="T0" fmla="*/ 0 w 91"/>
                  <a:gd name="T1" fmla="*/ 0 h 1402"/>
                  <a:gd name="T2" fmla="*/ 0 w 91"/>
                  <a:gd name="T3" fmla="*/ 0 h 1402"/>
                  <a:gd name="T4" fmla="*/ 0 w 91"/>
                  <a:gd name="T5" fmla="*/ 0 h 1402"/>
                  <a:gd name="T6" fmla="*/ 0 w 91"/>
                  <a:gd name="T7" fmla="*/ 0 h 1402"/>
                  <a:gd name="T8" fmla="*/ 0 w 91"/>
                  <a:gd name="T9" fmla="*/ 0 h 1402"/>
                  <a:gd name="T10" fmla="*/ 0 w 91"/>
                  <a:gd name="T11" fmla="*/ 0 h 1402"/>
                  <a:gd name="T12" fmla="*/ 0 w 91"/>
                  <a:gd name="T13" fmla="*/ 0 h 1402"/>
                  <a:gd name="T14" fmla="*/ 0 w 91"/>
                  <a:gd name="T15" fmla="*/ 0 h 1402"/>
                  <a:gd name="T16" fmla="*/ 0 w 91"/>
                  <a:gd name="T17" fmla="*/ 0 h 1402"/>
                  <a:gd name="T18" fmla="*/ 0 w 91"/>
                  <a:gd name="T19" fmla="*/ 0 h 140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1"/>
                  <a:gd name="T31" fmla="*/ 0 h 1402"/>
                  <a:gd name="T32" fmla="*/ 91 w 91"/>
                  <a:gd name="T33" fmla="*/ 1402 h 140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1" h="1402">
                    <a:moveTo>
                      <a:pt x="46" y="0"/>
                    </a:moveTo>
                    <a:lnTo>
                      <a:pt x="0" y="50"/>
                    </a:lnTo>
                    <a:lnTo>
                      <a:pt x="0" y="1402"/>
                    </a:lnTo>
                    <a:lnTo>
                      <a:pt x="91" y="1402"/>
                    </a:lnTo>
                    <a:lnTo>
                      <a:pt x="91" y="50"/>
                    </a:lnTo>
                    <a:lnTo>
                      <a:pt x="46" y="100"/>
                    </a:lnTo>
                    <a:lnTo>
                      <a:pt x="46" y="0"/>
                    </a:lnTo>
                    <a:lnTo>
                      <a:pt x="0" y="0"/>
                    </a:lnTo>
                    <a:lnTo>
                      <a:pt x="0" y="50"/>
                    </a:lnTo>
                    <a:lnTo>
                      <a:pt x="46" y="0"/>
                    </a:lnTo>
                    <a:close/>
                  </a:path>
                </a:pathLst>
              </a:custGeom>
              <a:solidFill>
                <a:srgbClr val="1F1A17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578" name="Rectangle 20"/>
              <p:cNvSpPr>
                <a:spLocks noChangeArrowheads="1"/>
              </p:cNvSpPr>
              <p:nvPr/>
            </p:nvSpPr>
            <p:spPr bwMode="auto">
              <a:xfrm>
                <a:off x="4265" y="3714"/>
                <a:ext cx="136" cy="405"/>
              </a:xfrm>
              <a:prstGeom prst="rect">
                <a:avLst/>
              </a:prstGeom>
              <a:solidFill>
                <a:srgbClr val="DC2B19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579" name="Freeform 21"/>
              <p:cNvSpPr>
                <a:spLocks/>
              </p:cNvSpPr>
              <p:nvPr/>
            </p:nvSpPr>
            <p:spPr bwMode="auto">
              <a:xfrm>
                <a:off x="4265" y="3709"/>
                <a:ext cx="141" cy="10"/>
              </a:xfrm>
              <a:custGeom>
                <a:avLst/>
                <a:gdLst>
                  <a:gd name="T0" fmla="*/ 0 w 1271"/>
                  <a:gd name="T1" fmla="*/ 0 h 100"/>
                  <a:gd name="T2" fmla="*/ 0 w 1271"/>
                  <a:gd name="T3" fmla="*/ 0 h 100"/>
                  <a:gd name="T4" fmla="*/ 0 w 1271"/>
                  <a:gd name="T5" fmla="*/ 0 h 100"/>
                  <a:gd name="T6" fmla="*/ 0 w 1271"/>
                  <a:gd name="T7" fmla="*/ 0 h 100"/>
                  <a:gd name="T8" fmla="*/ 0 w 1271"/>
                  <a:gd name="T9" fmla="*/ 0 h 100"/>
                  <a:gd name="T10" fmla="*/ 0 w 1271"/>
                  <a:gd name="T11" fmla="*/ 0 h 100"/>
                  <a:gd name="T12" fmla="*/ 0 w 1271"/>
                  <a:gd name="T13" fmla="*/ 0 h 100"/>
                  <a:gd name="T14" fmla="*/ 0 w 1271"/>
                  <a:gd name="T15" fmla="*/ 0 h 100"/>
                  <a:gd name="T16" fmla="*/ 0 w 1271"/>
                  <a:gd name="T17" fmla="*/ 0 h 100"/>
                  <a:gd name="T18" fmla="*/ 0 w 1271"/>
                  <a:gd name="T19" fmla="*/ 0 h 10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71"/>
                  <a:gd name="T31" fmla="*/ 0 h 100"/>
                  <a:gd name="T32" fmla="*/ 1271 w 1271"/>
                  <a:gd name="T33" fmla="*/ 100 h 10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71" h="100">
                    <a:moveTo>
                      <a:pt x="1271" y="50"/>
                    </a:moveTo>
                    <a:lnTo>
                      <a:pt x="1225" y="0"/>
                    </a:lnTo>
                    <a:lnTo>
                      <a:pt x="0" y="0"/>
                    </a:lnTo>
                    <a:lnTo>
                      <a:pt x="0" y="100"/>
                    </a:lnTo>
                    <a:lnTo>
                      <a:pt x="1225" y="100"/>
                    </a:lnTo>
                    <a:lnTo>
                      <a:pt x="1179" y="50"/>
                    </a:lnTo>
                    <a:lnTo>
                      <a:pt x="1271" y="50"/>
                    </a:lnTo>
                    <a:lnTo>
                      <a:pt x="1271" y="0"/>
                    </a:lnTo>
                    <a:lnTo>
                      <a:pt x="1225" y="0"/>
                    </a:lnTo>
                    <a:lnTo>
                      <a:pt x="1271" y="50"/>
                    </a:lnTo>
                    <a:close/>
                  </a:path>
                </a:pathLst>
              </a:custGeom>
              <a:solidFill>
                <a:srgbClr val="1F1A17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580" name="Freeform 22"/>
              <p:cNvSpPr>
                <a:spLocks/>
              </p:cNvSpPr>
              <p:nvPr/>
            </p:nvSpPr>
            <p:spPr bwMode="auto">
              <a:xfrm>
                <a:off x="4396" y="3714"/>
                <a:ext cx="10" cy="410"/>
              </a:xfrm>
              <a:custGeom>
                <a:avLst/>
                <a:gdLst>
                  <a:gd name="T0" fmla="*/ 0 w 92"/>
                  <a:gd name="T1" fmla="*/ 0 h 4106"/>
                  <a:gd name="T2" fmla="*/ 0 w 92"/>
                  <a:gd name="T3" fmla="*/ 0 h 4106"/>
                  <a:gd name="T4" fmla="*/ 0 w 92"/>
                  <a:gd name="T5" fmla="*/ 0 h 4106"/>
                  <a:gd name="T6" fmla="*/ 0 w 92"/>
                  <a:gd name="T7" fmla="*/ 0 h 4106"/>
                  <a:gd name="T8" fmla="*/ 0 w 92"/>
                  <a:gd name="T9" fmla="*/ 0 h 4106"/>
                  <a:gd name="T10" fmla="*/ 0 w 92"/>
                  <a:gd name="T11" fmla="*/ 0 h 4106"/>
                  <a:gd name="T12" fmla="*/ 0 w 92"/>
                  <a:gd name="T13" fmla="*/ 0 h 4106"/>
                  <a:gd name="T14" fmla="*/ 0 w 92"/>
                  <a:gd name="T15" fmla="*/ 0 h 4106"/>
                  <a:gd name="T16" fmla="*/ 0 w 92"/>
                  <a:gd name="T17" fmla="*/ 0 h 4106"/>
                  <a:gd name="T18" fmla="*/ 0 w 92"/>
                  <a:gd name="T19" fmla="*/ 0 h 410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2"/>
                  <a:gd name="T31" fmla="*/ 0 h 4106"/>
                  <a:gd name="T32" fmla="*/ 92 w 92"/>
                  <a:gd name="T33" fmla="*/ 4106 h 410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2" h="4106">
                    <a:moveTo>
                      <a:pt x="46" y="4106"/>
                    </a:moveTo>
                    <a:lnTo>
                      <a:pt x="92" y="4056"/>
                    </a:lnTo>
                    <a:lnTo>
                      <a:pt x="92" y="0"/>
                    </a:lnTo>
                    <a:lnTo>
                      <a:pt x="0" y="0"/>
                    </a:lnTo>
                    <a:lnTo>
                      <a:pt x="0" y="4056"/>
                    </a:lnTo>
                    <a:lnTo>
                      <a:pt x="46" y="4006"/>
                    </a:lnTo>
                    <a:lnTo>
                      <a:pt x="46" y="4106"/>
                    </a:lnTo>
                    <a:lnTo>
                      <a:pt x="92" y="4106"/>
                    </a:lnTo>
                    <a:lnTo>
                      <a:pt x="92" y="4056"/>
                    </a:lnTo>
                    <a:lnTo>
                      <a:pt x="46" y="4106"/>
                    </a:lnTo>
                    <a:close/>
                  </a:path>
                </a:pathLst>
              </a:custGeom>
              <a:solidFill>
                <a:srgbClr val="1F1A17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581" name="Freeform 23"/>
              <p:cNvSpPr>
                <a:spLocks/>
              </p:cNvSpPr>
              <p:nvPr/>
            </p:nvSpPr>
            <p:spPr bwMode="auto">
              <a:xfrm>
                <a:off x="4260" y="4114"/>
                <a:ext cx="141" cy="10"/>
              </a:xfrm>
              <a:custGeom>
                <a:avLst/>
                <a:gdLst>
                  <a:gd name="T0" fmla="*/ 0 w 1270"/>
                  <a:gd name="T1" fmla="*/ 0 h 100"/>
                  <a:gd name="T2" fmla="*/ 0 w 1270"/>
                  <a:gd name="T3" fmla="*/ 0 h 100"/>
                  <a:gd name="T4" fmla="*/ 0 w 1270"/>
                  <a:gd name="T5" fmla="*/ 0 h 100"/>
                  <a:gd name="T6" fmla="*/ 0 w 1270"/>
                  <a:gd name="T7" fmla="*/ 0 h 100"/>
                  <a:gd name="T8" fmla="*/ 0 w 1270"/>
                  <a:gd name="T9" fmla="*/ 0 h 100"/>
                  <a:gd name="T10" fmla="*/ 0 w 1270"/>
                  <a:gd name="T11" fmla="*/ 0 h 100"/>
                  <a:gd name="T12" fmla="*/ 0 w 1270"/>
                  <a:gd name="T13" fmla="*/ 0 h 100"/>
                  <a:gd name="T14" fmla="*/ 0 w 1270"/>
                  <a:gd name="T15" fmla="*/ 0 h 100"/>
                  <a:gd name="T16" fmla="*/ 0 w 1270"/>
                  <a:gd name="T17" fmla="*/ 0 h 100"/>
                  <a:gd name="T18" fmla="*/ 0 w 1270"/>
                  <a:gd name="T19" fmla="*/ 0 h 10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70"/>
                  <a:gd name="T31" fmla="*/ 0 h 100"/>
                  <a:gd name="T32" fmla="*/ 1270 w 1270"/>
                  <a:gd name="T33" fmla="*/ 100 h 10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70" h="100">
                    <a:moveTo>
                      <a:pt x="0" y="50"/>
                    </a:moveTo>
                    <a:lnTo>
                      <a:pt x="45" y="100"/>
                    </a:lnTo>
                    <a:lnTo>
                      <a:pt x="1270" y="100"/>
                    </a:lnTo>
                    <a:lnTo>
                      <a:pt x="1270" y="0"/>
                    </a:lnTo>
                    <a:lnTo>
                      <a:pt x="45" y="0"/>
                    </a:lnTo>
                    <a:lnTo>
                      <a:pt x="90" y="50"/>
                    </a:lnTo>
                    <a:lnTo>
                      <a:pt x="0" y="50"/>
                    </a:lnTo>
                    <a:lnTo>
                      <a:pt x="0" y="100"/>
                    </a:lnTo>
                    <a:lnTo>
                      <a:pt x="45" y="100"/>
                    </a:lnTo>
                    <a:lnTo>
                      <a:pt x="0" y="50"/>
                    </a:lnTo>
                    <a:close/>
                  </a:path>
                </a:pathLst>
              </a:custGeom>
              <a:solidFill>
                <a:srgbClr val="1F1A17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582" name="Freeform 24"/>
              <p:cNvSpPr>
                <a:spLocks/>
              </p:cNvSpPr>
              <p:nvPr/>
            </p:nvSpPr>
            <p:spPr bwMode="auto">
              <a:xfrm>
                <a:off x="4260" y="3709"/>
                <a:ext cx="10" cy="410"/>
              </a:xfrm>
              <a:custGeom>
                <a:avLst/>
                <a:gdLst>
                  <a:gd name="T0" fmla="*/ 0 w 90"/>
                  <a:gd name="T1" fmla="*/ 0 h 4106"/>
                  <a:gd name="T2" fmla="*/ 0 w 90"/>
                  <a:gd name="T3" fmla="*/ 0 h 4106"/>
                  <a:gd name="T4" fmla="*/ 0 w 90"/>
                  <a:gd name="T5" fmla="*/ 0 h 4106"/>
                  <a:gd name="T6" fmla="*/ 0 w 90"/>
                  <a:gd name="T7" fmla="*/ 0 h 4106"/>
                  <a:gd name="T8" fmla="*/ 0 w 90"/>
                  <a:gd name="T9" fmla="*/ 0 h 4106"/>
                  <a:gd name="T10" fmla="*/ 0 w 90"/>
                  <a:gd name="T11" fmla="*/ 0 h 4106"/>
                  <a:gd name="T12" fmla="*/ 0 w 90"/>
                  <a:gd name="T13" fmla="*/ 0 h 4106"/>
                  <a:gd name="T14" fmla="*/ 0 w 90"/>
                  <a:gd name="T15" fmla="*/ 0 h 4106"/>
                  <a:gd name="T16" fmla="*/ 0 w 90"/>
                  <a:gd name="T17" fmla="*/ 0 h 4106"/>
                  <a:gd name="T18" fmla="*/ 0 w 90"/>
                  <a:gd name="T19" fmla="*/ 0 h 410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0"/>
                  <a:gd name="T31" fmla="*/ 0 h 4106"/>
                  <a:gd name="T32" fmla="*/ 90 w 90"/>
                  <a:gd name="T33" fmla="*/ 4106 h 410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0" h="4106">
                    <a:moveTo>
                      <a:pt x="45" y="0"/>
                    </a:moveTo>
                    <a:lnTo>
                      <a:pt x="0" y="50"/>
                    </a:lnTo>
                    <a:lnTo>
                      <a:pt x="0" y="4106"/>
                    </a:lnTo>
                    <a:lnTo>
                      <a:pt x="90" y="4106"/>
                    </a:lnTo>
                    <a:lnTo>
                      <a:pt x="90" y="50"/>
                    </a:lnTo>
                    <a:lnTo>
                      <a:pt x="45" y="100"/>
                    </a:lnTo>
                    <a:lnTo>
                      <a:pt x="45" y="0"/>
                    </a:lnTo>
                    <a:lnTo>
                      <a:pt x="0" y="0"/>
                    </a:lnTo>
                    <a:lnTo>
                      <a:pt x="0" y="50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1F1A17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583" name="Rectangle 25"/>
              <p:cNvSpPr>
                <a:spLocks noChangeArrowheads="1"/>
              </p:cNvSpPr>
              <p:nvPr/>
            </p:nvSpPr>
            <p:spPr bwMode="auto">
              <a:xfrm>
                <a:off x="4401" y="3849"/>
                <a:ext cx="136" cy="270"/>
              </a:xfrm>
              <a:prstGeom prst="rect">
                <a:avLst/>
              </a:prstGeom>
              <a:solidFill>
                <a:srgbClr val="DC2B19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584" name="Freeform 26"/>
              <p:cNvSpPr>
                <a:spLocks/>
              </p:cNvSpPr>
              <p:nvPr/>
            </p:nvSpPr>
            <p:spPr bwMode="auto">
              <a:xfrm>
                <a:off x="4396" y="3844"/>
                <a:ext cx="141" cy="10"/>
              </a:xfrm>
              <a:custGeom>
                <a:avLst/>
                <a:gdLst>
                  <a:gd name="T0" fmla="*/ 0 w 1271"/>
                  <a:gd name="T1" fmla="*/ 0 h 100"/>
                  <a:gd name="T2" fmla="*/ 0 w 1271"/>
                  <a:gd name="T3" fmla="*/ 0 h 100"/>
                  <a:gd name="T4" fmla="*/ 0 w 1271"/>
                  <a:gd name="T5" fmla="*/ 0 h 100"/>
                  <a:gd name="T6" fmla="*/ 0 w 1271"/>
                  <a:gd name="T7" fmla="*/ 0 h 100"/>
                  <a:gd name="T8" fmla="*/ 0 w 1271"/>
                  <a:gd name="T9" fmla="*/ 0 h 100"/>
                  <a:gd name="T10" fmla="*/ 0 w 1271"/>
                  <a:gd name="T11" fmla="*/ 0 h 100"/>
                  <a:gd name="T12" fmla="*/ 0 w 1271"/>
                  <a:gd name="T13" fmla="*/ 0 h 100"/>
                  <a:gd name="T14" fmla="*/ 0 w 1271"/>
                  <a:gd name="T15" fmla="*/ 0 h 100"/>
                  <a:gd name="T16" fmla="*/ 0 w 1271"/>
                  <a:gd name="T17" fmla="*/ 0 h 100"/>
                  <a:gd name="T18" fmla="*/ 0 w 1271"/>
                  <a:gd name="T19" fmla="*/ 0 h 10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71"/>
                  <a:gd name="T31" fmla="*/ 0 h 100"/>
                  <a:gd name="T32" fmla="*/ 1271 w 1271"/>
                  <a:gd name="T33" fmla="*/ 100 h 10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71" h="100">
                    <a:moveTo>
                      <a:pt x="92" y="50"/>
                    </a:moveTo>
                    <a:lnTo>
                      <a:pt x="46" y="100"/>
                    </a:lnTo>
                    <a:lnTo>
                      <a:pt x="1271" y="100"/>
                    </a:lnTo>
                    <a:lnTo>
                      <a:pt x="1271" y="0"/>
                    </a:lnTo>
                    <a:lnTo>
                      <a:pt x="46" y="0"/>
                    </a:lnTo>
                    <a:lnTo>
                      <a:pt x="0" y="50"/>
                    </a:lnTo>
                    <a:lnTo>
                      <a:pt x="46" y="0"/>
                    </a:lnTo>
                    <a:lnTo>
                      <a:pt x="0" y="0"/>
                    </a:lnTo>
                    <a:lnTo>
                      <a:pt x="0" y="50"/>
                    </a:lnTo>
                    <a:lnTo>
                      <a:pt x="92" y="50"/>
                    </a:lnTo>
                    <a:close/>
                  </a:path>
                </a:pathLst>
              </a:custGeom>
              <a:solidFill>
                <a:srgbClr val="1F1A17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585" name="Freeform 27"/>
              <p:cNvSpPr>
                <a:spLocks/>
              </p:cNvSpPr>
              <p:nvPr/>
            </p:nvSpPr>
            <p:spPr bwMode="auto">
              <a:xfrm>
                <a:off x="4396" y="3849"/>
                <a:ext cx="10" cy="275"/>
              </a:xfrm>
              <a:custGeom>
                <a:avLst/>
                <a:gdLst>
                  <a:gd name="T0" fmla="*/ 0 w 92"/>
                  <a:gd name="T1" fmla="*/ 0 h 2754"/>
                  <a:gd name="T2" fmla="*/ 0 w 92"/>
                  <a:gd name="T3" fmla="*/ 0 h 2754"/>
                  <a:gd name="T4" fmla="*/ 0 w 92"/>
                  <a:gd name="T5" fmla="*/ 0 h 2754"/>
                  <a:gd name="T6" fmla="*/ 0 w 92"/>
                  <a:gd name="T7" fmla="*/ 0 h 2754"/>
                  <a:gd name="T8" fmla="*/ 0 w 92"/>
                  <a:gd name="T9" fmla="*/ 0 h 2754"/>
                  <a:gd name="T10" fmla="*/ 0 w 92"/>
                  <a:gd name="T11" fmla="*/ 0 h 2754"/>
                  <a:gd name="T12" fmla="*/ 0 w 92"/>
                  <a:gd name="T13" fmla="*/ 0 h 2754"/>
                  <a:gd name="T14" fmla="*/ 0 w 92"/>
                  <a:gd name="T15" fmla="*/ 0 h 2754"/>
                  <a:gd name="T16" fmla="*/ 0 w 92"/>
                  <a:gd name="T17" fmla="*/ 0 h 2754"/>
                  <a:gd name="T18" fmla="*/ 0 w 92"/>
                  <a:gd name="T19" fmla="*/ 0 h 275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2"/>
                  <a:gd name="T31" fmla="*/ 0 h 2754"/>
                  <a:gd name="T32" fmla="*/ 92 w 92"/>
                  <a:gd name="T33" fmla="*/ 2754 h 275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2" h="2754">
                    <a:moveTo>
                      <a:pt x="46" y="2654"/>
                    </a:moveTo>
                    <a:lnTo>
                      <a:pt x="92" y="2704"/>
                    </a:lnTo>
                    <a:lnTo>
                      <a:pt x="92" y="0"/>
                    </a:lnTo>
                    <a:lnTo>
                      <a:pt x="0" y="0"/>
                    </a:lnTo>
                    <a:lnTo>
                      <a:pt x="0" y="2704"/>
                    </a:lnTo>
                    <a:lnTo>
                      <a:pt x="46" y="2754"/>
                    </a:lnTo>
                    <a:lnTo>
                      <a:pt x="0" y="2704"/>
                    </a:lnTo>
                    <a:lnTo>
                      <a:pt x="0" y="2754"/>
                    </a:lnTo>
                    <a:lnTo>
                      <a:pt x="46" y="2754"/>
                    </a:lnTo>
                    <a:lnTo>
                      <a:pt x="46" y="2654"/>
                    </a:lnTo>
                    <a:close/>
                  </a:path>
                </a:pathLst>
              </a:custGeom>
              <a:solidFill>
                <a:srgbClr val="1F1A17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586" name="Freeform 28"/>
              <p:cNvSpPr>
                <a:spLocks/>
              </p:cNvSpPr>
              <p:nvPr/>
            </p:nvSpPr>
            <p:spPr bwMode="auto">
              <a:xfrm>
                <a:off x="4401" y="4114"/>
                <a:ext cx="141" cy="10"/>
              </a:xfrm>
              <a:custGeom>
                <a:avLst/>
                <a:gdLst>
                  <a:gd name="T0" fmla="*/ 0 w 1270"/>
                  <a:gd name="T1" fmla="*/ 0 h 100"/>
                  <a:gd name="T2" fmla="*/ 0 w 1270"/>
                  <a:gd name="T3" fmla="*/ 0 h 100"/>
                  <a:gd name="T4" fmla="*/ 0 w 1270"/>
                  <a:gd name="T5" fmla="*/ 0 h 100"/>
                  <a:gd name="T6" fmla="*/ 0 w 1270"/>
                  <a:gd name="T7" fmla="*/ 0 h 100"/>
                  <a:gd name="T8" fmla="*/ 0 w 1270"/>
                  <a:gd name="T9" fmla="*/ 0 h 100"/>
                  <a:gd name="T10" fmla="*/ 0 w 1270"/>
                  <a:gd name="T11" fmla="*/ 0 h 100"/>
                  <a:gd name="T12" fmla="*/ 0 w 1270"/>
                  <a:gd name="T13" fmla="*/ 0 h 100"/>
                  <a:gd name="T14" fmla="*/ 0 w 1270"/>
                  <a:gd name="T15" fmla="*/ 0 h 100"/>
                  <a:gd name="T16" fmla="*/ 0 w 1270"/>
                  <a:gd name="T17" fmla="*/ 0 h 100"/>
                  <a:gd name="T18" fmla="*/ 0 w 1270"/>
                  <a:gd name="T19" fmla="*/ 0 h 10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70"/>
                  <a:gd name="T31" fmla="*/ 0 h 100"/>
                  <a:gd name="T32" fmla="*/ 1270 w 1270"/>
                  <a:gd name="T33" fmla="*/ 100 h 10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70" h="100">
                    <a:moveTo>
                      <a:pt x="1179" y="50"/>
                    </a:moveTo>
                    <a:lnTo>
                      <a:pt x="1225" y="0"/>
                    </a:lnTo>
                    <a:lnTo>
                      <a:pt x="0" y="0"/>
                    </a:lnTo>
                    <a:lnTo>
                      <a:pt x="0" y="100"/>
                    </a:lnTo>
                    <a:lnTo>
                      <a:pt x="1225" y="100"/>
                    </a:lnTo>
                    <a:lnTo>
                      <a:pt x="1270" y="50"/>
                    </a:lnTo>
                    <a:lnTo>
                      <a:pt x="1225" y="100"/>
                    </a:lnTo>
                    <a:lnTo>
                      <a:pt x="1270" y="100"/>
                    </a:lnTo>
                    <a:lnTo>
                      <a:pt x="1270" y="50"/>
                    </a:lnTo>
                    <a:lnTo>
                      <a:pt x="1179" y="50"/>
                    </a:lnTo>
                    <a:close/>
                  </a:path>
                </a:pathLst>
              </a:custGeom>
              <a:solidFill>
                <a:srgbClr val="1F1A17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587" name="Freeform 29"/>
              <p:cNvSpPr>
                <a:spLocks/>
              </p:cNvSpPr>
              <p:nvPr/>
            </p:nvSpPr>
            <p:spPr bwMode="auto">
              <a:xfrm>
                <a:off x="4532" y="3844"/>
                <a:ext cx="10" cy="275"/>
              </a:xfrm>
              <a:custGeom>
                <a:avLst/>
                <a:gdLst>
                  <a:gd name="T0" fmla="*/ 0 w 91"/>
                  <a:gd name="T1" fmla="*/ 0 h 2754"/>
                  <a:gd name="T2" fmla="*/ 0 w 91"/>
                  <a:gd name="T3" fmla="*/ 0 h 2754"/>
                  <a:gd name="T4" fmla="*/ 0 w 91"/>
                  <a:gd name="T5" fmla="*/ 0 h 2754"/>
                  <a:gd name="T6" fmla="*/ 0 w 91"/>
                  <a:gd name="T7" fmla="*/ 0 h 2754"/>
                  <a:gd name="T8" fmla="*/ 0 w 91"/>
                  <a:gd name="T9" fmla="*/ 0 h 2754"/>
                  <a:gd name="T10" fmla="*/ 0 w 91"/>
                  <a:gd name="T11" fmla="*/ 0 h 2754"/>
                  <a:gd name="T12" fmla="*/ 0 w 91"/>
                  <a:gd name="T13" fmla="*/ 0 h 2754"/>
                  <a:gd name="T14" fmla="*/ 0 w 91"/>
                  <a:gd name="T15" fmla="*/ 0 h 2754"/>
                  <a:gd name="T16" fmla="*/ 0 w 91"/>
                  <a:gd name="T17" fmla="*/ 0 h 2754"/>
                  <a:gd name="T18" fmla="*/ 0 w 91"/>
                  <a:gd name="T19" fmla="*/ 0 h 275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1"/>
                  <a:gd name="T31" fmla="*/ 0 h 2754"/>
                  <a:gd name="T32" fmla="*/ 91 w 91"/>
                  <a:gd name="T33" fmla="*/ 2754 h 275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1" h="2754">
                    <a:moveTo>
                      <a:pt x="46" y="100"/>
                    </a:moveTo>
                    <a:lnTo>
                      <a:pt x="0" y="50"/>
                    </a:lnTo>
                    <a:lnTo>
                      <a:pt x="0" y="2754"/>
                    </a:lnTo>
                    <a:lnTo>
                      <a:pt x="91" y="2754"/>
                    </a:lnTo>
                    <a:lnTo>
                      <a:pt x="91" y="50"/>
                    </a:lnTo>
                    <a:lnTo>
                      <a:pt x="46" y="0"/>
                    </a:lnTo>
                    <a:lnTo>
                      <a:pt x="91" y="50"/>
                    </a:lnTo>
                    <a:lnTo>
                      <a:pt x="91" y="0"/>
                    </a:lnTo>
                    <a:lnTo>
                      <a:pt x="46" y="0"/>
                    </a:lnTo>
                    <a:lnTo>
                      <a:pt x="46" y="100"/>
                    </a:lnTo>
                    <a:close/>
                  </a:path>
                </a:pathLst>
              </a:custGeom>
              <a:solidFill>
                <a:srgbClr val="1F1A17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588" name="Rectangle 30"/>
              <p:cNvSpPr>
                <a:spLocks noChangeArrowheads="1"/>
              </p:cNvSpPr>
              <p:nvPr/>
            </p:nvSpPr>
            <p:spPr bwMode="auto">
              <a:xfrm>
                <a:off x="4537" y="4029"/>
                <a:ext cx="136" cy="90"/>
              </a:xfrm>
              <a:prstGeom prst="rect">
                <a:avLst/>
              </a:prstGeom>
              <a:solidFill>
                <a:srgbClr val="DC2B19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589" name="Freeform 31"/>
              <p:cNvSpPr>
                <a:spLocks/>
              </p:cNvSpPr>
              <p:nvPr/>
            </p:nvSpPr>
            <p:spPr bwMode="auto">
              <a:xfrm>
                <a:off x="4537" y="4024"/>
                <a:ext cx="141" cy="10"/>
              </a:xfrm>
              <a:custGeom>
                <a:avLst/>
                <a:gdLst>
                  <a:gd name="T0" fmla="*/ 0 w 1270"/>
                  <a:gd name="T1" fmla="*/ 0 h 100"/>
                  <a:gd name="T2" fmla="*/ 0 w 1270"/>
                  <a:gd name="T3" fmla="*/ 0 h 100"/>
                  <a:gd name="T4" fmla="*/ 0 w 1270"/>
                  <a:gd name="T5" fmla="*/ 0 h 100"/>
                  <a:gd name="T6" fmla="*/ 0 w 1270"/>
                  <a:gd name="T7" fmla="*/ 0 h 100"/>
                  <a:gd name="T8" fmla="*/ 0 w 1270"/>
                  <a:gd name="T9" fmla="*/ 0 h 100"/>
                  <a:gd name="T10" fmla="*/ 0 w 1270"/>
                  <a:gd name="T11" fmla="*/ 0 h 100"/>
                  <a:gd name="T12" fmla="*/ 0 w 1270"/>
                  <a:gd name="T13" fmla="*/ 0 h 100"/>
                  <a:gd name="T14" fmla="*/ 0 w 1270"/>
                  <a:gd name="T15" fmla="*/ 0 h 100"/>
                  <a:gd name="T16" fmla="*/ 0 w 1270"/>
                  <a:gd name="T17" fmla="*/ 0 h 100"/>
                  <a:gd name="T18" fmla="*/ 0 w 1270"/>
                  <a:gd name="T19" fmla="*/ 0 h 10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70"/>
                  <a:gd name="T31" fmla="*/ 0 h 100"/>
                  <a:gd name="T32" fmla="*/ 1270 w 1270"/>
                  <a:gd name="T33" fmla="*/ 100 h 10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70" h="100">
                    <a:moveTo>
                      <a:pt x="1270" y="50"/>
                    </a:moveTo>
                    <a:lnTo>
                      <a:pt x="1225" y="0"/>
                    </a:lnTo>
                    <a:lnTo>
                      <a:pt x="0" y="0"/>
                    </a:lnTo>
                    <a:lnTo>
                      <a:pt x="0" y="100"/>
                    </a:lnTo>
                    <a:lnTo>
                      <a:pt x="1225" y="100"/>
                    </a:lnTo>
                    <a:lnTo>
                      <a:pt x="1180" y="50"/>
                    </a:lnTo>
                    <a:lnTo>
                      <a:pt x="1270" y="50"/>
                    </a:lnTo>
                    <a:lnTo>
                      <a:pt x="1270" y="0"/>
                    </a:lnTo>
                    <a:lnTo>
                      <a:pt x="1225" y="0"/>
                    </a:lnTo>
                    <a:lnTo>
                      <a:pt x="1270" y="50"/>
                    </a:lnTo>
                    <a:close/>
                  </a:path>
                </a:pathLst>
              </a:custGeom>
              <a:solidFill>
                <a:srgbClr val="1F1A17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590" name="Freeform 32"/>
              <p:cNvSpPr>
                <a:spLocks/>
              </p:cNvSpPr>
              <p:nvPr/>
            </p:nvSpPr>
            <p:spPr bwMode="auto">
              <a:xfrm>
                <a:off x="4668" y="4029"/>
                <a:ext cx="10" cy="95"/>
              </a:xfrm>
              <a:custGeom>
                <a:avLst/>
                <a:gdLst>
                  <a:gd name="T0" fmla="*/ 0 w 90"/>
                  <a:gd name="T1" fmla="*/ 0 h 952"/>
                  <a:gd name="T2" fmla="*/ 0 w 90"/>
                  <a:gd name="T3" fmla="*/ 0 h 952"/>
                  <a:gd name="T4" fmla="*/ 0 w 90"/>
                  <a:gd name="T5" fmla="*/ 0 h 952"/>
                  <a:gd name="T6" fmla="*/ 0 w 90"/>
                  <a:gd name="T7" fmla="*/ 0 h 952"/>
                  <a:gd name="T8" fmla="*/ 0 w 90"/>
                  <a:gd name="T9" fmla="*/ 0 h 952"/>
                  <a:gd name="T10" fmla="*/ 0 w 90"/>
                  <a:gd name="T11" fmla="*/ 0 h 952"/>
                  <a:gd name="T12" fmla="*/ 0 w 90"/>
                  <a:gd name="T13" fmla="*/ 0 h 952"/>
                  <a:gd name="T14" fmla="*/ 0 w 90"/>
                  <a:gd name="T15" fmla="*/ 0 h 952"/>
                  <a:gd name="T16" fmla="*/ 0 w 90"/>
                  <a:gd name="T17" fmla="*/ 0 h 952"/>
                  <a:gd name="T18" fmla="*/ 0 w 90"/>
                  <a:gd name="T19" fmla="*/ 0 h 95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0"/>
                  <a:gd name="T31" fmla="*/ 0 h 952"/>
                  <a:gd name="T32" fmla="*/ 90 w 90"/>
                  <a:gd name="T33" fmla="*/ 952 h 95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0" h="952">
                    <a:moveTo>
                      <a:pt x="45" y="952"/>
                    </a:moveTo>
                    <a:lnTo>
                      <a:pt x="90" y="902"/>
                    </a:lnTo>
                    <a:lnTo>
                      <a:pt x="90" y="0"/>
                    </a:lnTo>
                    <a:lnTo>
                      <a:pt x="0" y="0"/>
                    </a:lnTo>
                    <a:lnTo>
                      <a:pt x="0" y="902"/>
                    </a:lnTo>
                    <a:lnTo>
                      <a:pt x="45" y="852"/>
                    </a:lnTo>
                    <a:lnTo>
                      <a:pt x="45" y="952"/>
                    </a:lnTo>
                    <a:lnTo>
                      <a:pt x="90" y="952"/>
                    </a:lnTo>
                    <a:lnTo>
                      <a:pt x="90" y="902"/>
                    </a:lnTo>
                    <a:lnTo>
                      <a:pt x="45" y="952"/>
                    </a:lnTo>
                    <a:close/>
                  </a:path>
                </a:pathLst>
              </a:custGeom>
              <a:solidFill>
                <a:srgbClr val="1F1A17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591" name="Freeform 33"/>
              <p:cNvSpPr>
                <a:spLocks/>
              </p:cNvSpPr>
              <p:nvPr/>
            </p:nvSpPr>
            <p:spPr bwMode="auto">
              <a:xfrm>
                <a:off x="4532" y="4114"/>
                <a:ext cx="141" cy="10"/>
              </a:xfrm>
              <a:custGeom>
                <a:avLst/>
                <a:gdLst>
                  <a:gd name="T0" fmla="*/ 0 w 1271"/>
                  <a:gd name="T1" fmla="*/ 0 h 100"/>
                  <a:gd name="T2" fmla="*/ 0 w 1271"/>
                  <a:gd name="T3" fmla="*/ 0 h 100"/>
                  <a:gd name="T4" fmla="*/ 0 w 1271"/>
                  <a:gd name="T5" fmla="*/ 0 h 100"/>
                  <a:gd name="T6" fmla="*/ 0 w 1271"/>
                  <a:gd name="T7" fmla="*/ 0 h 100"/>
                  <a:gd name="T8" fmla="*/ 0 w 1271"/>
                  <a:gd name="T9" fmla="*/ 0 h 100"/>
                  <a:gd name="T10" fmla="*/ 0 w 1271"/>
                  <a:gd name="T11" fmla="*/ 0 h 100"/>
                  <a:gd name="T12" fmla="*/ 0 w 1271"/>
                  <a:gd name="T13" fmla="*/ 0 h 100"/>
                  <a:gd name="T14" fmla="*/ 0 w 1271"/>
                  <a:gd name="T15" fmla="*/ 0 h 100"/>
                  <a:gd name="T16" fmla="*/ 0 w 1271"/>
                  <a:gd name="T17" fmla="*/ 0 h 100"/>
                  <a:gd name="T18" fmla="*/ 0 w 1271"/>
                  <a:gd name="T19" fmla="*/ 0 h 10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71"/>
                  <a:gd name="T31" fmla="*/ 0 h 100"/>
                  <a:gd name="T32" fmla="*/ 1271 w 1271"/>
                  <a:gd name="T33" fmla="*/ 100 h 10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71" h="100">
                    <a:moveTo>
                      <a:pt x="0" y="50"/>
                    </a:moveTo>
                    <a:lnTo>
                      <a:pt x="46" y="100"/>
                    </a:lnTo>
                    <a:lnTo>
                      <a:pt x="1271" y="100"/>
                    </a:lnTo>
                    <a:lnTo>
                      <a:pt x="1271" y="0"/>
                    </a:lnTo>
                    <a:lnTo>
                      <a:pt x="46" y="0"/>
                    </a:lnTo>
                    <a:lnTo>
                      <a:pt x="91" y="50"/>
                    </a:lnTo>
                    <a:lnTo>
                      <a:pt x="0" y="50"/>
                    </a:lnTo>
                    <a:lnTo>
                      <a:pt x="0" y="100"/>
                    </a:lnTo>
                    <a:lnTo>
                      <a:pt x="46" y="100"/>
                    </a:lnTo>
                    <a:lnTo>
                      <a:pt x="0" y="50"/>
                    </a:lnTo>
                    <a:close/>
                  </a:path>
                </a:pathLst>
              </a:custGeom>
              <a:solidFill>
                <a:srgbClr val="1F1A17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592" name="Freeform 34"/>
              <p:cNvSpPr>
                <a:spLocks/>
              </p:cNvSpPr>
              <p:nvPr/>
            </p:nvSpPr>
            <p:spPr bwMode="auto">
              <a:xfrm>
                <a:off x="4532" y="4024"/>
                <a:ext cx="10" cy="95"/>
              </a:xfrm>
              <a:custGeom>
                <a:avLst/>
                <a:gdLst>
                  <a:gd name="T0" fmla="*/ 0 w 91"/>
                  <a:gd name="T1" fmla="*/ 0 h 952"/>
                  <a:gd name="T2" fmla="*/ 0 w 91"/>
                  <a:gd name="T3" fmla="*/ 0 h 952"/>
                  <a:gd name="T4" fmla="*/ 0 w 91"/>
                  <a:gd name="T5" fmla="*/ 0 h 952"/>
                  <a:gd name="T6" fmla="*/ 0 w 91"/>
                  <a:gd name="T7" fmla="*/ 0 h 952"/>
                  <a:gd name="T8" fmla="*/ 0 w 91"/>
                  <a:gd name="T9" fmla="*/ 0 h 952"/>
                  <a:gd name="T10" fmla="*/ 0 w 91"/>
                  <a:gd name="T11" fmla="*/ 0 h 952"/>
                  <a:gd name="T12" fmla="*/ 0 w 91"/>
                  <a:gd name="T13" fmla="*/ 0 h 952"/>
                  <a:gd name="T14" fmla="*/ 0 w 91"/>
                  <a:gd name="T15" fmla="*/ 0 h 952"/>
                  <a:gd name="T16" fmla="*/ 0 w 91"/>
                  <a:gd name="T17" fmla="*/ 0 h 952"/>
                  <a:gd name="T18" fmla="*/ 0 w 91"/>
                  <a:gd name="T19" fmla="*/ 0 h 95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1"/>
                  <a:gd name="T31" fmla="*/ 0 h 952"/>
                  <a:gd name="T32" fmla="*/ 91 w 91"/>
                  <a:gd name="T33" fmla="*/ 952 h 95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1" h="952">
                    <a:moveTo>
                      <a:pt x="46" y="0"/>
                    </a:moveTo>
                    <a:lnTo>
                      <a:pt x="0" y="50"/>
                    </a:lnTo>
                    <a:lnTo>
                      <a:pt x="0" y="952"/>
                    </a:lnTo>
                    <a:lnTo>
                      <a:pt x="91" y="952"/>
                    </a:lnTo>
                    <a:lnTo>
                      <a:pt x="91" y="50"/>
                    </a:lnTo>
                    <a:lnTo>
                      <a:pt x="46" y="100"/>
                    </a:lnTo>
                    <a:lnTo>
                      <a:pt x="46" y="0"/>
                    </a:lnTo>
                    <a:lnTo>
                      <a:pt x="0" y="0"/>
                    </a:lnTo>
                    <a:lnTo>
                      <a:pt x="0" y="50"/>
                    </a:lnTo>
                    <a:lnTo>
                      <a:pt x="46" y="0"/>
                    </a:lnTo>
                    <a:close/>
                  </a:path>
                </a:pathLst>
              </a:custGeom>
              <a:solidFill>
                <a:srgbClr val="1F1A17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593" name="Rectangle 35"/>
              <p:cNvSpPr>
                <a:spLocks noChangeArrowheads="1"/>
              </p:cNvSpPr>
              <p:nvPr/>
            </p:nvSpPr>
            <p:spPr bwMode="auto">
              <a:xfrm>
                <a:off x="4673" y="3984"/>
                <a:ext cx="136" cy="135"/>
              </a:xfrm>
              <a:prstGeom prst="rect">
                <a:avLst/>
              </a:prstGeom>
              <a:solidFill>
                <a:srgbClr val="DC2B19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594" name="Freeform 36"/>
              <p:cNvSpPr>
                <a:spLocks/>
              </p:cNvSpPr>
              <p:nvPr/>
            </p:nvSpPr>
            <p:spPr bwMode="auto">
              <a:xfrm>
                <a:off x="4673" y="3979"/>
                <a:ext cx="141" cy="10"/>
              </a:xfrm>
              <a:custGeom>
                <a:avLst/>
                <a:gdLst>
                  <a:gd name="T0" fmla="*/ 0 w 1271"/>
                  <a:gd name="T1" fmla="*/ 0 h 100"/>
                  <a:gd name="T2" fmla="*/ 0 w 1271"/>
                  <a:gd name="T3" fmla="*/ 0 h 100"/>
                  <a:gd name="T4" fmla="*/ 0 w 1271"/>
                  <a:gd name="T5" fmla="*/ 0 h 100"/>
                  <a:gd name="T6" fmla="*/ 0 w 1271"/>
                  <a:gd name="T7" fmla="*/ 0 h 100"/>
                  <a:gd name="T8" fmla="*/ 0 w 1271"/>
                  <a:gd name="T9" fmla="*/ 0 h 100"/>
                  <a:gd name="T10" fmla="*/ 0 w 1271"/>
                  <a:gd name="T11" fmla="*/ 0 h 100"/>
                  <a:gd name="T12" fmla="*/ 0 w 1271"/>
                  <a:gd name="T13" fmla="*/ 0 h 100"/>
                  <a:gd name="T14" fmla="*/ 0 w 1271"/>
                  <a:gd name="T15" fmla="*/ 0 h 100"/>
                  <a:gd name="T16" fmla="*/ 0 w 1271"/>
                  <a:gd name="T17" fmla="*/ 0 h 100"/>
                  <a:gd name="T18" fmla="*/ 0 w 1271"/>
                  <a:gd name="T19" fmla="*/ 0 h 10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71"/>
                  <a:gd name="T31" fmla="*/ 0 h 100"/>
                  <a:gd name="T32" fmla="*/ 1271 w 1271"/>
                  <a:gd name="T33" fmla="*/ 100 h 10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71" h="100">
                    <a:moveTo>
                      <a:pt x="1271" y="50"/>
                    </a:moveTo>
                    <a:lnTo>
                      <a:pt x="1225" y="0"/>
                    </a:lnTo>
                    <a:lnTo>
                      <a:pt x="0" y="0"/>
                    </a:lnTo>
                    <a:lnTo>
                      <a:pt x="0" y="100"/>
                    </a:lnTo>
                    <a:lnTo>
                      <a:pt x="1225" y="100"/>
                    </a:lnTo>
                    <a:lnTo>
                      <a:pt x="1180" y="50"/>
                    </a:lnTo>
                    <a:lnTo>
                      <a:pt x="1271" y="50"/>
                    </a:lnTo>
                    <a:lnTo>
                      <a:pt x="1271" y="0"/>
                    </a:lnTo>
                    <a:lnTo>
                      <a:pt x="1225" y="0"/>
                    </a:lnTo>
                    <a:lnTo>
                      <a:pt x="1271" y="50"/>
                    </a:lnTo>
                    <a:close/>
                  </a:path>
                </a:pathLst>
              </a:custGeom>
              <a:solidFill>
                <a:srgbClr val="1F1A17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595" name="Freeform 37"/>
              <p:cNvSpPr>
                <a:spLocks/>
              </p:cNvSpPr>
              <p:nvPr/>
            </p:nvSpPr>
            <p:spPr bwMode="auto">
              <a:xfrm>
                <a:off x="4804" y="3984"/>
                <a:ext cx="10" cy="140"/>
              </a:xfrm>
              <a:custGeom>
                <a:avLst/>
                <a:gdLst>
                  <a:gd name="T0" fmla="*/ 0 w 91"/>
                  <a:gd name="T1" fmla="*/ 0 h 1402"/>
                  <a:gd name="T2" fmla="*/ 0 w 91"/>
                  <a:gd name="T3" fmla="*/ 0 h 1402"/>
                  <a:gd name="T4" fmla="*/ 0 w 91"/>
                  <a:gd name="T5" fmla="*/ 0 h 1402"/>
                  <a:gd name="T6" fmla="*/ 0 w 91"/>
                  <a:gd name="T7" fmla="*/ 0 h 1402"/>
                  <a:gd name="T8" fmla="*/ 0 w 91"/>
                  <a:gd name="T9" fmla="*/ 0 h 1402"/>
                  <a:gd name="T10" fmla="*/ 0 w 91"/>
                  <a:gd name="T11" fmla="*/ 0 h 1402"/>
                  <a:gd name="T12" fmla="*/ 0 w 91"/>
                  <a:gd name="T13" fmla="*/ 0 h 1402"/>
                  <a:gd name="T14" fmla="*/ 0 w 91"/>
                  <a:gd name="T15" fmla="*/ 0 h 1402"/>
                  <a:gd name="T16" fmla="*/ 0 w 91"/>
                  <a:gd name="T17" fmla="*/ 0 h 1402"/>
                  <a:gd name="T18" fmla="*/ 0 w 91"/>
                  <a:gd name="T19" fmla="*/ 0 h 140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1"/>
                  <a:gd name="T31" fmla="*/ 0 h 1402"/>
                  <a:gd name="T32" fmla="*/ 91 w 91"/>
                  <a:gd name="T33" fmla="*/ 1402 h 140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1" h="1402">
                    <a:moveTo>
                      <a:pt x="45" y="1402"/>
                    </a:moveTo>
                    <a:lnTo>
                      <a:pt x="91" y="1352"/>
                    </a:lnTo>
                    <a:lnTo>
                      <a:pt x="91" y="0"/>
                    </a:lnTo>
                    <a:lnTo>
                      <a:pt x="0" y="0"/>
                    </a:lnTo>
                    <a:lnTo>
                      <a:pt x="0" y="1352"/>
                    </a:lnTo>
                    <a:lnTo>
                      <a:pt x="45" y="1302"/>
                    </a:lnTo>
                    <a:lnTo>
                      <a:pt x="45" y="1402"/>
                    </a:lnTo>
                    <a:lnTo>
                      <a:pt x="91" y="1402"/>
                    </a:lnTo>
                    <a:lnTo>
                      <a:pt x="91" y="1352"/>
                    </a:lnTo>
                    <a:lnTo>
                      <a:pt x="45" y="1402"/>
                    </a:lnTo>
                    <a:close/>
                  </a:path>
                </a:pathLst>
              </a:custGeom>
              <a:solidFill>
                <a:srgbClr val="1F1A17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596" name="Freeform 38"/>
              <p:cNvSpPr>
                <a:spLocks/>
              </p:cNvSpPr>
              <p:nvPr/>
            </p:nvSpPr>
            <p:spPr bwMode="auto">
              <a:xfrm>
                <a:off x="4668" y="4114"/>
                <a:ext cx="141" cy="10"/>
              </a:xfrm>
              <a:custGeom>
                <a:avLst/>
                <a:gdLst>
                  <a:gd name="T0" fmla="*/ 0 w 1270"/>
                  <a:gd name="T1" fmla="*/ 0 h 100"/>
                  <a:gd name="T2" fmla="*/ 0 w 1270"/>
                  <a:gd name="T3" fmla="*/ 0 h 100"/>
                  <a:gd name="T4" fmla="*/ 0 w 1270"/>
                  <a:gd name="T5" fmla="*/ 0 h 100"/>
                  <a:gd name="T6" fmla="*/ 0 w 1270"/>
                  <a:gd name="T7" fmla="*/ 0 h 100"/>
                  <a:gd name="T8" fmla="*/ 0 w 1270"/>
                  <a:gd name="T9" fmla="*/ 0 h 100"/>
                  <a:gd name="T10" fmla="*/ 0 w 1270"/>
                  <a:gd name="T11" fmla="*/ 0 h 100"/>
                  <a:gd name="T12" fmla="*/ 0 w 1270"/>
                  <a:gd name="T13" fmla="*/ 0 h 100"/>
                  <a:gd name="T14" fmla="*/ 0 w 1270"/>
                  <a:gd name="T15" fmla="*/ 0 h 100"/>
                  <a:gd name="T16" fmla="*/ 0 w 1270"/>
                  <a:gd name="T17" fmla="*/ 0 h 100"/>
                  <a:gd name="T18" fmla="*/ 0 w 1270"/>
                  <a:gd name="T19" fmla="*/ 0 h 10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70"/>
                  <a:gd name="T31" fmla="*/ 0 h 100"/>
                  <a:gd name="T32" fmla="*/ 1270 w 1270"/>
                  <a:gd name="T33" fmla="*/ 100 h 10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70" h="100">
                    <a:moveTo>
                      <a:pt x="0" y="50"/>
                    </a:moveTo>
                    <a:lnTo>
                      <a:pt x="45" y="100"/>
                    </a:lnTo>
                    <a:lnTo>
                      <a:pt x="1270" y="100"/>
                    </a:lnTo>
                    <a:lnTo>
                      <a:pt x="1270" y="0"/>
                    </a:lnTo>
                    <a:lnTo>
                      <a:pt x="45" y="0"/>
                    </a:lnTo>
                    <a:lnTo>
                      <a:pt x="90" y="50"/>
                    </a:lnTo>
                    <a:lnTo>
                      <a:pt x="0" y="50"/>
                    </a:lnTo>
                    <a:lnTo>
                      <a:pt x="0" y="100"/>
                    </a:lnTo>
                    <a:lnTo>
                      <a:pt x="45" y="100"/>
                    </a:lnTo>
                    <a:lnTo>
                      <a:pt x="0" y="50"/>
                    </a:lnTo>
                    <a:close/>
                  </a:path>
                </a:pathLst>
              </a:custGeom>
              <a:solidFill>
                <a:srgbClr val="1F1A17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597" name="Freeform 39"/>
              <p:cNvSpPr>
                <a:spLocks/>
              </p:cNvSpPr>
              <p:nvPr/>
            </p:nvSpPr>
            <p:spPr bwMode="auto">
              <a:xfrm>
                <a:off x="4668" y="3979"/>
                <a:ext cx="10" cy="140"/>
              </a:xfrm>
              <a:custGeom>
                <a:avLst/>
                <a:gdLst>
                  <a:gd name="T0" fmla="*/ 0 w 90"/>
                  <a:gd name="T1" fmla="*/ 0 h 1402"/>
                  <a:gd name="T2" fmla="*/ 0 w 90"/>
                  <a:gd name="T3" fmla="*/ 0 h 1402"/>
                  <a:gd name="T4" fmla="*/ 0 w 90"/>
                  <a:gd name="T5" fmla="*/ 0 h 1402"/>
                  <a:gd name="T6" fmla="*/ 0 w 90"/>
                  <a:gd name="T7" fmla="*/ 0 h 1402"/>
                  <a:gd name="T8" fmla="*/ 0 w 90"/>
                  <a:gd name="T9" fmla="*/ 0 h 1402"/>
                  <a:gd name="T10" fmla="*/ 0 w 90"/>
                  <a:gd name="T11" fmla="*/ 0 h 1402"/>
                  <a:gd name="T12" fmla="*/ 0 w 90"/>
                  <a:gd name="T13" fmla="*/ 0 h 1402"/>
                  <a:gd name="T14" fmla="*/ 0 w 90"/>
                  <a:gd name="T15" fmla="*/ 0 h 1402"/>
                  <a:gd name="T16" fmla="*/ 0 w 90"/>
                  <a:gd name="T17" fmla="*/ 0 h 1402"/>
                  <a:gd name="T18" fmla="*/ 0 w 90"/>
                  <a:gd name="T19" fmla="*/ 0 h 140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0"/>
                  <a:gd name="T31" fmla="*/ 0 h 1402"/>
                  <a:gd name="T32" fmla="*/ 90 w 90"/>
                  <a:gd name="T33" fmla="*/ 1402 h 140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0" h="1402">
                    <a:moveTo>
                      <a:pt x="45" y="0"/>
                    </a:moveTo>
                    <a:lnTo>
                      <a:pt x="0" y="50"/>
                    </a:lnTo>
                    <a:lnTo>
                      <a:pt x="0" y="1402"/>
                    </a:lnTo>
                    <a:lnTo>
                      <a:pt x="90" y="1402"/>
                    </a:lnTo>
                    <a:lnTo>
                      <a:pt x="90" y="50"/>
                    </a:lnTo>
                    <a:lnTo>
                      <a:pt x="45" y="100"/>
                    </a:lnTo>
                    <a:lnTo>
                      <a:pt x="45" y="0"/>
                    </a:lnTo>
                    <a:lnTo>
                      <a:pt x="0" y="0"/>
                    </a:lnTo>
                    <a:lnTo>
                      <a:pt x="0" y="50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1F1A17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598" name="Rectangle 40"/>
              <p:cNvSpPr>
                <a:spLocks noChangeArrowheads="1"/>
              </p:cNvSpPr>
              <p:nvPr/>
            </p:nvSpPr>
            <p:spPr bwMode="auto">
              <a:xfrm>
                <a:off x="4809" y="4074"/>
                <a:ext cx="136" cy="45"/>
              </a:xfrm>
              <a:prstGeom prst="rect">
                <a:avLst/>
              </a:prstGeom>
              <a:solidFill>
                <a:srgbClr val="DC2B19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599" name="Freeform 41"/>
              <p:cNvSpPr>
                <a:spLocks/>
              </p:cNvSpPr>
              <p:nvPr/>
            </p:nvSpPr>
            <p:spPr bwMode="auto">
              <a:xfrm>
                <a:off x="4804" y="4069"/>
                <a:ext cx="141" cy="10"/>
              </a:xfrm>
              <a:custGeom>
                <a:avLst/>
                <a:gdLst>
                  <a:gd name="T0" fmla="*/ 0 w 1271"/>
                  <a:gd name="T1" fmla="*/ 0 h 100"/>
                  <a:gd name="T2" fmla="*/ 0 w 1271"/>
                  <a:gd name="T3" fmla="*/ 0 h 100"/>
                  <a:gd name="T4" fmla="*/ 0 w 1271"/>
                  <a:gd name="T5" fmla="*/ 0 h 100"/>
                  <a:gd name="T6" fmla="*/ 0 w 1271"/>
                  <a:gd name="T7" fmla="*/ 0 h 100"/>
                  <a:gd name="T8" fmla="*/ 0 w 1271"/>
                  <a:gd name="T9" fmla="*/ 0 h 100"/>
                  <a:gd name="T10" fmla="*/ 0 w 1271"/>
                  <a:gd name="T11" fmla="*/ 0 h 100"/>
                  <a:gd name="T12" fmla="*/ 0 w 1271"/>
                  <a:gd name="T13" fmla="*/ 0 h 100"/>
                  <a:gd name="T14" fmla="*/ 0 w 1271"/>
                  <a:gd name="T15" fmla="*/ 0 h 100"/>
                  <a:gd name="T16" fmla="*/ 0 w 1271"/>
                  <a:gd name="T17" fmla="*/ 0 h 100"/>
                  <a:gd name="T18" fmla="*/ 0 w 1271"/>
                  <a:gd name="T19" fmla="*/ 0 h 10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71"/>
                  <a:gd name="T31" fmla="*/ 0 h 100"/>
                  <a:gd name="T32" fmla="*/ 1271 w 1271"/>
                  <a:gd name="T33" fmla="*/ 100 h 10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71" h="100">
                    <a:moveTo>
                      <a:pt x="91" y="50"/>
                    </a:moveTo>
                    <a:lnTo>
                      <a:pt x="45" y="100"/>
                    </a:lnTo>
                    <a:lnTo>
                      <a:pt x="1271" y="100"/>
                    </a:lnTo>
                    <a:lnTo>
                      <a:pt x="1271" y="0"/>
                    </a:lnTo>
                    <a:lnTo>
                      <a:pt x="45" y="0"/>
                    </a:lnTo>
                    <a:lnTo>
                      <a:pt x="0" y="50"/>
                    </a:lnTo>
                    <a:lnTo>
                      <a:pt x="45" y="0"/>
                    </a:lnTo>
                    <a:lnTo>
                      <a:pt x="0" y="0"/>
                    </a:lnTo>
                    <a:lnTo>
                      <a:pt x="0" y="50"/>
                    </a:lnTo>
                    <a:lnTo>
                      <a:pt x="91" y="50"/>
                    </a:lnTo>
                    <a:close/>
                  </a:path>
                </a:pathLst>
              </a:custGeom>
              <a:solidFill>
                <a:srgbClr val="1F1A17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600" name="Freeform 42"/>
              <p:cNvSpPr>
                <a:spLocks/>
              </p:cNvSpPr>
              <p:nvPr/>
            </p:nvSpPr>
            <p:spPr bwMode="auto">
              <a:xfrm>
                <a:off x="4804" y="4074"/>
                <a:ext cx="10" cy="50"/>
              </a:xfrm>
              <a:custGeom>
                <a:avLst/>
                <a:gdLst>
                  <a:gd name="T0" fmla="*/ 0 w 91"/>
                  <a:gd name="T1" fmla="*/ 0 h 501"/>
                  <a:gd name="T2" fmla="*/ 0 w 91"/>
                  <a:gd name="T3" fmla="*/ 0 h 501"/>
                  <a:gd name="T4" fmla="*/ 0 w 91"/>
                  <a:gd name="T5" fmla="*/ 0 h 501"/>
                  <a:gd name="T6" fmla="*/ 0 w 91"/>
                  <a:gd name="T7" fmla="*/ 0 h 501"/>
                  <a:gd name="T8" fmla="*/ 0 w 91"/>
                  <a:gd name="T9" fmla="*/ 0 h 501"/>
                  <a:gd name="T10" fmla="*/ 0 w 91"/>
                  <a:gd name="T11" fmla="*/ 0 h 501"/>
                  <a:gd name="T12" fmla="*/ 0 w 91"/>
                  <a:gd name="T13" fmla="*/ 0 h 501"/>
                  <a:gd name="T14" fmla="*/ 0 w 91"/>
                  <a:gd name="T15" fmla="*/ 0 h 501"/>
                  <a:gd name="T16" fmla="*/ 0 w 91"/>
                  <a:gd name="T17" fmla="*/ 0 h 501"/>
                  <a:gd name="T18" fmla="*/ 0 w 91"/>
                  <a:gd name="T19" fmla="*/ 0 h 50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1"/>
                  <a:gd name="T31" fmla="*/ 0 h 501"/>
                  <a:gd name="T32" fmla="*/ 91 w 91"/>
                  <a:gd name="T33" fmla="*/ 501 h 50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1" h="501">
                    <a:moveTo>
                      <a:pt x="45" y="401"/>
                    </a:moveTo>
                    <a:lnTo>
                      <a:pt x="91" y="451"/>
                    </a:lnTo>
                    <a:lnTo>
                      <a:pt x="91" y="0"/>
                    </a:lnTo>
                    <a:lnTo>
                      <a:pt x="0" y="0"/>
                    </a:lnTo>
                    <a:lnTo>
                      <a:pt x="0" y="451"/>
                    </a:lnTo>
                    <a:lnTo>
                      <a:pt x="45" y="501"/>
                    </a:lnTo>
                    <a:lnTo>
                      <a:pt x="0" y="451"/>
                    </a:lnTo>
                    <a:lnTo>
                      <a:pt x="0" y="501"/>
                    </a:lnTo>
                    <a:lnTo>
                      <a:pt x="45" y="501"/>
                    </a:lnTo>
                    <a:lnTo>
                      <a:pt x="45" y="401"/>
                    </a:lnTo>
                    <a:close/>
                  </a:path>
                </a:pathLst>
              </a:custGeom>
              <a:solidFill>
                <a:srgbClr val="1F1A17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601" name="Freeform 43"/>
              <p:cNvSpPr>
                <a:spLocks/>
              </p:cNvSpPr>
              <p:nvPr/>
            </p:nvSpPr>
            <p:spPr bwMode="auto">
              <a:xfrm>
                <a:off x="4809" y="4114"/>
                <a:ext cx="141" cy="10"/>
              </a:xfrm>
              <a:custGeom>
                <a:avLst/>
                <a:gdLst>
                  <a:gd name="T0" fmla="*/ 0 w 1271"/>
                  <a:gd name="T1" fmla="*/ 0 h 100"/>
                  <a:gd name="T2" fmla="*/ 0 w 1271"/>
                  <a:gd name="T3" fmla="*/ 0 h 100"/>
                  <a:gd name="T4" fmla="*/ 0 w 1271"/>
                  <a:gd name="T5" fmla="*/ 0 h 100"/>
                  <a:gd name="T6" fmla="*/ 0 w 1271"/>
                  <a:gd name="T7" fmla="*/ 0 h 100"/>
                  <a:gd name="T8" fmla="*/ 0 w 1271"/>
                  <a:gd name="T9" fmla="*/ 0 h 100"/>
                  <a:gd name="T10" fmla="*/ 0 w 1271"/>
                  <a:gd name="T11" fmla="*/ 0 h 100"/>
                  <a:gd name="T12" fmla="*/ 0 w 1271"/>
                  <a:gd name="T13" fmla="*/ 0 h 100"/>
                  <a:gd name="T14" fmla="*/ 0 w 1271"/>
                  <a:gd name="T15" fmla="*/ 0 h 100"/>
                  <a:gd name="T16" fmla="*/ 0 w 1271"/>
                  <a:gd name="T17" fmla="*/ 0 h 100"/>
                  <a:gd name="T18" fmla="*/ 0 w 1271"/>
                  <a:gd name="T19" fmla="*/ 0 h 10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71"/>
                  <a:gd name="T31" fmla="*/ 0 h 100"/>
                  <a:gd name="T32" fmla="*/ 1271 w 1271"/>
                  <a:gd name="T33" fmla="*/ 100 h 10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71" h="100">
                    <a:moveTo>
                      <a:pt x="1180" y="50"/>
                    </a:moveTo>
                    <a:lnTo>
                      <a:pt x="1226" y="0"/>
                    </a:lnTo>
                    <a:lnTo>
                      <a:pt x="0" y="0"/>
                    </a:lnTo>
                    <a:lnTo>
                      <a:pt x="0" y="100"/>
                    </a:lnTo>
                    <a:lnTo>
                      <a:pt x="1226" y="100"/>
                    </a:lnTo>
                    <a:lnTo>
                      <a:pt x="1271" y="50"/>
                    </a:lnTo>
                    <a:lnTo>
                      <a:pt x="1226" y="100"/>
                    </a:lnTo>
                    <a:lnTo>
                      <a:pt x="1271" y="100"/>
                    </a:lnTo>
                    <a:lnTo>
                      <a:pt x="1271" y="50"/>
                    </a:lnTo>
                    <a:lnTo>
                      <a:pt x="1180" y="50"/>
                    </a:lnTo>
                    <a:close/>
                  </a:path>
                </a:pathLst>
              </a:custGeom>
              <a:solidFill>
                <a:srgbClr val="1F1A17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602" name="Freeform 44"/>
              <p:cNvSpPr>
                <a:spLocks/>
              </p:cNvSpPr>
              <p:nvPr/>
            </p:nvSpPr>
            <p:spPr bwMode="auto">
              <a:xfrm>
                <a:off x="4940" y="4069"/>
                <a:ext cx="10" cy="50"/>
              </a:xfrm>
              <a:custGeom>
                <a:avLst/>
                <a:gdLst>
                  <a:gd name="T0" fmla="*/ 0 w 91"/>
                  <a:gd name="T1" fmla="*/ 0 h 501"/>
                  <a:gd name="T2" fmla="*/ 0 w 91"/>
                  <a:gd name="T3" fmla="*/ 0 h 501"/>
                  <a:gd name="T4" fmla="*/ 0 w 91"/>
                  <a:gd name="T5" fmla="*/ 0 h 501"/>
                  <a:gd name="T6" fmla="*/ 0 w 91"/>
                  <a:gd name="T7" fmla="*/ 0 h 501"/>
                  <a:gd name="T8" fmla="*/ 0 w 91"/>
                  <a:gd name="T9" fmla="*/ 0 h 501"/>
                  <a:gd name="T10" fmla="*/ 0 w 91"/>
                  <a:gd name="T11" fmla="*/ 0 h 501"/>
                  <a:gd name="T12" fmla="*/ 0 w 91"/>
                  <a:gd name="T13" fmla="*/ 0 h 501"/>
                  <a:gd name="T14" fmla="*/ 0 w 91"/>
                  <a:gd name="T15" fmla="*/ 0 h 501"/>
                  <a:gd name="T16" fmla="*/ 0 w 91"/>
                  <a:gd name="T17" fmla="*/ 0 h 501"/>
                  <a:gd name="T18" fmla="*/ 0 w 91"/>
                  <a:gd name="T19" fmla="*/ 0 h 50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1"/>
                  <a:gd name="T31" fmla="*/ 0 h 501"/>
                  <a:gd name="T32" fmla="*/ 91 w 91"/>
                  <a:gd name="T33" fmla="*/ 501 h 50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1" h="501">
                    <a:moveTo>
                      <a:pt x="46" y="100"/>
                    </a:moveTo>
                    <a:lnTo>
                      <a:pt x="0" y="50"/>
                    </a:lnTo>
                    <a:lnTo>
                      <a:pt x="0" y="501"/>
                    </a:lnTo>
                    <a:lnTo>
                      <a:pt x="91" y="501"/>
                    </a:lnTo>
                    <a:lnTo>
                      <a:pt x="91" y="50"/>
                    </a:lnTo>
                    <a:lnTo>
                      <a:pt x="46" y="0"/>
                    </a:lnTo>
                    <a:lnTo>
                      <a:pt x="91" y="50"/>
                    </a:lnTo>
                    <a:lnTo>
                      <a:pt x="91" y="0"/>
                    </a:lnTo>
                    <a:lnTo>
                      <a:pt x="46" y="0"/>
                    </a:lnTo>
                    <a:lnTo>
                      <a:pt x="46" y="100"/>
                    </a:lnTo>
                    <a:close/>
                  </a:path>
                </a:pathLst>
              </a:custGeom>
              <a:solidFill>
                <a:srgbClr val="1F1A17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603" name="Rectangle 45"/>
              <p:cNvSpPr>
                <a:spLocks noChangeArrowheads="1"/>
              </p:cNvSpPr>
              <p:nvPr/>
            </p:nvSpPr>
            <p:spPr bwMode="auto">
              <a:xfrm>
                <a:off x="4945" y="4029"/>
                <a:ext cx="137" cy="90"/>
              </a:xfrm>
              <a:prstGeom prst="rect">
                <a:avLst/>
              </a:prstGeom>
              <a:solidFill>
                <a:srgbClr val="DC2B19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604" name="Freeform 46"/>
              <p:cNvSpPr>
                <a:spLocks/>
              </p:cNvSpPr>
              <p:nvPr/>
            </p:nvSpPr>
            <p:spPr bwMode="auto">
              <a:xfrm>
                <a:off x="4945" y="4024"/>
                <a:ext cx="142" cy="10"/>
              </a:xfrm>
              <a:custGeom>
                <a:avLst/>
                <a:gdLst>
                  <a:gd name="T0" fmla="*/ 0 w 1270"/>
                  <a:gd name="T1" fmla="*/ 0 h 100"/>
                  <a:gd name="T2" fmla="*/ 0 w 1270"/>
                  <a:gd name="T3" fmla="*/ 0 h 100"/>
                  <a:gd name="T4" fmla="*/ 0 w 1270"/>
                  <a:gd name="T5" fmla="*/ 0 h 100"/>
                  <a:gd name="T6" fmla="*/ 0 w 1270"/>
                  <a:gd name="T7" fmla="*/ 0 h 100"/>
                  <a:gd name="T8" fmla="*/ 0 w 1270"/>
                  <a:gd name="T9" fmla="*/ 0 h 100"/>
                  <a:gd name="T10" fmla="*/ 0 w 1270"/>
                  <a:gd name="T11" fmla="*/ 0 h 100"/>
                  <a:gd name="T12" fmla="*/ 0 w 1270"/>
                  <a:gd name="T13" fmla="*/ 0 h 100"/>
                  <a:gd name="T14" fmla="*/ 0 w 1270"/>
                  <a:gd name="T15" fmla="*/ 0 h 100"/>
                  <a:gd name="T16" fmla="*/ 0 w 1270"/>
                  <a:gd name="T17" fmla="*/ 0 h 100"/>
                  <a:gd name="T18" fmla="*/ 0 w 1270"/>
                  <a:gd name="T19" fmla="*/ 0 h 10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70"/>
                  <a:gd name="T31" fmla="*/ 0 h 100"/>
                  <a:gd name="T32" fmla="*/ 1270 w 1270"/>
                  <a:gd name="T33" fmla="*/ 100 h 10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70" h="100">
                    <a:moveTo>
                      <a:pt x="1270" y="50"/>
                    </a:moveTo>
                    <a:lnTo>
                      <a:pt x="1225" y="0"/>
                    </a:lnTo>
                    <a:lnTo>
                      <a:pt x="0" y="0"/>
                    </a:lnTo>
                    <a:lnTo>
                      <a:pt x="0" y="100"/>
                    </a:lnTo>
                    <a:lnTo>
                      <a:pt x="1225" y="100"/>
                    </a:lnTo>
                    <a:lnTo>
                      <a:pt x="1179" y="50"/>
                    </a:lnTo>
                    <a:lnTo>
                      <a:pt x="1270" y="50"/>
                    </a:lnTo>
                    <a:lnTo>
                      <a:pt x="1270" y="0"/>
                    </a:lnTo>
                    <a:lnTo>
                      <a:pt x="1225" y="0"/>
                    </a:lnTo>
                    <a:lnTo>
                      <a:pt x="1270" y="50"/>
                    </a:lnTo>
                    <a:close/>
                  </a:path>
                </a:pathLst>
              </a:custGeom>
              <a:solidFill>
                <a:srgbClr val="1F1A17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605" name="Freeform 47"/>
              <p:cNvSpPr>
                <a:spLocks/>
              </p:cNvSpPr>
              <p:nvPr/>
            </p:nvSpPr>
            <p:spPr bwMode="auto">
              <a:xfrm>
                <a:off x="5076" y="4029"/>
                <a:ext cx="11" cy="95"/>
              </a:xfrm>
              <a:custGeom>
                <a:avLst/>
                <a:gdLst>
                  <a:gd name="T0" fmla="*/ 0 w 91"/>
                  <a:gd name="T1" fmla="*/ 0 h 952"/>
                  <a:gd name="T2" fmla="*/ 0 w 91"/>
                  <a:gd name="T3" fmla="*/ 0 h 952"/>
                  <a:gd name="T4" fmla="*/ 0 w 91"/>
                  <a:gd name="T5" fmla="*/ 0 h 952"/>
                  <a:gd name="T6" fmla="*/ 0 w 91"/>
                  <a:gd name="T7" fmla="*/ 0 h 952"/>
                  <a:gd name="T8" fmla="*/ 0 w 91"/>
                  <a:gd name="T9" fmla="*/ 0 h 952"/>
                  <a:gd name="T10" fmla="*/ 0 w 91"/>
                  <a:gd name="T11" fmla="*/ 0 h 952"/>
                  <a:gd name="T12" fmla="*/ 0 w 91"/>
                  <a:gd name="T13" fmla="*/ 0 h 952"/>
                  <a:gd name="T14" fmla="*/ 0 w 91"/>
                  <a:gd name="T15" fmla="*/ 0 h 952"/>
                  <a:gd name="T16" fmla="*/ 0 w 91"/>
                  <a:gd name="T17" fmla="*/ 0 h 952"/>
                  <a:gd name="T18" fmla="*/ 0 w 91"/>
                  <a:gd name="T19" fmla="*/ 0 h 95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1"/>
                  <a:gd name="T31" fmla="*/ 0 h 952"/>
                  <a:gd name="T32" fmla="*/ 91 w 91"/>
                  <a:gd name="T33" fmla="*/ 952 h 95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1" h="952">
                    <a:moveTo>
                      <a:pt x="46" y="952"/>
                    </a:moveTo>
                    <a:lnTo>
                      <a:pt x="91" y="902"/>
                    </a:lnTo>
                    <a:lnTo>
                      <a:pt x="91" y="0"/>
                    </a:lnTo>
                    <a:lnTo>
                      <a:pt x="0" y="0"/>
                    </a:lnTo>
                    <a:lnTo>
                      <a:pt x="0" y="902"/>
                    </a:lnTo>
                    <a:lnTo>
                      <a:pt x="46" y="852"/>
                    </a:lnTo>
                    <a:lnTo>
                      <a:pt x="46" y="952"/>
                    </a:lnTo>
                    <a:lnTo>
                      <a:pt x="91" y="952"/>
                    </a:lnTo>
                    <a:lnTo>
                      <a:pt x="91" y="902"/>
                    </a:lnTo>
                    <a:lnTo>
                      <a:pt x="46" y="952"/>
                    </a:lnTo>
                    <a:close/>
                  </a:path>
                </a:pathLst>
              </a:custGeom>
              <a:solidFill>
                <a:srgbClr val="1F1A17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606" name="Freeform 48"/>
              <p:cNvSpPr>
                <a:spLocks/>
              </p:cNvSpPr>
              <p:nvPr/>
            </p:nvSpPr>
            <p:spPr bwMode="auto">
              <a:xfrm>
                <a:off x="4940" y="4114"/>
                <a:ext cx="142" cy="10"/>
              </a:xfrm>
              <a:custGeom>
                <a:avLst/>
                <a:gdLst>
                  <a:gd name="T0" fmla="*/ 0 w 1271"/>
                  <a:gd name="T1" fmla="*/ 0 h 100"/>
                  <a:gd name="T2" fmla="*/ 0 w 1271"/>
                  <a:gd name="T3" fmla="*/ 0 h 100"/>
                  <a:gd name="T4" fmla="*/ 0 w 1271"/>
                  <a:gd name="T5" fmla="*/ 0 h 100"/>
                  <a:gd name="T6" fmla="*/ 0 w 1271"/>
                  <a:gd name="T7" fmla="*/ 0 h 100"/>
                  <a:gd name="T8" fmla="*/ 0 w 1271"/>
                  <a:gd name="T9" fmla="*/ 0 h 100"/>
                  <a:gd name="T10" fmla="*/ 0 w 1271"/>
                  <a:gd name="T11" fmla="*/ 0 h 100"/>
                  <a:gd name="T12" fmla="*/ 0 w 1271"/>
                  <a:gd name="T13" fmla="*/ 0 h 100"/>
                  <a:gd name="T14" fmla="*/ 0 w 1271"/>
                  <a:gd name="T15" fmla="*/ 0 h 100"/>
                  <a:gd name="T16" fmla="*/ 0 w 1271"/>
                  <a:gd name="T17" fmla="*/ 0 h 100"/>
                  <a:gd name="T18" fmla="*/ 0 w 1271"/>
                  <a:gd name="T19" fmla="*/ 0 h 10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71"/>
                  <a:gd name="T31" fmla="*/ 0 h 100"/>
                  <a:gd name="T32" fmla="*/ 1271 w 1271"/>
                  <a:gd name="T33" fmla="*/ 100 h 10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71" h="100">
                    <a:moveTo>
                      <a:pt x="0" y="50"/>
                    </a:moveTo>
                    <a:lnTo>
                      <a:pt x="46" y="100"/>
                    </a:lnTo>
                    <a:lnTo>
                      <a:pt x="1271" y="100"/>
                    </a:lnTo>
                    <a:lnTo>
                      <a:pt x="1271" y="0"/>
                    </a:lnTo>
                    <a:lnTo>
                      <a:pt x="46" y="0"/>
                    </a:lnTo>
                    <a:lnTo>
                      <a:pt x="91" y="50"/>
                    </a:lnTo>
                    <a:lnTo>
                      <a:pt x="0" y="50"/>
                    </a:lnTo>
                    <a:lnTo>
                      <a:pt x="0" y="100"/>
                    </a:lnTo>
                    <a:lnTo>
                      <a:pt x="46" y="100"/>
                    </a:lnTo>
                    <a:lnTo>
                      <a:pt x="0" y="50"/>
                    </a:lnTo>
                    <a:close/>
                  </a:path>
                </a:pathLst>
              </a:custGeom>
              <a:solidFill>
                <a:srgbClr val="1F1A17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607" name="Freeform 49"/>
              <p:cNvSpPr>
                <a:spLocks/>
              </p:cNvSpPr>
              <p:nvPr/>
            </p:nvSpPr>
            <p:spPr bwMode="auto">
              <a:xfrm>
                <a:off x="4940" y="4024"/>
                <a:ext cx="10" cy="95"/>
              </a:xfrm>
              <a:custGeom>
                <a:avLst/>
                <a:gdLst>
                  <a:gd name="T0" fmla="*/ 0 w 91"/>
                  <a:gd name="T1" fmla="*/ 0 h 952"/>
                  <a:gd name="T2" fmla="*/ 0 w 91"/>
                  <a:gd name="T3" fmla="*/ 0 h 952"/>
                  <a:gd name="T4" fmla="*/ 0 w 91"/>
                  <a:gd name="T5" fmla="*/ 0 h 952"/>
                  <a:gd name="T6" fmla="*/ 0 w 91"/>
                  <a:gd name="T7" fmla="*/ 0 h 952"/>
                  <a:gd name="T8" fmla="*/ 0 w 91"/>
                  <a:gd name="T9" fmla="*/ 0 h 952"/>
                  <a:gd name="T10" fmla="*/ 0 w 91"/>
                  <a:gd name="T11" fmla="*/ 0 h 952"/>
                  <a:gd name="T12" fmla="*/ 0 w 91"/>
                  <a:gd name="T13" fmla="*/ 0 h 952"/>
                  <a:gd name="T14" fmla="*/ 0 w 91"/>
                  <a:gd name="T15" fmla="*/ 0 h 952"/>
                  <a:gd name="T16" fmla="*/ 0 w 91"/>
                  <a:gd name="T17" fmla="*/ 0 h 952"/>
                  <a:gd name="T18" fmla="*/ 0 w 91"/>
                  <a:gd name="T19" fmla="*/ 0 h 95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91"/>
                  <a:gd name="T31" fmla="*/ 0 h 952"/>
                  <a:gd name="T32" fmla="*/ 91 w 91"/>
                  <a:gd name="T33" fmla="*/ 952 h 95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91" h="952">
                    <a:moveTo>
                      <a:pt x="46" y="0"/>
                    </a:moveTo>
                    <a:lnTo>
                      <a:pt x="0" y="50"/>
                    </a:lnTo>
                    <a:lnTo>
                      <a:pt x="0" y="952"/>
                    </a:lnTo>
                    <a:lnTo>
                      <a:pt x="91" y="952"/>
                    </a:lnTo>
                    <a:lnTo>
                      <a:pt x="91" y="50"/>
                    </a:lnTo>
                    <a:lnTo>
                      <a:pt x="46" y="100"/>
                    </a:lnTo>
                    <a:lnTo>
                      <a:pt x="46" y="0"/>
                    </a:lnTo>
                    <a:lnTo>
                      <a:pt x="0" y="0"/>
                    </a:lnTo>
                    <a:lnTo>
                      <a:pt x="0" y="50"/>
                    </a:lnTo>
                    <a:lnTo>
                      <a:pt x="46" y="0"/>
                    </a:lnTo>
                    <a:close/>
                  </a:path>
                </a:pathLst>
              </a:custGeom>
              <a:solidFill>
                <a:srgbClr val="1F1A17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608" name="Rectangle 50"/>
              <p:cNvSpPr>
                <a:spLocks noChangeArrowheads="1"/>
              </p:cNvSpPr>
              <p:nvPr/>
            </p:nvSpPr>
            <p:spPr bwMode="auto">
              <a:xfrm>
                <a:off x="4080" y="4160"/>
                <a:ext cx="43" cy="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500">
                    <a:solidFill>
                      <a:srgbClr val="000000"/>
                    </a:solidFill>
                    <a:latin typeface="AvantGarde Bk BT" charset="0"/>
                  </a:rPr>
                  <a:t>0</a:t>
                </a:r>
                <a:endParaRPr lang="en-US"/>
              </a:p>
            </p:txBody>
          </p:sp>
          <p:sp>
            <p:nvSpPr>
              <p:cNvPr id="66609" name="Rectangle 51"/>
              <p:cNvSpPr>
                <a:spLocks noChangeArrowheads="1"/>
              </p:cNvSpPr>
              <p:nvPr/>
            </p:nvSpPr>
            <p:spPr bwMode="auto">
              <a:xfrm>
                <a:off x="5036" y="4145"/>
                <a:ext cx="43" cy="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500">
                    <a:solidFill>
                      <a:srgbClr val="000000"/>
                    </a:solidFill>
                    <a:latin typeface="AvantGarde Bk BT" charset="0"/>
                  </a:rPr>
                  <a:t>2</a:t>
                </a:r>
                <a:endParaRPr lang="en-US"/>
              </a:p>
            </p:txBody>
          </p:sp>
          <p:sp>
            <p:nvSpPr>
              <p:cNvPr id="66610" name="Rectangle 52"/>
              <p:cNvSpPr>
                <a:spLocks noChangeArrowheads="1"/>
              </p:cNvSpPr>
              <p:nvPr/>
            </p:nvSpPr>
            <p:spPr bwMode="auto">
              <a:xfrm>
                <a:off x="5104" y="4133"/>
                <a:ext cx="42" cy="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500">
                    <a:solidFill>
                      <a:srgbClr val="000000"/>
                    </a:solidFill>
                    <a:latin typeface="Symbol" pitchFamily="18" charset="2"/>
                  </a:rPr>
                  <a:t>p</a:t>
                </a:r>
                <a:endParaRPr lang="en-US"/>
              </a:p>
            </p:txBody>
          </p:sp>
          <p:sp>
            <p:nvSpPr>
              <p:cNvPr id="66611" name="Freeform 53"/>
              <p:cNvSpPr>
                <a:spLocks/>
              </p:cNvSpPr>
              <p:nvPr/>
            </p:nvSpPr>
            <p:spPr bwMode="auto">
              <a:xfrm>
                <a:off x="4329" y="4153"/>
                <a:ext cx="53" cy="47"/>
              </a:xfrm>
              <a:custGeom>
                <a:avLst/>
                <a:gdLst>
                  <a:gd name="T0" fmla="*/ 0 w 474"/>
                  <a:gd name="T1" fmla="*/ 0 h 476"/>
                  <a:gd name="T2" fmla="*/ 0 w 474"/>
                  <a:gd name="T3" fmla="*/ 0 h 476"/>
                  <a:gd name="T4" fmla="*/ 0 w 474"/>
                  <a:gd name="T5" fmla="*/ 0 h 476"/>
                  <a:gd name="T6" fmla="*/ 0 w 474"/>
                  <a:gd name="T7" fmla="*/ 0 h 476"/>
                  <a:gd name="T8" fmla="*/ 0 w 474"/>
                  <a:gd name="T9" fmla="*/ 0 h 476"/>
                  <a:gd name="T10" fmla="*/ 0 w 474"/>
                  <a:gd name="T11" fmla="*/ 0 h 47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74"/>
                  <a:gd name="T19" fmla="*/ 0 h 476"/>
                  <a:gd name="T20" fmla="*/ 474 w 474"/>
                  <a:gd name="T21" fmla="*/ 476 h 47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74" h="476">
                    <a:moveTo>
                      <a:pt x="474" y="476"/>
                    </a:moveTo>
                    <a:lnTo>
                      <a:pt x="238" y="0"/>
                    </a:lnTo>
                    <a:lnTo>
                      <a:pt x="0" y="476"/>
                    </a:lnTo>
                    <a:lnTo>
                      <a:pt x="474" y="476"/>
                    </a:lnTo>
                    <a:lnTo>
                      <a:pt x="238" y="0"/>
                    </a:lnTo>
                    <a:lnTo>
                      <a:pt x="474" y="476"/>
                    </a:lnTo>
                    <a:close/>
                  </a:path>
                </a:pathLst>
              </a:custGeom>
              <a:solidFill>
                <a:srgbClr val="1F1A17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612" name="Freeform 54"/>
              <p:cNvSpPr>
                <a:spLocks/>
              </p:cNvSpPr>
              <p:nvPr/>
            </p:nvSpPr>
            <p:spPr bwMode="auto">
              <a:xfrm>
                <a:off x="4350" y="4196"/>
                <a:ext cx="11" cy="76"/>
              </a:xfrm>
              <a:custGeom>
                <a:avLst/>
                <a:gdLst>
                  <a:gd name="T0" fmla="*/ 0 w 91"/>
                  <a:gd name="T1" fmla="*/ 0 h 760"/>
                  <a:gd name="T2" fmla="*/ 0 w 91"/>
                  <a:gd name="T3" fmla="*/ 0 h 760"/>
                  <a:gd name="T4" fmla="*/ 0 w 91"/>
                  <a:gd name="T5" fmla="*/ 0 h 760"/>
                  <a:gd name="T6" fmla="*/ 0 w 91"/>
                  <a:gd name="T7" fmla="*/ 0 h 760"/>
                  <a:gd name="T8" fmla="*/ 0 w 91"/>
                  <a:gd name="T9" fmla="*/ 0 h 760"/>
                  <a:gd name="T10" fmla="*/ 0 w 91"/>
                  <a:gd name="T11" fmla="*/ 0 h 76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91"/>
                  <a:gd name="T19" fmla="*/ 0 h 760"/>
                  <a:gd name="T20" fmla="*/ 91 w 91"/>
                  <a:gd name="T21" fmla="*/ 760 h 76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91" h="760">
                    <a:moveTo>
                      <a:pt x="46" y="760"/>
                    </a:moveTo>
                    <a:lnTo>
                      <a:pt x="91" y="760"/>
                    </a:lnTo>
                    <a:lnTo>
                      <a:pt x="91" y="0"/>
                    </a:lnTo>
                    <a:lnTo>
                      <a:pt x="0" y="0"/>
                    </a:lnTo>
                    <a:lnTo>
                      <a:pt x="0" y="760"/>
                    </a:lnTo>
                    <a:lnTo>
                      <a:pt x="46" y="760"/>
                    </a:lnTo>
                    <a:close/>
                  </a:path>
                </a:pathLst>
              </a:custGeom>
              <a:solidFill>
                <a:srgbClr val="1F1A17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6568" name="AutoShape 57"/>
            <p:cNvSpPr>
              <a:spLocks noChangeArrowheads="1"/>
            </p:cNvSpPr>
            <p:nvPr/>
          </p:nvSpPr>
          <p:spPr bwMode="auto">
            <a:xfrm>
              <a:off x="2725" y="3063"/>
              <a:ext cx="539" cy="540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9900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3EC4E0-4BAB-13A0-CE52-5142E1CD9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442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7640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SIFT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/>
            <a:r>
              <a:rPr lang="en-US" dirty="0"/>
              <a:t>Detected features with characteristic scales and orientations:</a:t>
            </a:r>
          </a:p>
        </p:txBody>
      </p:sp>
      <p:pic>
        <p:nvPicPr>
          <p:cNvPr id="4" name="Picture 3" descr="SIFT_fad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1" y="2362200"/>
            <a:ext cx="3656245" cy="2742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23825" y="6455229"/>
            <a:ext cx="11839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/>
            <a:r>
              <a:rPr lang="en-US" sz="1800" dirty="0"/>
              <a:t>David G. Lowe. </a:t>
            </a:r>
            <a:r>
              <a:rPr lang="en-US" sz="1800" b="1" dirty="0">
                <a:hlinkClick r:id="rId3"/>
              </a:rPr>
              <a:t>"Distinctive image features from scale-invariant </a:t>
            </a:r>
            <a:r>
              <a:rPr lang="en-US" sz="1800" b="1" dirty="0" err="1">
                <a:hlinkClick r:id="rId3"/>
              </a:rPr>
              <a:t>keypoints</a:t>
            </a:r>
            <a:r>
              <a:rPr lang="en-US" sz="1800" b="1" dirty="0">
                <a:hlinkClick r:id="rId3"/>
              </a:rPr>
              <a:t>.”</a:t>
            </a:r>
            <a:r>
              <a:rPr lang="en-US" sz="1800" b="1" dirty="0"/>
              <a:t> </a:t>
            </a:r>
            <a:r>
              <a:rPr lang="en-US" sz="1800" i="1" dirty="0"/>
              <a:t>IJCV</a:t>
            </a:r>
            <a:r>
              <a:rPr lang="en-US" sz="1800" dirty="0"/>
              <a:t> 60 (2), pp. 91-110, 2004. </a:t>
            </a:r>
          </a:p>
        </p:txBody>
      </p:sp>
      <p:pic>
        <p:nvPicPr>
          <p:cNvPr id="26626" name="Picture 2" descr="http://cybertron.cg.tu-berlin.de/pdci11/PhotoTourism/images/sift_left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6046" y="2071103"/>
            <a:ext cx="4573355" cy="3634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F200C-25E5-D65F-E325-BAF75177A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15642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Feature Detection to Feature Description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Detection is </a:t>
            </a:r>
            <a:r>
              <a:rPr lang="en-US" i="1" dirty="0"/>
              <a:t>covariant</a:t>
            </a:r>
            <a:r>
              <a:rPr lang="en-US" dirty="0"/>
              <a:t>:</a:t>
            </a:r>
          </a:p>
          <a:p>
            <a:pPr marL="457200" lvl="1" indent="0">
              <a:buNone/>
            </a:pPr>
            <a:r>
              <a:rPr lang="en-US" dirty="0"/>
              <a:t>	features(transform(image)) = transform(features(image))</a:t>
            </a:r>
          </a:p>
          <a:p>
            <a:r>
              <a:rPr lang="en-US" dirty="0"/>
              <a:t>Description is </a:t>
            </a:r>
            <a:r>
              <a:rPr lang="en-US" i="1" dirty="0"/>
              <a:t>invariant</a:t>
            </a:r>
            <a:r>
              <a:rPr lang="en-US" dirty="0"/>
              <a:t>:</a:t>
            </a:r>
          </a:p>
          <a:p>
            <a:pPr marL="457200" lvl="1" indent="0">
              <a:buNone/>
            </a:pPr>
            <a:r>
              <a:rPr lang="en-US" dirty="0"/>
              <a:t>	features(transform(image)) = features(image)</a:t>
            </a:r>
            <a:br>
              <a:rPr lang="en-US" dirty="0"/>
            </a:br>
            <a:endParaRPr lang="en-US" dirty="0"/>
          </a:p>
        </p:txBody>
      </p:sp>
      <p:pic>
        <p:nvPicPr>
          <p:cNvPr id="68612" name="Picture 4" descr="sift-feat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00200" y="2362200"/>
            <a:ext cx="8808320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F4B898-D801-A3EB-84B6-4023B02DA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45365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SIFT Descriptors</a:t>
            </a:r>
          </a:p>
        </p:txBody>
      </p:sp>
      <p:pic>
        <p:nvPicPr>
          <p:cNvPr id="25602" name="Picture 2" descr="gradient-descripto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1" y="2057400"/>
            <a:ext cx="6118409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14300" y="6370286"/>
            <a:ext cx="119443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/>
            <a:r>
              <a:rPr lang="en-US" sz="1800" dirty="0"/>
              <a:t>David G. Lowe. </a:t>
            </a:r>
            <a:r>
              <a:rPr lang="en-US" sz="1800" b="1" dirty="0">
                <a:hlinkClick r:id="rId3"/>
              </a:rPr>
              <a:t>"Distinctive image features from scale-invariant </a:t>
            </a:r>
            <a:r>
              <a:rPr lang="en-US" sz="1800" b="1" dirty="0" err="1">
                <a:hlinkClick r:id="rId3"/>
              </a:rPr>
              <a:t>keypoints</a:t>
            </a:r>
            <a:r>
              <a:rPr lang="en-US" sz="1800" b="1" dirty="0">
                <a:hlinkClick r:id="rId3"/>
              </a:rPr>
              <a:t>.”</a:t>
            </a:r>
            <a:r>
              <a:rPr lang="en-US" sz="1800" b="1" dirty="0"/>
              <a:t> </a:t>
            </a:r>
            <a:r>
              <a:rPr lang="en-US" sz="1800" i="1" dirty="0"/>
              <a:t>IJCV</a:t>
            </a:r>
            <a:r>
              <a:rPr lang="en-US" sz="1800" dirty="0"/>
              <a:t> 60 (2), pp. 91-110, 2004.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B3944E-D8EB-8959-AC49-4D77644C3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6629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>
          <a:xfrm>
            <a:off x="76200" y="152400"/>
            <a:ext cx="12001500" cy="685800"/>
          </a:xfrm>
        </p:spPr>
        <p:txBody>
          <a:bodyPr/>
          <a:lstStyle/>
          <a:p>
            <a:pPr eaLnBrk="1" hangingPunct="1"/>
            <a:r>
              <a:rPr lang="en-US" altLang="en-US" dirty="0"/>
              <a:t>Properties of SIFT</a:t>
            </a:r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11849100" cy="2819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000" dirty="0"/>
              <a:t>Extraordinarily robust detection and description technique</a:t>
            </a:r>
          </a:p>
          <a:p>
            <a:pPr lvl="1" eaLnBrk="1" hangingPunct="1"/>
            <a:r>
              <a:rPr lang="en-US" altLang="en-US" sz="1800" dirty="0"/>
              <a:t>Can handle changes in viewpoint</a:t>
            </a:r>
          </a:p>
          <a:p>
            <a:pPr lvl="2" eaLnBrk="1" hangingPunct="1"/>
            <a:r>
              <a:rPr lang="en-US" altLang="en-US" sz="1600" dirty="0"/>
              <a:t>Up to about 60 degree out-of-plane rotation</a:t>
            </a:r>
          </a:p>
          <a:p>
            <a:pPr lvl="1" eaLnBrk="1" hangingPunct="1"/>
            <a:r>
              <a:rPr lang="en-US" altLang="en-US" sz="1800" dirty="0"/>
              <a:t>Can handle significant changes in illumination</a:t>
            </a:r>
          </a:p>
          <a:p>
            <a:pPr lvl="2" eaLnBrk="1" hangingPunct="1"/>
            <a:r>
              <a:rPr lang="en-US" altLang="en-US" sz="1600" dirty="0"/>
              <a:t>Sometimes even day vs. night</a:t>
            </a:r>
          </a:p>
          <a:p>
            <a:pPr lvl="1" eaLnBrk="1" hangingPunct="1"/>
            <a:r>
              <a:rPr lang="en-US" altLang="en-US" sz="1800" dirty="0"/>
              <a:t>Fast and efficient—can run in real time</a:t>
            </a:r>
          </a:p>
          <a:p>
            <a:pPr lvl="1" eaLnBrk="1" hangingPunct="1"/>
            <a:r>
              <a:rPr lang="en-US" altLang="en-US" sz="1800" dirty="0"/>
              <a:t>Lots of code available</a:t>
            </a:r>
          </a:p>
        </p:txBody>
      </p:sp>
      <p:pic>
        <p:nvPicPr>
          <p:cNvPr id="38916" name="Picture 1" descr="C:\snavely\work\papers\2010\singbing\fig\TreviMatch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3581400"/>
            <a:ext cx="4370388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7" name="Picture 2" descr="C:\snavely\work\papers\2010\singbing\fig\TreviMatch2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5538" y="3581400"/>
            <a:ext cx="4368800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8839200" y="6550224"/>
            <a:ext cx="17187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Source: N. </a:t>
            </a:r>
            <a:r>
              <a:rPr lang="en-US" sz="1400" dirty="0" err="1">
                <a:solidFill>
                  <a:schemeClr val="bg1"/>
                </a:solidFill>
              </a:rPr>
              <a:t>Snavely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09B619-2B84-5F98-2FEB-224AAB197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13227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Affine adaptation</a:t>
            </a:r>
          </a:p>
        </p:txBody>
      </p:sp>
      <p:sp>
        <p:nvSpPr>
          <p:cNvPr id="512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en-US" dirty="0"/>
              <a:t>Affine transformation approximates viewpoint changes for roughly planar objects and roughly orthographic cameras</a:t>
            </a:r>
          </a:p>
        </p:txBody>
      </p:sp>
      <p:pic>
        <p:nvPicPr>
          <p:cNvPr id="74759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24600" y="2724150"/>
            <a:ext cx="3200400" cy="314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60" name="Picture 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650402" y="2724150"/>
            <a:ext cx="3216998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Oval 14"/>
          <p:cNvSpPr/>
          <p:nvPr/>
        </p:nvSpPr>
        <p:spPr bwMode="auto">
          <a:xfrm>
            <a:off x="3096774" y="2971800"/>
            <a:ext cx="1246626" cy="1219200"/>
          </a:xfrm>
          <a:prstGeom prst="ellipse">
            <a:avLst/>
          </a:prstGeom>
          <a:noFill/>
          <a:ln w="381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Oval 15"/>
          <p:cNvSpPr/>
          <p:nvPr/>
        </p:nvSpPr>
        <p:spPr bwMode="auto">
          <a:xfrm>
            <a:off x="6934200" y="2819400"/>
            <a:ext cx="1246626" cy="1219200"/>
          </a:xfrm>
          <a:prstGeom prst="ellipse">
            <a:avLst/>
          </a:prstGeom>
          <a:noFill/>
          <a:ln w="381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Oval 16"/>
          <p:cNvSpPr/>
          <p:nvPr/>
        </p:nvSpPr>
        <p:spPr bwMode="auto">
          <a:xfrm rot="2130338">
            <a:off x="3077179" y="3186766"/>
            <a:ext cx="1246626" cy="762000"/>
          </a:xfrm>
          <a:prstGeom prst="ellipse">
            <a:avLst/>
          </a:prstGeom>
          <a:noFill/>
          <a:ln w="3810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Oval 17"/>
          <p:cNvSpPr/>
          <p:nvPr/>
        </p:nvSpPr>
        <p:spPr bwMode="auto">
          <a:xfrm rot="4153335">
            <a:off x="6882881" y="3172777"/>
            <a:ext cx="1512089" cy="607770"/>
          </a:xfrm>
          <a:prstGeom prst="ellipse">
            <a:avLst/>
          </a:prstGeom>
          <a:noFill/>
          <a:ln w="3810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9E6BB6-ABBC-3291-7E28-0EE33F7CF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878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5" grpId="0" build="p"/>
      <p:bldP spid="15" grpId="0" animBg="1"/>
      <p:bldP spid="15" grpId="1" animBg="1"/>
      <p:bldP spid="16" grpId="0" animBg="1"/>
      <p:bldP spid="16" grpId="1" animBg="1"/>
      <p:bldP spid="17" grpId="0" animBg="1"/>
      <p:bldP spid="18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Affine Adaptation</a:t>
            </a:r>
          </a:p>
        </p:txBody>
      </p:sp>
      <p:graphicFrame>
        <p:nvGraphicFramePr>
          <p:cNvPr id="24578" name="Object 11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870267739"/>
              </p:ext>
            </p:extLst>
          </p:nvPr>
        </p:nvGraphicFramePr>
        <p:xfrm>
          <a:off x="2743200" y="1720850"/>
          <a:ext cx="6400800" cy="117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68400" imgH="507960" progId="Equation.3">
                  <p:embed/>
                </p:oleObj>
              </mc:Choice>
              <mc:Fallback>
                <p:oleObj name="Equation" r:id="rId3" imgW="2768400" imgH="507960" progId="Equation.3">
                  <p:embed/>
                  <p:pic>
                    <p:nvPicPr>
                      <p:cNvPr id="24578" name="Object 1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1720850"/>
                        <a:ext cx="6400800" cy="1174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5353051" y="3124200"/>
            <a:ext cx="4968875" cy="2743200"/>
            <a:chOff x="2254" y="2300"/>
            <a:chExt cx="3378" cy="1865"/>
          </a:xfrm>
        </p:grpSpPr>
        <p:sp>
          <p:nvSpPr>
            <p:cNvPr id="24585" name="Text Box 13"/>
            <p:cNvSpPr txBox="1">
              <a:spLocks noChangeArrowheads="1"/>
            </p:cNvSpPr>
            <p:nvPr/>
          </p:nvSpPr>
          <p:spPr bwMode="auto">
            <a:xfrm>
              <a:off x="4624" y="2766"/>
              <a:ext cx="1008" cy="5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1" hangingPunct="1"/>
              <a:r>
                <a:rPr lang="en-US" sz="1600">
                  <a:solidFill>
                    <a:srgbClr val="FF3300"/>
                  </a:solidFill>
                  <a:cs typeface="Times New Roman" pitchFamily="18" charset="0"/>
                </a:rPr>
                <a:t>direction of the slowest change</a:t>
              </a:r>
              <a:endParaRPr lang="ru-RU" sz="1600">
                <a:solidFill>
                  <a:srgbClr val="FF3300"/>
                </a:solidFill>
                <a:cs typeface="Times New Roman" pitchFamily="18" charset="0"/>
              </a:endParaRPr>
            </a:p>
          </p:txBody>
        </p:sp>
        <p:sp>
          <p:nvSpPr>
            <p:cNvPr id="24586" name="Text Box 14"/>
            <p:cNvSpPr txBox="1">
              <a:spLocks noChangeArrowheads="1"/>
            </p:cNvSpPr>
            <p:nvPr/>
          </p:nvSpPr>
          <p:spPr bwMode="auto">
            <a:xfrm>
              <a:off x="2656" y="2300"/>
              <a:ext cx="1056" cy="3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1" hangingPunct="1"/>
              <a:r>
                <a:rPr lang="en-US" sz="1600">
                  <a:solidFill>
                    <a:srgbClr val="0033CC"/>
                  </a:solidFill>
                  <a:cs typeface="Times New Roman" pitchFamily="18" charset="0"/>
                </a:rPr>
                <a:t>direction of the fastest change</a:t>
              </a:r>
              <a:endParaRPr lang="ru-RU" sz="1600">
                <a:solidFill>
                  <a:srgbClr val="0033CC"/>
                </a:solidFill>
                <a:cs typeface="Times New Roman" pitchFamily="18" charset="0"/>
              </a:endParaRPr>
            </a:p>
          </p:txBody>
        </p:sp>
        <p:sp>
          <p:nvSpPr>
            <p:cNvPr id="24587" name="Oval 15"/>
            <p:cNvSpPr>
              <a:spLocks noChangeArrowheads="1"/>
            </p:cNvSpPr>
            <p:nvPr/>
          </p:nvSpPr>
          <p:spPr bwMode="auto">
            <a:xfrm rot="-1106879">
              <a:off x="2254" y="2771"/>
              <a:ext cx="2448" cy="1217"/>
            </a:xfrm>
            <a:prstGeom prst="ellipse">
              <a:avLst/>
            </a:prstGeom>
            <a:solidFill>
              <a:srgbClr val="7CF6D3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88" name="Line 16"/>
            <p:cNvSpPr>
              <a:spLocks noChangeShapeType="1"/>
            </p:cNvSpPr>
            <p:nvPr/>
          </p:nvSpPr>
          <p:spPr bwMode="auto">
            <a:xfrm rot="1280297" flipV="1">
              <a:off x="2555" y="2597"/>
              <a:ext cx="1875" cy="1568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589" name="Line 17"/>
            <p:cNvSpPr>
              <a:spLocks noChangeShapeType="1"/>
            </p:cNvSpPr>
            <p:nvPr/>
          </p:nvSpPr>
          <p:spPr bwMode="auto">
            <a:xfrm rot="1280297" flipH="1" flipV="1">
              <a:off x="3094" y="2904"/>
              <a:ext cx="798" cy="94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590" name="AutoShape 18"/>
            <p:cNvSpPr>
              <a:spLocks/>
            </p:cNvSpPr>
            <p:nvPr/>
          </p:nvSpPr>
          <p:spPr bwMode="auto">
            <a:xfrm rot="-6496486">
              <a:off x="4037" y="2756"/>
              <a:ext cx="116" cy="1095"/>
            </a:xfrm>
            <a:prstGeom prst="leftBrace">
              <a:avLst>
                <a:gd name="adj1" fmla="val 78664"/>
                <a:gd name="adj2" fmla="val 49065"/>
              </a:avLst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91" name="AutoShape 19"/>
            <p:cNvSpPr>
              <a:spLocks/>
            </p:cNvSpPr>
            <p:nvPr/>
          </p:nvSpPr>
          <p:spPr bwMode="auto">
            <a:xfrm rot="-1178674">
              <a:off x="3212" y="2864"/>
              <a:ext cx="140" cy="513"/>
            </a:xfrm>
            <a:prstGeom prst="leftBrace">
              <a:avLst>
                <a:gd name="adj1" fmla="val 30536"/>
                <a:gd name="adj2" fmla="val 49065"/>
              </a:avLst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92" name="Rectangle 20"/>
            <p:cNvSpPr>
              <a:spLocks noChangeArrowheads="1"/>
            </p:cNvSpPr>
            <p:nvPr/>
          </p:nvSpPr>
          <p:spPr bwMode="auto">
            <a:xfrm>
              <a:off x="2400" y="3168"/>
              <a:ext cx="1104" cy="3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1" hangingPunct="1"/>
              <a:r>
                <a:rPr lang="en-US" sz="2400">
                  <a:solidFill>
                    <a:srgbClr val="0033CC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(</a:t>
              </a:r>
              <a:r>
                <a:rPr lang="ru-RU" sz="2400">
                  <a:solidFill>
                    <a:srgbClr val="0033CC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</a:t>
              </a:r>
              <a:r>
                <a:rPr lang="en-US" sz="2400" baseline="-25000">
                  <a:solidFill>
                    <a:srgbClr val="0033CC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max</a:t>
              </a:r>
              <a:r>
                <a:rPr lang="en-US" sz="2400">
                  <a:solidFill>
                    <a:srgbClr val="0033CC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)</a:t>
              </a:r>
              <a:r>
                <a:rPr lang="en-US" sz="2400" baseline="30000">
                  <a:solidFill>
                    <a:srgbClr val="0033CC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-1/2</a:t>
              </a:r>
              <a:endParaRPr lang="ru-RU" sz="2400" baseline="3000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endParaRPr>
            </a:p>
          </p:txBody>
        </p:sp>
        <p:sp>
          <p:nvSpPr>
            <p:cNvPr id="24593" name="Rectangle 21"/>
            <p:cNvSpPr>
              <a:spLocks noChangeArrowheads="1"/>
            </p:cNvSpPr>
            <p:nvPr/>
          </p:nvSpPr>
          <p:spPr bwMode="auto">
            <a:xfrm>
              <a:off x="3552" y="3360"/>
              <a:ext cx="1104" cy="3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1" hangingPunct="1"/>
              <a:r>
                <a:rPr lang="en-US" sz="2400">
                  <a:solidFill>
                    <a:srgbClr val="FF3300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(</a:t>
              </a:r>
              <a:r>
                <a:rPr lang="ru-RU" sz="2400">
                  <a:solidFill>
                    <a:srgbClr val="FF3300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</a:t>
              </a:r>
              <a:r>
                <a:rPr lang="en-US" sz="2400" baseline="-25000">
                  <a:solidFill>
                    <a:srgbClr val="FF3300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min</a:t>
              </a:r>
              <a:r>
                <a:rPr lang="en-US" sz="2400">
                  <a:solidFill>
                    <a:srgbClr val="FF3300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)</a:t>
              </a:r>
              <a:r>
                <a:rPr lang="en-US" sz="2400" baseline="30000">
                  <a:solidFill>
                    <a:srgbClr val="FF3300"/>
                  </a:solidFill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-1/2</a:t>
              </a:r>
              <a:endParaRPr lang="ru-RU" sz="2400" baseline="30000">
                <a:solidFill>
                  <a:srgbClr val="FF33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endParaRPr>
            </a:p>
          </p:txBody>
        </p:sp>
      </p:grpSp>
      <p:sp>
        <p:nvSpPr>
          <p:cNvPr id="24582" name="Text Box 22"/>
          <p:cNvSpPr txBox="1">
            <a:spLocks noChangeArrowheads="1"/>
          </p:cNvSpPr>
          <p:nvPr/>
        </p:nvSpPr>
        <p:spPr bwMode="auto">
          <a:xfrm>
            <a:off x="2209800" y="914401"/>
            <a:ext cx="7772400" cy="1477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400" dirty="0"/>
              <a:t>Consider the second moment matrix of the window containing the blob:</a:t>
            </a:r>
            <a:endParaRPr lang="en-US" sz="2400" i="1" dirty="0"/>
          </a:p>
          <a:p>
            <a:pPr eaLnBrk="1" hangingPunct="1">
              <a:spcBef>
                <a:spcPct val="50000"/>
              </a:spcBef>
            </a:pPr>
            <a:endParaRPr lang="en-US" dirty="0"/>
          </a:p>
        </p:txBody>
      </p:sp>
      <p:graphicFrame>
        <p:nvGraphicFramePr>
          <p:cNvPr id="21507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6276838"/>
              </p:ext>
            </p:extLst>
          </p:nvPr>
        </p:nvGraphicFramePr>
        <p:xfrm>
          <a:off x="2438400" y="4264025"/>
          <a:ext cx="2743200" cy="92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58640" imgH="457200" progId="Equation.3">
                  <p:embed/>
                </p:oleObj>
              </mc:Choice>
              <mc:Fallback>
                <p:oleObj name="Equation" r:id="rId5" imgW="1358640" imgH="457200" progId="Equation.3">
                  <p:embed/>
                  <p:pic>
                    <p:nvPicPr>
                      <p:cNvPr id="21507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4264025"/>
                        <a:ext cx="2743200" cy="922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2" name="Text Box 24"/>
          <p:cNvSpPr txBox="1">
            <a:spLocks noChangeArrowheads="1"/>
          </p:cNvSpPr>
          <p:nvPr/>
        </p:nvSpPr>
        <p:spPr bwMode="auto">
          <a:xfrm>
            <a:off x="2362201" y="3657601"/>
            <a:ext cx="11271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/>
              <a:t>Recall:</a:t>
            </a:r>
          </a:p>
        </p:txBody>
      </p:sp>
      <p:sp>
        <p:nvSpPr>
          <p:cNvPr id="19" name="Text Box 22"/>
          <p:cNvSpPr txBox="1">
            <a:spLocks noChangeArrowheads="1"/>
          </p:cNvSpPr>
          <p:nvPr/>
        </p:nvSpPr>
        <p:spPr bwMode="auto">
          <a:xfrm>
            <a:off x="2209800" y="5989638"/>
            <a:ext cx="77724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400"/>
              <a:t>This ellipse visualizes the “characteristic shape” of the window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C7A1E8-BAC9-680D-C810-994F60DE3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B8D1D6-2162-400A-89FD-865EAD3E04FA}" type="slidenum">
              <a:rPr lang="en-US" smtClean="0"/>
              <a:pPr>
                <a:defRPr/>
              </a:pPr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450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2" grpId="0"/>
      <p:bldP spid="19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8" name="Picture 4" descr="butterfly_circle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3738" y="1524000"/>
            <a:ext cx="5757862" cy="4154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Affine Adaptation Example</a:t>
            </a:r>
          </a:p>
        </p:txBody>
      </p:sp>
      <p:sp>
        <p:nvSpPr>
          <p:cNvPr id="60420" name="Text Box 6"/>
          <p:cNvSpPr txBox="1">
            <a:spLocks noChangeArrowheads="1"/>
          </p:cNvSpPr>
          <p:nvPr/>
        </p:nvSpPr>
        <p:spPr bwMode="auto">
          <a:xfrm>
            <a:off x="3983039" y="5830888"/>
            <a:ext cx="43068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/>
              <a:t>Scale-invariant regions (blobs)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92AAE2-28C3-CAB9-5BBF-BCA126545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942401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Affine Adaptation Example</a:t>
            </a:r>
          </a:p>
        </p:txBody>
      </p:sp>
      <p:pic>
        <p:nvPicPr>
          <p:cNvPr id="61444" name="Picture 4" descr="butterfly_ellipse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3738" y="1524000"/>
            <a:ext cx="5757862" cy="4154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45" name="Text Box 6"/>
          <p:cNvSpPr txBox="1">
            <a:spLocks noChangeArrowheads="1"/>
          </p:cNvSpPr>
          <p:nvPr/>
        </p:nvSpPr>
        <p:spPr bwMode="auto">
          <a:xfrm>
            <a:off x="4648201" y="5830888"/>
            <a:ext cx="29829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/>
              <a:t>Affine-adapted blobs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9E8974-AB7A-CA38-3F85-66BCD9032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0FF23F-C6D1-4433-9D9F-083897F8186B}" type="slidenum">
              <a:rPr lang="en-US" smtClean="0"/>
              <a:pPr>
                <a:defRPr/>
              </a:pPr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69291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nabla f = \left[\frac{\partial f}{\partial x},\frac{\partial f}{\partial y}\right]$&#10;\end{document}&#10;"/>
  <p:tag name="EXTERNALNAME" val="Edittex"/>
  <p:tag name="BLEND" val="False"/>
  <p:tag name="TRANSPARENT" val="False"/>
  <p:tag name="BITMAPFORMAT" val="bmpmono"/>
  <p:tag name="DEBUGINTERACTIVE" val="True"/>
  <p:tag name="ORIGWIDTH" val="479.7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nabla f = \left[\frac{\partial f}{\partial x},\frac{\partial f}{\partial y}\right]$&#10;\end{document}&#10;"/>
  <p:tag name="EXTERNALNAME" val="Edittex"/>
  <p:tag name="BLEND" val="False"/>
  <p:tag name="TRANSPARENT" val="False"/>
  <p:tag name="BITMAPFORMAT" val="bmpmono"/>
  <p:tag name="DEBUGINTERACTIVE" val="True"/>
  <p:tag name="ORIGWIDTH" val="479.7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nabla f = \left[\frac{\partial f}{\partial x},0\right]$&#10;\end{document}&#10;"/>
  <p:tag name="EXTERNALNAME" val="Edittex"/>
  <p:tag name="BLEND" val="False"/>
  <p:tag name="TRANSPARENT" val="False"/>
  <p:tag name="BITMAPFORMAT" val="bmpmono"/>
  <p:tag name="DEBUGINTERACTIVE" val="True"/>
  <p:tag name="ORIGWIDTH" val="441.87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nabla f = \left[0,\frac{\partial f}{\partial y}\right]$&#10;\end{document}&#10;"/>
  <p:tag name="EXTERNALNAME" val="Edittex"/>
  <p:tag name="BLEND" val="False"/>
  <p:tag name="TRANSPARENT" val="False"/>
  <p:tag name="BITMAPFORMAT" val="bmpmono"/>
  <p:tag name="DEBUGINTERACTIVE" val="True"/>
  <p:tag name="ORIGWIDTH" val="441.87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theta = \tan^{-1} \left(\frac{\partial f}{\partial y}/\frac{\partial f}{\partial x}\right)$&#10;\end{document}&#10;"/>
  <p:tag name="EXTERNALNAME" val="Edittex"/>
  <p:tag name="BLEND" val="False"/>
  <p:tag name="TRANSPARENT" val="False"/>
  <p:tag name="BITMAPFORMAT" val="bmpmono"/>
  <p:tag name="DEBUGINTERACTIVE" val="True"/>
  <p:tag name="ORIGWIDTH" val="659.7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|\nabla f\| = \sqrt{{(\frac{\partial f}{\partial x})}^2 + {(\frac{\partial f}{\partial y})}^2}$&#10;\end{document}&#10;"/>
  <p:tag name="EXTERNALNAME" val="Edittex"/>
  <p:tag name="BLEND" val="False"/>
  <p:tag name="TRANSPARENT" val="False"/>
  <p:tag name="BITMAPFORMAT" val="bmpmono"/>
  <p:tag name="DEBUGINTERACTIVE" val="True"/>
  <p:tag name="ORIGWIDTH" val="87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theta$&#10;\end{document}&#10;"/>
  <p:tag name="EXTERNALNAME" val="Edittex"/>
  <p:tag name="BLEND" val="False"/>
  <p:tag name="TRANSPARENT" val="True"/>
  <p:tag name="BITMAPFORMAT" val="bmpmono"/>
  <p:tag name="DEBUGINTERACTIVE" val="True"/>
  <p:tag name="ORIGWIDTH" val="33.2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f(x)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BITMAPFORMAT" val="bmpmono"/>
  <p:tag name="DEBUGINTERACTIVE" val="True"/>
  <p:tag name="ORIGWIDTH" val="153"/>
  <p:tag name="PICTUREFILESIZE" val="205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frac{d}{dx}f(x)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BITMAPFORMAT" val="bmpmono"/>
  <p:tag name="DEBUGINTERACTIVE" val="True"/>
  <p:tag name="ORIGWIDTH" val="232.25"/>
  <p:tag name="PICTUREFILESIZE" val="4238"/>
</p:tagLst>
</file>

<file path=ppt/theme/theme1.xml><?xml version="1.0" encoding="utf-8"?>
<a:theme xmlns:a="http://schemas.openxmlformats.org/drawingml/2006/main" name="Blank Presentation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Blank Presentati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dirty="0">
            <a:latin typeface="Calibri" panose="020F0502020204030204" pitchFamily="34" charset="0"/>
          </a:defRPr>
        </a:defPPr>
      </a:lstStyle>
    </a:tx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intro</Template>
  <TotalTime>28807</TotalTime>
  <Words>3415</Words>
  <Application>Microsoft Office PowerPoint</Application>
  <PresentationFormat>Widescreen</PresentationFormat>
  <Paragraphs>696</Paragraphs>
  <Slides>104</Slides>
  <Notes>87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4</vt:i4>
      </vt:variant>
      <vt:variant>
        <vt:lpstr>Slide Titles</vt:lpstr>
      </vt:variant>
      <vt:variant>
        <vt:i4>104</vt:i4>
      </vt:variant>
    </vt:vector>
  </HeadingPairs>
  <TitlesOfParts>
    <vt:vector size="120" baseType="lpstr">
      <vt:lpstr>굴림</vt:lpstr>
      <vt:lpstr>Arial</vt:lpstr>
      <vt:lpstr>Arial Unicode MS</vt:lpstr>
      <vt:lpstr>AvantGarde Bk BT</vt:lpstr>
      <vt:lpstr>Calibri</vt:lpstr>
      <vt:lpstr>Cambria Math</vt:lpstr>
      <vt:lpstr>Merriweather</vt:lpstr>
      <vt:lpstr>Open Sans</vt:lpstr>
      <vt:lpstr>Symbol</vt:lpstr>
      <vt:lpstr>Times New Roman</vt:lpstr>
      <vt:lpstr>Wingdings</vt:lpstr>
      <vt:lpstr>Blank Presentation</vt:lpstr>
      <vt:lpstr>Bitmap Image</vt:lpstr>
      <vt:lpstr>Photo Editor Photo</vt:lpstr>
      <vt:lpstr>Equation</vt:lpstr>
      <vt:lpstr>Image</vt:lpstr>
      <vt:lpstr>L04 Edges, Corners, and Blobs</vt:lpstr>
      <vt:lpstr>Edge Detection</vt:lpstr>
      <vt:lpstr>Edge Detection</vt:lpstr>
      <vt:lpstr>Edge Detection</vt:lpstr>
      <vt:lpstr>Origin of Edges</vt:lpstr>
      <vt:lpstr>Edge Detection</vt:lpstr>
      <vt:lpstr>Derivatives with Convolution</vt:lpstr>
      <vt:lpstr>Partial Derivatives of an Image</vt:lpstr>
      <vt:lpstr>Finite Difference Filters</vt:lpstr>
      <vt:lpstr>Image Gradient</vt:lpstr>
      <vt:lpstr>Application: Gradient-Domain Image Editing</vt:lpstr>
      <vt:lpstr>Effects of Noise</vt:lpstr>
      <vt:lpstr>Solution: Smooth First</vt:lpstr>
      <vt:lpstr>Derivative Theorem of Convolution</vt:lpstr>
      <vt:lpstr>Derivative of Gaussian Filters</vt:lpstr>
      <vt:lpstr>Derivative of Gaussian Filters</vt:lpstr>
      <vt:lpstr>Recall: Separability of the Gaussian Filter</vt:lpstr>
      <vt:lpstr>Scale of Gaussian Derivative Filter</vt:lpstr>
      <vt:lpstr>Review: Smoothing vs. Derivative Filters</vt:lpstr>
      <vt:lpstr>The Canny Edge Detector</vt:lpstr>
      <vt:lpstr>The Canny Edge Detector</vt:lpstr>
      <vt:lpstr>The Canny Edge Detector</vt:lpstr>
      <vt:lpstr>The Canny Edge Detector</vt:lpstr>
      <vt:lpstr>The Canny Edge Detector</vt:lpstr>
      <vt:lpstr>Non-Maximum Suppression</vt:lpstr>
      <vt:lpstr>The Canny Edge Detector</vt:lpstr>
      <vt:lpstr>Hysteresis Thresholding</vt:lpstr>
      <vt:lpstr>Hysteresis Thresholding</vt:lpstr>
      <vt:lpstr>Recap: Canny Edge Detector</vt:lpstr>
      <vt:lpstr>Image Gradients vs. Meaningful Contours</vt:lpstr>
      <vt:lpstr>Data-Driven Edge Detection</vt:lpstr>
      <vt:lpstr>Corners</vt:lpstr>
      <vt:lpstr>Feature Extraction: Corners</vt:lpstr>
      <vt:lpstr>Why Extract Features?</vt:lpstr>
      <vt:lpstr>Why Extract Features?</vt:lpstr>
      <vt:lpstr>Why Extract Features?</vt:lpstr>
      <vt:lpstr>Characteristics of Good Features</vt:lpstr>
      <vt:lpstr>Applications  </vt:lpstr>
      <vt:lpstr>A Hard Feature Matching Problem</vt:lpstr>
      <vt:lpstr>Answer Below (Look for Tiny Colored Squares …)</vt:lpstr>
      <vt:lpstr>Corner Detection: Basic Idea</vt:lpstr>
      <vt:lpstr>Corner Detection: Mathematics</vt:lpstr>
      <vt:lpstr>Corner Detection: Mathematics</vt:lpstr>
      <vt:lpstr>Corner Detection: Mathematics</vt:lpstr>
      <vt:lpstr>Corner Detection: Mathematics</vt:lpstr>
      <vt:lpstr>Corner Detection: Mathematics</vt:lpstr>
      <vt:lpstr>Interpreting the Second Moment Matrix</vt:lpstr>
      <vt:lpstr>Interpreting the Second Moment Matrix</vt:lpstr>
      <vt:lpstr>Interpreting the Second Moment Matrix</vt:lpstr>
      <vt:lpstr>Interpreting the Second Moment Matrix</vt:lpstr>
      <vt:lpstr>Visualization of Second Moment Matrices</vt:lpstr>
      <vt:lpstr>Visualization of Second Moment Matrices</vt:lpstr>
      <vt:lpstr>Interpreting the Eigenvalues</vt:lpstr>
      <vt:lpstr>Corner Response Function</vt:lpstr>
      <vt:lpstr>The Harris Corner Detector</vt:lpstr>
      <vt:lpstr>The Harris Corner Detector</vt:lpstr>
      <vt:lpstr>Harris Detector: Steps</vt:lpstr>
      <vt:lpstr>Harris Detector: Steps</vt:lpstr>
      <vt:lpstr>The Harris Corner Detector</vt:lpstr>
      <vt:lpstr>Harris Detector: Steps</vt:lpstr>
      <vt:lpstr>Harris Detector: Steps</vt:lpstr>
      <vt:lpstr>Harris Detector: Steps</vt:lpstr>
      <vt:lpstr>Invariance and Covariance</vt:lpstr>
      <vt:lpstr>Activity</vt:lpstr>
      <vt:lpstr>Affine Intensity Change</vt:lpstr>
      <vt:lpstr>Image Translation</vt:lpstr>
      <vt:lpstr>Image Rotation</vt:lpstr>
      <vt:lpstr>Scaling</vt:lpstr>
      <vt:lpstr>Blob Detection</vt:lpstr>
      <vt:lpstr>Blob Detection</vt:lpstr>
      <vt:lpstr>Feature Detection with Scale Selection</vt:lpstr>
      <vt:lpstr>Blob Detection: Basic idea</vt:lpstr>
      <vt:lpstr>Blob Detection: Basic Idea</vt:lpstr>
      <vt:lpstr>Blob Filter</vt:lpstr>
      <vt:lpstr>Recall: Edge Detection</vt:lpstr>
      <vt:lpstr>Edge Detection, Take 2</vt:lpstr>
      <vt:lpstr>From Edges to Blobs</vt:lpstr>
      <vt:lpstr>Scale Selection</vt:lpstr>
      <vt:lpstr>Scale Normalization</vt:lpstr>
      <vt:lpstr>Scale Normalization</vt:lpstr>
      <vt:lpstr>Effect of Scale Normalization</vt:lpstr>
      <vt:lpstr>Blob Detection in 2D</vt:lpstr>
      <vt:lpstr>Scale Selection</vt:lpstr>
      <vt:lpstr>Scale Selection</vt:lpstr>
      <vt:lpstr>PowerPoint Presentation</vt:lpstr>
      <vt:lpstr>Characteristic Scale</vt:lpstr>
      <vt:lpstr>Scale-Space Blob Detector</vt:lpstr>
      <vt:lpstr>Scale-Space Blob Detector: Example</vt:lpstr>
      <vt:lpstr>Scale-Space Blob Detector: Example</vt:lpstr>
      <vt:lpstr>Scale-Space Blob Detector</vt:lpstr>
      <vt:lpstr>Scale-Space Blob Detector: Example</vt:lpstr>
      <vt:lpstr>Coin Detection Problem.</vt:lpstr>
      <vt:lpstr>Efficient Implementation</vt:lpstr>
      <vt:lpstr>Efficient Implementation</vt:lpstr>
      <vt:lpstr>From Feature Detection to Feature Description</vt:lpstr>
      <vt:lpstr>Eliminating Rotation Ambiguity</vt:lpstr>
      <vt:lpstr>SIFT Features</vt:lpstr>
      <vt:lpstr>From Feature Detection to Feature Description</vt:lpstr>
      <vt:lpstr>SIFT Descriptors</vt:lpstr>
      <vt:lpstr>Properties of SIFT</vt:lpstr>
      <vt:lpstr>Affine adaptation</vt:lpstr>
      <vt:lpstr>Affine Adaptation</vt:lpstr>
      <vt:lpstr>Affine Adaptation Example</vt:lpstr>
      <vt:lpstr>Affine Adaptation Example</vt:lpstr>
    </vt:vector>
  </TitlesOfParts>
  <Company>Carnegie Mellon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efros</dc:creator>
  <cp:lastModifiedBy>Sithum Peiris</cp:lastModifiedBy>
  <cp:revision>1110</cp:revision>
  <cp:lastPrinted>2015-06-22T03:25:21Z</cp:lastPrinted>
  <dcterms:created xsi:type="dcterms:W3CDTF">2004-08-29T23:15:23Z</dcterms:created>
  <dcterms:modified xsi:type="dcterms:W3CDTF">2026-07-22T07:57:55Z</dcterms:modified>
</cp:coreProperties>
</file>